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同学们好！今天我们将一起走进第四章《整式的加减》，探索代数式世界里最基础、最重要的成员——整式。准备好开启新的数学旅程了吗？让我们一起出发！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的目标非常明确。大家可以把它看作是我们今天的‘寻宝图’。学完这节课，我们要能清楚地分辨什么是单项式，什么是多项式，还要能像侦探一样，准确地找出它们的‘身份信息’——系数、次数等等。大家有信心完成这些任务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同学们，看到这张宏伟的港珠澳大桥图片，大家是不是很自豪？数学就隐藏在这些宏伟的建筑中。我们来看这个问题，汽车行驶的路程，我们很容易就能列出算式 92 × t。在数学中，为了书写简便，我们常常把乘号省略，写成 92t。像 92t 这样的式子，就是我们今天要学习的代数式的一种。它有什么特别之处呢？让我们一起来探究。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刚刚我们看到的 92t，还有 a²、0.9p 这些，它们有一个共同的名字，叫做‘单项式’。大家看定义，关键点是‘积’。单独一个数，比如5，我们可以看成是5和任何字母的0次方的积，所以它也是单项式。每个单项式都有两个重要的身份标识：系数和次数。系数就是数字部分，次数就是所有字母头上小数字的总和。大家要特别注意，像 a²，它的系数其实是1，只是省略了。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如果说单项式是‘独行侠’，那么多项式就是‘团队组合’。比如 2n - 10，它就是由 2n 和 -10 这两个单项式组成的。组成多项式的每个单项式都叫做它的‘项’。特别注意，项要包括它前面的符号。在一个多项式里，次数最高的那个项的次数，就决定了整个多项式的次数。比如 x² + 2x + 8，x² 是二次的，所以它就是一个二次多项式。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把单项式和多项式放在一起，给它们一个共同的名字——‘整式’。大家可以看这个关系图，整式是一个大家族，它包含了所有的单项式和所有的多项式。以后我们再遇到代数式，就可以先判断它是不是整式，再进一步判断它是单项式还是多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我们来看几个简单的例子。第一题，三角形面积公式是底乘高除以二，所以是 (1/2)ah。数字因数 1/2 就是系数，字母a和h的指数都是1，加起来次数就是2。第二题，长方体体积是长宽高相乘，xyz，系数是1，次数是3。第三题，n的相反数是 -n，系数是-1，次数是1。大家都做对了吗？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接下来看多项式的例子。第一题，长方形周长是 2(a+b)，展开就是 2a+2b。它的项是 2a 和 2b，次数最高的项是一次，所以这个多项式的次数是1。第二题，m的立方是 m³，与2的差就是 m³ - 2。它的项是 m³ 和 -2，最高次项是 m³，次数为3，所以这个多项式是三次多项式。注意，常数项 -2 的次数是0。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习新知识时，我们总会遇到一些容易混淆的地方。这里老师给大家总结了几个‘陷阱’，大家一定要注意。第一，系数要带符号！第二，计算次数时，π是常数，不要把它当成字母。第三，系数是1或-1时，1会省略，但我们心里要清楚它的存在。第四，单独的一个数，比如5，它的次数是0。记住这些，就能避免很多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学习结束，现在是实践检验的时刻！请大家快速完成这几道练习题。第一题是基础的填表，考察大家对系数和次数的掌握。第二题是分类，看看大家能不能准确区分单项式和多项式。第三题是一个小挑战，找出多项式的项和次数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了不少概念。现在我们一起来梳理一下这张‘知识地图’。整式是我们今天学习的核心，它分为单项式和多项式两大类。单项式要关注系数和次数，多项式要关注项、常数项和次数。这张图清晰地展示了它们之间的关系，希望大家能把这张图记在心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学完了整式，我们来做一个更有挑战性的思考。我们知道偶数可以用 2n 表示，那奇数呢？能不能也用一个整式来表示？还有，能被3整除的数，比如3, 6, 9... 它们又该如何用整式表示呢？大家可以分组讨论一下，看看哪个小组能最快找到答案。这个问题没有标准答案，只要合理都可以。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数学课就要结束了。我们一起认识了整式大家庭，学会了如何识别单项式和多项式，并找到了它们的关键特征。希望大家课后能及时复习，完成作业。同时，也可以提前看一看下一节课我们要学习的‘合并同类项’，看看整式之间如何进行加减运算。今天的课就到这里，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notesSlides/notesSlide13.xml" Type="http://schemas.openxmlformats.org/officeDocument/2006/relationships/notesSlide"/><Relationship Id="rId16" Target="../media/image25.pn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4.1 整式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937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第四章 整式的加减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207000" y="5270500"/>
            <a:ext cx="1778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65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探索代数式的基础奥秘 · 构建严谨的数学逻辑体系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256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理解概念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769" flipH="false" flipV="false">
            <a:off x="10668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175000"/>
            <a:ext cx="2768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深入理解并牢固掌握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的核心定义，明确代数表达式的分类逻辑，建立清晰的数学认知基础。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11700" y="23368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705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学会辨析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769" flipH="false" flipV="false">
            <a:off x="47117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711700" y="3175000"/>
            <a:ext cx="2768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通过典型实例练习，掌握区分代数式类型的关键特征，能够快速且准确地判断一个表达式是否为单项式、多项式或整式，提升对代数结构的敏锐度。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56600" y="23368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9154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掌握要素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769" flipH="false" flipV="false">
            <a:off x="83566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56600" y="3175000"/>
            <a:ext cx="2768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熟练拆解代数表达式的构成：精准确定单项式的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系数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次数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；清晰识别多项式的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项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次数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常数项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，构建完整的分析框架。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69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“数学是思维的体操，让我们一起开启代数的探索之旅！”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从生活走进数学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358" r="1358" t="0" b="0"/>
          <a:stretch>
            <a:fillRect/>
          </a:stretch>
        </p:blipFill>
        <p:spPr>
          <a:xfrm rot="0" flipH="false" flipV="false">
            <a:off x="762000" y="1778000"/>
            <a:ext cx="4826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524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生活中的数学规律，往往藏在宏伟的建筑与日常现象中，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学会用数学语言描述，是探索科学的第一步。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1778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9500" y="19304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问题呈现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59500" y="2387600"/>
            <a:ext cx="520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港珠澳大桥全长55公里，是世界上最长的跨海大桥。一辆汽车在主桥上行驶的平均速度为92km/h，请问：汽车在主桥上行驶 t 小时的路程是多少千米？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3937000"/>
            <a:ext cx="558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40894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引导列式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59500" y="4572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依据公式：路程 = 速度 × 时间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59500" y="49784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代入数值：92 × 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59500" y="54864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数学简写：</a:t>
            </a: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92t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（数字在前，省略乘号）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认识我们的新朋友——单项式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1590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观察与发现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147" flipH="false" flipV="false">
            <a:off x="9525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2984500"/>
            <a:ext cx="30861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看看这些熟悉的身影：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92t，a²，0.9p，(1/3)a²h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它们有什么共同点？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都是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数与字母的乘积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，没有加减法的参与。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561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46600" y="21590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什么是单项式？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147" flipH="false" flipV="false">
            <a:off x="45466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46600" y="2984500"/>
            <a:ext cx="30861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由数或字母的积组成的代数式。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特别规定：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单独的一个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 -5）或一个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 y）也是单项式。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502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40700" y="21590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两个重要“身份证”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147" flipH="false" flipV="false">
            <a:off x="81407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140700" y="2984500"/>
            <a:ext cx="30861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04200" y="3048000"/>
            <a:ext cx="29591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① 系数：数字因数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如：92t的系数是92；a²的系数是1（通常省略）；-x的系数是-1。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40700" y="4508500"/>
            <a:ext cx="30861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04200" y="4572000"/>
            <a:ext cx="29591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② 次数：所有字母指数和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如：92t次数为1；(1/3)a²h次数为3；单独非零数次数为0。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单项式的“组合”——多项式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思考与联系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540000"/>
            <a:ext cx="304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观察下列代数式：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`2n - 10`、`x² + 2x + 8`、`2a + 3b`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它们的共同点是：都可以看作是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几个单项式的和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例如：`2n - 10` 是 `2n` 与 `-10` 的和。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815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9685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540000"/>
            <a:ext cx="304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几个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单项式的和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 (polynomial)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如果说单项式是“独行侠”，那么多项式就是由多个单项式组成的“团队组合”，它们共同构成了一个新的代数式整体。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01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91500" y="19685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关键概念速查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91500" y="2540000"/>
            <a:ext cx="304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组成多项式的每个单项式（注意含符号）。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常数项：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多项式中不含字母的项。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多项式里次数最高的项的次数。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例：`x² + 2x + 8` 的次数为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cmpd="sng" cap="flat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55245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课堂点睛：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确定多项式的次数时，需先找出次数最高的项；书写多项式的项时，一定要包含它前面的符号，这是初学者最容易忽略的细节哦！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整式大家庭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796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由数与字母的积组成的代数式叫做</a:t>
            </a: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，几个单项式的和组成的代数式叫做</a:t>
            </a:r>
            <a:r>
              <a:rPr lang="en-US" b="true" i="false" strike="noStrike" u="none" sz="16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。这两类代数式统称为</a:t>
            </a: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8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单项式 (Monomial)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810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数或字母的积（包括单独的数或字母）。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典型例子：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92t，a²，-6，x，½ab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98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317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02 多项式 (Polynomial)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3810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几个单项式的和（减法是加法的逆运算）。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典型例子：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2n-10，x²+2x+8，2a+3b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BBF24">
              <a:alpha val="12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765800"/>
            <a:ext cx="330200" cy="330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5613400"/>
            <a:ext cx="977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家族图谱：</a:t>
            </a:r>
            <a:r>
              <a:rPr lang="en-US" b="false" i="false" strike="noStrike" u="none" sz="15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整式是一个“大家庭”，它包含了所有的单项式和所有的多项式。这两类是代数式中最基础、最重要的组成部分。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学以致用：单项式篇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32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三角形面积问题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667000"/>
            <a:ext cx="299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若三角形的一条边长为 a，这条边上的高为 h，请用单项式表示该三角形的面积。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566" flipH="false" flipV="false">
            <a:off x="9525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4000500"/>
            <a:ext cx="2997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答案：(1/2)ah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系数：1/2 (数字因数)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次数：2 (a¹ + h¹ 的和)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97400" y="2032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长方体体积计算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97400" y="2667000"/>
            <a:ext cx="299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一个长方体包装盒的长、宽、高分别为 x cm、y cm、z cm，求其体积的表达式。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566" flipH="false" flipV="false">
            <a:off x="45974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97400" y="4000500"/>
            <a:ext cx="2997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答案：xyz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系数：1 (省略不写的数字1)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次数：3 (x¹+y¹+z¹ 的和)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42300" y="2032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有理数的相反数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2667000"/>
            <a:ext cx="299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 n 为任意有理数，请用一个单项式表示出 n 的相反数。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566" flipH="false" flipV="false">
            <a:off x="82423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42300" y="4000500"/>
            <a:ext cx="2997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系数：-1 (注意负号)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次数：1 (单个字母 n 的指数)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60706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核心提示：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单项式的系数包含前面的符号；当系数为 1 或 -1 时，通常省略数字 1。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学以致用：多项式篇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22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01. 长方形周长的表达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已知长方形相邻两边的长分别为</a:t>
            </a: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，请写出该长方形的周长表达式，并分析这个多项式的项与次数。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127500"/>
            <a:ext cx="4699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答案：2a + 2b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2a（一次项），2b（一次项），共两项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1，由最高次项的次数决定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222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02. 有理数的立方差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857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设有理数为</a:t>
            </a: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，请写出“m的立方与2的差”的多项式表达式，并分别指出它的项与次数。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4127500"/>
            <a:ext cx="4699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答案：m³ - 2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m³（三次项），-2（常数项），共两项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3，由最高次项 m³ 的次数决定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系数的符号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-x²y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的系数是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，切勿漏掉负号。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多项式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a² - 3a + 2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的每一项都包含符号：a², -3a, +2。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次数的计算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5πr² 的次数是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（π是常数，不是字母，不计次数）。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x³y + 2x² - 5 的次数为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（取最高次项：3+1=4）。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31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隐形的“1”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 ab 省略了系数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，实际为 1ab。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 -xy 省略了系数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，切勿误认为系数不存在。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431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单独数字的定义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826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数字 0 是单项式，但它没有次数。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任意非零常数（如 5, -2）都是单项式，其次数规定为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基础回顾 · 填表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52500" y="2603500"/>
          <a:ext cx="3390900" cy="160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/>
                <a:gridCol w="609600"/>
                <a:gridCol w="609600"/>
                <a:gridCol w="609600"/>
                <a:gridCol w="6096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单项式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2a²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-1.2h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xy²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-t²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952500" y="5016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小贴士：系数要包含前面的符号，次数是所有字母的指数之和哦。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196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概念辨析 · 分类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26035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请对下列代数式进行分类：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2a+1，4r²，2x²-5y+1，3，(3/8)m³-5n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3683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3784600"/>
            <a:ext cx="298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✅ 单项式：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（单独的一个数或一个字母也是）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08500" y="4826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mpd="sng" cap="flat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4927600"/>
            <a:ext cx="298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📝 多项式：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（几个单项式的和组成）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64500" y="196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进阶挑战 · 拆解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64500" y="26035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挑战一下：分析多项式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-5a²b + 2ab - b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64500" y="3683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mpd="sng" cap="flat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91500" y="3784600"/>
            <a:ext cx="298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🔍 它的项是？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（注意：项包括前面的符号）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64500" y="4826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12700" cmpd="sng" cap="flat">
            <a:solidFill>
              <a:srgbClr val="EC4899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4927600"/>
            <a:ext cx="298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9D174D"/>
                </a:solidFill>
                <a:latin typeface="Noto Sans SC"/>
                <a:ea typeface="Noto Sans SC"/>
                <a:cs typeface="Noto Sans SC"/>
                <a:sym typeface="Noto Sans SC"/>
              </a:rPr>
              <a:t>⚡ 它的次数是？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（看次数最高的项的次数）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本节课知识地图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7100" y="228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整式 · 核心基石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505" flipH="false" flipV="false">
            <a:off x="9271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27100" y="3111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整式是代数式的基础组成，由数与字母通过乘法连接而成。它是构建代数大厦的“砖瓦”，是学习后续因式分解、方程求解与函数的必备前提，贯穿初中代数学习的始终。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271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27100" y="4826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定位：代数运算的逻辑起点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59300" y="228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单项式 · 基础单元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505" flipH="false" flipV="false">
            <a:off x="45593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59300" y="3111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由数或字母的积组成的代数式（单独的数或字母也属于单项式）。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系数：单项式中的数字因数（包含符号）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次数：所有字母的指数之和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593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59300" y="4826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示例：-5xy² (系数-5，次数3)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91500" y="228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多项式 · 组合形式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505" flipH="false" flipV="false">
            <a:off x="81915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191500" y="3111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由几个单项式相加组成的代数式。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项：组成多项式的每个单项式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次数：多项式中次数最高的项的次数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4826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示例：3x²y + 7z - 1 (次数3，3项)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56896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总结归纳：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单项式和多项式统称为整式，它们是“个体”与“组合”的关系，共同构成了整式的完整知识体系，是代数运算的基础。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超越课堂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我们知道，形如</a:t>
            </a: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2n</a:t>
            </a: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（n为整数）的整式可以完美表示所有偶数。那么，对于其他有规律的整数序列，我们能否也用简洁的整式来概括呢？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429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37084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3708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探索一：表示所有奇数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549" flipH="false" flipV="false">
            <a:off x="1079509" y="424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4419600"/>
            <a:ext cx="463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观察序列：1, 3, 5, 7, 9...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思考：能否构造一个只含整数 n 的整式，使其恰好覆盖所有奇数？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429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37084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48500" y="3708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探索二：表示3的倍数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549" flipH="false" flipV="false">
            <a:off x="6540509" y="424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40500" y="4419600"/>
            <a:ext cx="463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观察序列：3, 6, 9, 12, 15...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挑战：尝试用一个简洁的整式，精准表示所有能被3整除的整数。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小组讨论：写出你的猜想，并尝试举例验证它是否成立！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今日收获与明日任务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今日收获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3213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一个核心：整式的概念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理解代数式的基本构成，掌握整式作为代数式基础形式的核心地位。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4102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两个基本：单项式与多项式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明晰单项式与多项式的定义差异，能准确判断代数式所属的类别。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4991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三个关键：系数、次数、项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熟练掌握这三个核心要素，能够精准分析和描述整式的各项特征。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286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课后作业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238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3213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复习回顾，夯实基础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重温本节课重点内容，梳理整式相关的知识点，构建清晰的知识框架。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4127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4102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实战演练，巩固提升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独立完成教材 P100-P101 的练习题，通过练习加深对概念的理解与应用。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5016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21500" y="49911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预习新知，探索未知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阅读下一节《合并同类项》，尝试思考同类项的判定标准，做好课前准备。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159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 数学的奥秘在于不断探索与积累，愿大家每天都有新的进步！”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{"Label":"1","ContentProducer":"001191110102MACQD9K64010000","ProduceID":"7662419917989252025","ReservedCode1":"","ContentPropagator":"","PropagateID":"","ReservedCode2":""}</vt:lpwstr>
  </property>
</Properties>
</file>