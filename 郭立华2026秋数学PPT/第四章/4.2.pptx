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（上课铃响后）“同学们好！今天我们将一起探索整式世界里的一种新运算——加减法。大家准备好了吗？让我们一起开启今天的数学之旅吧！”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有三个小目标。首先，我们要认识一位新朋友——‘同类项’。然后，我们要学会一个新本领——‘合并同类项’。最后，我们会发现，这个新本领能帮我们解决很多生活中的问题。大家有信心完成这些目标吗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同学们，你们知道港珠澳大桥吗？它非常宏伟！现在，我们把它变成一个数学问题。大家看屏幕上的题目，我们列出了算式 72a + 120a。这里的 a 代表时间，72a 和 120a 都表示路程。一个有趣的问题来了，这两个含有字母的式子能像数一样直接相加吗？这就是我们今天要解决的核心问题。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大家看，我们熟悉的乘法分配律，不仅对数字管用，对含有字母的式子也同样适用！72a 和 120a 就像 72个a 和 120个a，合起来就是 192个a。我们再仔细观察一下 72a 和 -120a，3m² 和 2m² 这些项，它们是不是长得很像？对，它们都含有相同的字母，而且相同字母的指数也一模一样。我们给这样的项起个名字，叫‘同类项’。大家可以通俗地理解为‘一家人’，它们的‘字母’和‘指数’这两个‘家庭成员’都完全一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既然是‘一家人’，那就可以住到一起去。这个过程就叫‘合并同类项’。怎么合并呢？大家看法则，非常简单！就像我们算 3个苹果 + 2个苹果 = 5个苹果 一样。字母和字母的指数就像‘苹果’这个名称，是不变的。变的是什么呢？是前面的数字，也就是系数。我们只需要把系数相加或相减就可以了。记住这个口诀：‘系数相加，字母和指数不变’。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我们来看两道例题。第一题，注意 xy² 的系数是1，这个1通常省略不写。第二题稍微复杂一点，有三项。我们第一步要做的就是‘找朋友’，把同类项找出来，用不同颜色的笔标出来会更清楚。然后，利用加法交换律和结合律，把同类项‘凑’到一起，最后再应用法则进行合并。大家看，合并之后，多项式是不是变得更简洁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合并同类项看起来简单，但有些小陷阱需要我们特别注意。大家看这几点，是不是很容易出错？比如，3x 和 2y，一个是x，一个是y，不是一家人，坚决不能合并！还有，系数是相加，不是相乘。记住这些，我们就能避免很多不必要的错误。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好了，理论和例子都看过了，现在轮到大家大显身手了！请大家拿出练习本，快速完成这几道题目。注意，一定要先判断是不是同类项，再进行合并。做完的同学可以举手示意。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解决了合并同类项，我们再来看一个新问题。当整式里出现括号时，我们该怎么办？没错，要先去括号！去括号的依据还是我们熟悉的乘法分配律。大家重点看括号前面是减号的情况，去掉括号后，括号里的每一项都要变号，‘+’变‘-’，‘-’变‘+’。这是一个非常重要的规则，一定要记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我们把合并同类项和去括号这两个技能结合起来，就得到了整式加减的完整法则。大家看，步骤非常清晰：第一步，去括号；第二步，合并同类项。就像剥洋葱一样，一层一层来，先把括号这个‘外衣’脱掉，然后再把里面的‘同类项’成员们团聚在一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我们来看两道题。第一题是纯粹的整式减法，关键在于去括号时要变号。第二题是先化简再求值。大家思考一下，为什么要先化简再求值？如果直接把 a 和 b 的值代入原式，计算会怎么样？（引导学生回答：会更复杂，容易出错）。对，先化简可以大大简化我们的计算过程，这体现了数学中‘化繁为简’的思想。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这次的练习难度升级了，包含了多重括号和化简求值。大家动笔算一算，注意运算顺序和符号的变化。特别是第三题，数字看起来很复杂，但相信我，化简之后你会发现惊喜！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一节课下来，我们收获满满。我们认识了‘同类项’，学会了‘合并同类项’和‘去括号’两大法则，最终掌握了整式加减的方法。大家可以用这个结构图来回顾一下今天所学的核心内容，把它们牢牢地记在脑子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学无处不在，就连我们天天看的月历里也藏着秘密。大家看这个蓝色方框里的9个数，它们的和和中间那个数有什么关系呢？是不是9倍的关系？这个关系是巧合吗？我们能不能用今天学的整式加减来证明它呢？大家可以试着设中间的数为x，把其他8个数用x表示出来，然后加一加，看看会发生什么神奇的事情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今天的数学课就要结束了。回顾一下，我们不仅学会了具体的运算技能，更重要的是，我们运用了类比、化繁为简等数学思想来解决问题。希望大家课后能多加练习，熟练掌握今天所学的知识。下课！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0.jpeg" Type="http://schemas.openxmlformats.org/officeDocument/2006/relationships/image"/><Relationship Id="rId4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6.jpeg" Type="http://schemas.openxmlformats.org/officeDocument/2006/relationships/image"/><Relationship Id="rId4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3.jpeg" Type="http://schemas.openxmlformats.org/officeDocument/2006/relationships/image"/><Relationship Id="rId3" Target="../notesSlides/notesSlide16.xml" Type="http://schemas.openxmlformats.org/officeDocument/2006/relationships/notesSlide"/><Relationship Id="rId4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第四章 整式的加减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937000"/>
            <a:ext cx="10160000" cy="17780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4191000"/>
            <a:ext cx="965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4.2 整式的加法与减法（一）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4826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核心探究：认识同类项的特征，掌握合并同类项的运算法则，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体会代数运算中的“化繁为简”思想。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969000"/>
            <a:ext cx="2286000" cy="330200"/>
          </a:xfrm>
          <a:prstGeom prst="roundRect">
            <a:avLst>
              <a:gd name="adj" fmla="val 0"/>
            </a:avLst>
          </a:prstGeom>
          <a:solidFill>
            <a:srgbClr val="333333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969000"/>
            <a:ext cx="228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初中数学 · 代数进阶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66800" y="2692400"/>
            <a:ext cx="533400" cy="533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66800" y="34290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理解同类项概念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4191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能够依据定义准确判断几个项是否为同类项，牢牢掌握“所含字母相同，且相同字母的指数也相同”这一核心判定标准。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711700" y="2692400"/>
            <a:ext cx="533400" cy="533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711700" y="34290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掌握合并法则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11700" y="4191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深入理解并熟练运用合并同类项的法则，能够准确、快速地进行合并运算，为后续学习整式的加减运算筑牢基础。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51800" y="22860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56600" y="2692400"/>
            <a:ext cx="533400" cy="533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356600" y="34290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感受生活应用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56600" y="41910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体验数学与现实生活的紧密联系，学会运用整式加减的知识解决购物算账、物品分配等实际问题，感受数学的实用价值。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969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💡 目标清晰，步伐坚定，让我们一起探索代数的奥秘吧！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生活中的数学问题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394" b="1394"/>
          <a:stretch>
            <a:fillRect/>
          </a:stretch>
        </p:blipFill>
        <p:spPr>
          <a:xfrm rot="0" flipH="false" flipV="false">
            <a:off x="762000" y="1778000"/>
            <a:ext cx="4318000" cy="2794000"/>
          </a:xfrm>
          <a:prstGeom prst="roundRect">
            <a:avLst>
              <a:gd name="adj" fmla="val 545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461000" y="1778000"/>
            <a:ext cx="6096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51500" y="1905000"/>
            <a:ext cx="5715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情境引入：超级工程的数学奥秘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港珠澳大桥全长55公里，是世界最长的跨海大桥。假设汽车通过海底隧道需</a:t>
            </a: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小时，到东人工岛需</a:t>
            </a: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1.25a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小时。已知隧道段时速72km/h，人工岛段时速96km/h。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461000" y="3492500"/>
            <a:ext cx="6096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51500" y="3657600"/>
            <a:ext cx="571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核心问题挑战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根据以上信息，如何用含有字母的式子表示“香港口岸到西人工岛”的全长？这又该如何计算呢？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889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016500"/>
            <a:ext cx="495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📐 列式推导过程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全长 = 隧道长度 + 人工岛段长度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 72a + (96 × 1.25)a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 72a + 120a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8895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C107">
              <a:alpha val="10000"/>
            </a:srgbClr>
          </a:solidFill>
          <a:ln w="12700" cmpd="sng" cap="flat">
            <a:solidFill>
              <a:srgbClr val="FFC10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5016500"/>
            <a:ext cx="4953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🤔 关键思考：如何合并？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 72a 和 120a，它们都含有字母 a，就像“同类商品”一样。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那么，这两个式子能否直接相加？结果是多少？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认识我们的新朋友——同类项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探究活动：运算律的迁移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86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回顾乘法分配律在代数中的应用：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数字计算：72×2 + 120×2 = (72+120)×2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② 类比迁移：72a + 120a =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(72+120)a = 192a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规律：字母部分保持不变，只需将系数相加！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继续探究：寻找共同特征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2860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观察下列各组项，它们的“长相”有什么共同点？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① 72a 与 -120a （含相同字母a，指数均为1）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② 3m² 与 2m² （含相同字母m，指数均为2）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③ 3xy² 与 -4xy² （含相同字母x,y，指数对应相同）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91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4CAF50">
              <a:alpha val="12000"/>
            </a:srgbClr>
          </a:solidFill>
          <a:ln w="127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38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核心定义：什么是同类项？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26000"/>
            <a:ext cx="10160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我们把</a:t>
            </a:r>
            <a:r>
              <a:rPr lang="en-US" b="true" i="false" strike="noStrike" u="none" sz="15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所含字母相同，并且相同字母的指数也相同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的项，叫做同类项。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特别补充：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所有的常数项也是同类项（例如：数字 5 和 -3 是同类项）。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简单记法：“两同”——字母同，指数同；常数是一家。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合并同类项的法则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968500"/>
            <a:ext cx="299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核心定义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413000"/>
            <a:ext cx="2997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把多项式中的同类项合并成一项，这个过程叫做“合并同类项”。它是进行整式加减运算的基础与核心步骤。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069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97400" y="1968500"/>
            <a:ext cx="299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运算依据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97400" y="2413000"/>
            <a:ext cx="2997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其理论依据是乘法分配律的逆向运用：将相同的因式（字母部分）提取出来，对系数进行加减运算，即 \(ab + ac = a(b+c)\)。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518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42300" y="1968500"/>
            <a:ext cx="299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运算法则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42300" y="2413000"/>
            <a:ext cx="2997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口诀记忆：</a:t>
            </a: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系数相加，字母不变。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即：同类项的系数相加减，所得结果作为新的系数，字母及其指数保持原样不变。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典型计算示例解析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826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4953000"/>
            <a:ext cx="3124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一次单项式合并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Roboto Mono"/>
                <a:ea typeface="Roboto Mono"/>
                <a:cs typeface="Roboto Mono"/>
                <a:sym typeface="Roboto Mono"/>
              </a:rPr>
              <a:t>72a - 120a = (72 - 120)a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= -48a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06900" y="4826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33900" y="4953000"/>
            <a:ext cx="3124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二次单项式合并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Roboto Mono"/>
                <a:ea typeface="Roboto Mono"/>
                <a:cs typeface="Roboto Mono"/>
                <a:sym typeface="Roboto Mono"/>
              </a:rPr>
              <a:t>3m² + 2m² = (3 + 2)m²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= 5m²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4826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78800" y="4953000"/>
            <a:ext cx="3124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含字母组合项合并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Roboto Mono"/>
                <a:ea typeface="Roboto Mono"/>
                <a:cs typeface="Roboto Mono"/>
                <a:sym typeface="Roboto Mono"/>
              </a:rPr>
              <a:t>3xy² - 4xy² = (3 - 4)xy²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4CAF50"/>
                </a:solidFill>
                <a:latin typeface="Roboto Mono"/>
                <a:ea typeface="Roboto Mono"/>
                <a:cs typeface="Roboto Mono"/>
                <a:sym typeface="Roboto Mono"/>
              </a:rPr>
              <a:t>= -xy²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例题1：合并下列各式的同类项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2032000"/>
            <a:ext cx="488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01. 基础单式合并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667000"/>
            <a:ext cx="488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xy² - (1/5)xy²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046" flipH="false" flipV="false">
            <a:off x="9525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4290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两项为同类项，注意</a:t>
            </a: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xy²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的系数是1（通常省略不写），另一项系数为1/5，直接合并系数即可。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4445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cmpd="sng" cap="flat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4572000"/>
            <a:ext cx="463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(1 - 1/5)xy²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b="true" i="false" strike="noStrike" u="none" sz="15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(4/5)xy²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1778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032000"/>
            <a:ext cx="4889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02. 多项式综合合并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667000"/>
            <a:ext cx="4889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4a² + 3b² + 2ab - 4a² - 4b²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046" flipH="false" flipV="false">
            <a:off x="6477008" y="329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34290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分析：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先“找朋友”：4a²与-4a²抵消，3b²与-4b²合并，2ab无同类项直接保留。利用加法交换律重组式子。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44450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cmpd="sng" cap="flat">
            <a:solidFill>
              <a:srgbClr val="32963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4572000"/>
            <a:ext cx="4635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解：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(4a²-4a²)+(3b²-4b²)+2ab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 0 - b² + 2ab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=</a:t>
            </a:r>
            <a:r>
              <a:rPr lang="en-US" b="true" i="false" strike="noStrike" u="none" sz="15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2ab - b²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小心！这些“陷阱”不要踩！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2000" y="2286000"/>
            <a:ext cx="2032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35500"/>
            <a:ext cx="215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合并同类项是代数运算的基石，也是最容易马虎出错的地方。避开这些“隐形坑”，让你的计算又快又准！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2032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92500" y="21844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非同类项，严禁合并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2641600"/>
            <a:ext cx="387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3x + 2y ≠ 5xy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a² + a³ ≠ a⁵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所含字母不同，或相同字母的指数不同，都不是同类项，绝对不能强行合并。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0" y="2032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10500" y="21844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系数相加，拒绝相乘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10500" y="2641600"/>
            <a:ext cx="387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2a + 3a ≠ 6a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合并时只需将系数相加作为新系数，切勿误将系数相乘，正确结果应为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5a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02000" y="4191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92500" y="43434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字母指数，保持不变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4800600"/>
            <a:ext cx="387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4x² - x² ≠ 4x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合并运算只改变系数，字母部分（包括指数）需原封不动保留，正确结果是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3x²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0" y="4191000"/>
            <a:ext cx="4127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810500" y="4343400"/>
            <a:ext cx="3873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04 孤立项，切勿遗漏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810500" y="4800600"/>
            <a:ext cx="387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反例警示：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a + b² - a ≠ 0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没有同类项的“孤立项”要完整保留在结果中，不能凭空消失，最终结果应为</a:t>
            </a:r>
            <a:r>
              <a:rPr lang="en-US" b="tru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b²</a:t>
            </a:r>
            <a:r>
              <a:rPr lang="en-US" b="false" i="false" strike="noStrike" u="none" sz="14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趁热打铁，快速合并下列同类项，检验你的学习成果！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41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5x + 4x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答案：9x （系数相加，字母及指数保持不变）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68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(1/3)y - (2/3)y + 2y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答案：(5/3)y （统一分母后，合并同类项系数）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82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495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-7ab + 6ab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答案：-ab （系数相减，注意符号运算规则）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28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41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10y² - 0.5y²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答案：9.5y² （整数与小数直接相减，保留次数）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55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368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mn² + 3mn²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答案：4mn² （注意指数仅在字母 n 上）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826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4953000"/>
            <a:ext cx="4953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06. -3x²y + 3xy² + 2x²y - 2xy²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答案：-x²y + xy² （分组合并，区分同类项）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整式加减的另一项技能——去括号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5875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1016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情境引入：行程问题中的列式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汽车通过主桥需 b 小时（时速 92km/h），过隧道时间比主桥少 0.15 小时（时速 72km/h）。求主桥与隧道的总长度和：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总长度 = 92b + 72(b - 0.15)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1066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556000"/>
            <a:ext cx="76200" cy="1333500"/>
          </a:xfrm>
          <a:prstGeom prst="roundRect">
            <a:avLst>
              <a:gd name="adj" fmla="val 0"/>
            </a:avLst>
          </a:prstGeom>
          <a:solidFill>
            <a:srgbClr val="4CAF5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683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核心方法：乘法分配律的应用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依据分配律 a(b±c) = ab±ac 展开并合并同类项：</a:t>
            </a:r>
            <a:r>
              <a:rPr lang="en-US" b="true" i="false" strike="noStrike" u="none" sz="1500">
                <a:solidFill>
                  <a:srgbClr val="E91E63"/>
                </a:solidFill>
                <a:latin typeface="Noto Sans SC"/>
                <a:ea typeface="Noto Sans SC"/>
                <a:cs typeface="Noto Sans SC"/>
                <a:sym typeface="Noto Sans SC"/>
              </a:rPr>
              <a:t>92b + 72b - 72×0.15 = 164b - 10.8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207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✅ 法则一：括号前是“+”号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去掉括号及“+”，括号内各项</a:t>
            </a: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符号不变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示例：+(x - 3) = x - 3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5080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9800">
              <a:alpha val="8000"/>
            </a:srgbClr>
          </a:solidFill>
          <a:ln w="12700" cmpd="sng" cap="flat">
            <a:solidFill>
              <a:srgbClr val="FF98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13500" y="52070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E6510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法则二：括号前是“-”号（易错点）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去掉括号及“-”，括号内各项</a:t>
            </a:r>
            <a:r>
              <a:rPr lang="en-US" b="tru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符号全变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示例：-(x - 3) = -x + 3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整式加减的运算法则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034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法则核心：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几个整式相加减，若有括号，需</a:t>
            </a: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先去括号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（注意符号变化），再</a:t>
            </a:r>
            <a:r>
              <a:rPr lang="en-US" b="true" i="false" strike="noStrike" u="none" sz="16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合并同类项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，逐步将复杂的整式化简为最简形式。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57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048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33500" y="3022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去括号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492500"/>
            <a:ext cx="2997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依据法则处理括号：前为“+”，去括号后各项不变号；前为“-”，括号内各项均要变号。这是运算的第一步，也是易错点。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2857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97400" y="3048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78400" y="3022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找同类项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97400" y="3492500"/>
            <a:ext cx="2997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火眼金睛识别“两同”项：所含字母完全相同，且相同字母的指数也分别相同。常数项之间也互为同类项。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2857500"/>
            <a:ext cx="3378200" cy="1841500"/>
          </a:xfrm>
          <a:prstGeom prst="roundRect">
            <a:avLst>
              <a:gd name="adj" fmla="val 0"/>
            </a:avLst>
          </a:prstGeom>
          <a:solidFill>
            <a:srgbClr val="E8F5E9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42300" y="3048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23300" y="30226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合并同类项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42300" y="3492500"/>
            <a:ext cx="2997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将同类项的系数相加（或相减），作为新的系数，字母和字母的指数保持不变，最终整理为最简整式。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51054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典型示例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413000" y="51054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计算：(2x - 3y) + (5x + 4y)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4244" flipH="false" flipV="false">
            <a:off x="952504" y="5518150"/>
            <a:ext cx="1028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952500" y="56134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① 去括号：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2x - 3y + 5x + 4y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（括号前为“+”，直接去括号）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445000" y="56134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② 结合同类项：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(2x+5x)+(-3y+4y)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（分组归类，便于计算）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937500" y="56134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③ 合并结果：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7x + y</a:t>
            </a: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（系数相加，完成化简）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例题2：计算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整式的加减运算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413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题目：计算 $(8a - 7b) - (4a - 5b)$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857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解：原式 = 8a - 7b - 4a + 5b   </a:t>
            </a:r>
            <a:r>
              <a:rPr lang="en-US" b="false" i="false" strike="noStrike" u="none" sz="1500">
                <a:solidFill>
                  <a:srgbClr val="D32F2F"/>
                </a:solidFill>
                <a:latin typeface="Noto Sans SC"/>
                <a:ea typeface="Noto Sans SC"/>
                <a:cs typeface="Noto Sans SC"/>
                <a:sym typeface="Noto Sans SC"/>
              </a:rPr>
              <a:t>（关键：括号前是“-”，去括号要变号）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= (8a - 4a) + (-7b + 5b) = 4a - 2b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4127500"/>
            <a:ext cx="10668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318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先化简，再求值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7625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题目：$3a + 2b - 5a - b$，其中 $a = -2$，$b = 1$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207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解：① 化简：原式 = (3a - 5a) + (2b - b) = -2a + b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② 求值：当 $a=-2, b=1$ 时，原式 = -2×(-2) + 1 = 5   </a:t>
            </a:r>
            <a:r>
              <a:rPr lang="en-US" b="true" i="false" strike="noStrike" u="none" sz="15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（先化简可简化计算！）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挑战升级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1968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基础化简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476500"/>
            <a:ext cx="3124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题目：-5a + (3a - 2) - (3a - 7)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974" flipH="false" flipV="false">
            <a:off x="889013" y="3549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9000" y="37465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答案：-5a + 5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06900" y="17145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7145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33900" y="1968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多项式运算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33900" y="2476500"/>
            <a:ext cx="3124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题目：(x³ - x² + x - 1) - 2(x³ - x² - 1)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3974" flipH="false" flipV="false">
            <a:off x="4533913" y="3549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533900" y="37465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答案：-x³ + x² + x + 1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51800" y="17145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51800" y="1714500"/>
            <a:ext cx="33782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78800" y="1968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先化简再求值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78800" y="2476500"/>
            <a:ext cx="3124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题目：x² -5xy -3x² -2(1-2xy-x²)，其中 x=-1/9, y=9/2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3974" flipH="false" flipV="false">
            <a:off x="8178813" y="35496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178800" y="37465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化简：-xy - 2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结果：-3/2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889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CAF50">
              <a:alpha val="1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97000" y="5143500"/>
            <a:ext cx="990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解题锦囊：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遇到多重括号时，要遵循“先小括号，再中括号”的顺序；去括号时，务必注意括号前的负号或系数，避免漏乘。对于求值题，先化简代数式往往能让计算变得异常简单！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本节课知识小结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19812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71600" y="19558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一个核心概念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489200"/>
            <a:ext cx="29718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同类项需满足两个条件：所含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字母完全相同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，且相同字母的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指数也相同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。特别注意：所有常数项均为同类项。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1778000"/>
            <a:ext cx="33782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97400" y="19812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03800" y="19558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两个运算法则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97400" y="2489200"/>
            <a:ext cx="29718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合并法则：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系数相加，字母及指数保持不变。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去括号：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“+”后不变号；“-”后括号内</a:t>
            </a: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各项全变号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，切勿漏项。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26400" y="1778000"/>
            <a:ext cx="34036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CAF50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29600" y="19812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636000" y="1955800"/>
            <a:ext cx="2730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整式加减运算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29600" y="2489200"/>
            <a:ext cx="29972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运算三部曲：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去括号 → 找同类项 → 合并同类项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。最终结果需化为最简形式，即没有同类项可合并为止。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10668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rcRect l="6534" r="6534" t="0" b="0"/>
          <a:stretch>
            <a:fillRect/>
          </a:stretch>
        </p:blipFill>
        <p:spPr>
          <a:xfrm rot="0" flipH="false" flipV="false">
            <a:off x="2413000" y="4508500"/>
            <a:ext cx="7366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月历中的奥秘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69" b="69"/>
          <a:stretch>
            <a:fillRect/>
          </a:stretch>
        </p:blipFill>
        <p:spPr>
          <a:xfrm rot="0" flipH="false" flipV="false">
            <a:off x="762000" y="2032000"/>
            <a:ext cx="3810000" cy="2870200"/>
          </a:xfrm>
          <a:prstGeom prst="roundRect">
            <a:avLst>
              <a:gd name="adj" fmla="val 5309"/>
            </a:avLst>
          </a:prstGeom>
          <a:noFill/>
          <a:ln w="254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207000"/>
            <a:ext cx="381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看似简单的日期排列，</a:t>
            </a: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其实藏着巧妙的数学规律，</a:t>
            </a: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让我们用整式加减来解锁它！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2032000"/>
            <a:ext cx="660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CAF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16500" y="2184400"/>
            <a:ext cx="6223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❓ 探索：数字间的神秘联系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观察方框中的9个数字，它们的总和与正中心的数字有什么关系？如果我们随意移动这个方框，这个规律还会存在吗？试着用我们学过的整式加减知识来验证一下吧。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26000" y="3810000"/>
            <a:ext cx="2070100" cy="2222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4000500"/>
            <a:ext cx="18796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设元表示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假设方框正中心的数为</a:t>
            </a: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x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。根据月历“行差7，列差1”的特点，将周围8个数用含x的整式表示（如 x-8, x-1, x+7 等）。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023100" y="3810000"/>
            <a:ext cx="2070100" cy="2222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50100" y="4000500"/>
            <a:ext cx="18796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02 整式求和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将9个数相加，去括号后，互为相反数的项（如 -8 与 +8）相互抵消，剩余的同类项进行合并。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220200" y="3810000"/>
            <a:ext cx="2070100" cy="2222500"/>
          </a:xfrm>
          <a:prstGeom prst="roundRect">
            <a:avLst>
              <a:gd name="adj" fmla="val 0"/>
            </a:avLst>
          </a:prstGeom>
          <a:solidFill>
            <a:srgbClr val="4CAF5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47200" y="4000500"/>
            <a:ext cx="18796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88E3C"/>
                </a:solidFill>
                <a:latin typeface="Noto Sans SC"/>
                <a:ea typeface="Noto Sans SC"/>
                <a:cs typeface="Noto Sans SC"/>
                <a:sym typeface="Noto Sans SC"/>
              </a:rPr>
              <a:t>03 发现规律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最终化简结果为</a:t>
            </a:r>
            <a:r>
              <a:rPr lang="en-US" b="tru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9x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。这意味着：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方框中9个数的和，永远等于中心数的9倍！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今天的收获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349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362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知识积累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978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238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掌握识别同类项的技巧，熟练运用合并同类项与去括号法则，能够独立完成基础的整式加减运算，夯实代数基础。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349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56200" y="2362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02 思想感悟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48214" y="2978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48200" y="3238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体会从“数”到“式”的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类比思想</a:t>
            </a: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；运用“先化简，后求值”的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化繁为简</a:t>
            </a: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策略；在实际问题中感受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数形结合</a:t>
            </a: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的奇妙。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2032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4CAF5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2349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88400" y="2362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03 方法点睛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280414" y="29781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CAF5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280400" y="3238500"/>
            <a:ext cx="2870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整式加减运算的核心口诀：</a:t>
            </a:r>
            <a:r>
              <a:rPr lang="en-US" b="true" i="false" strike="noStrike" u="none" sz="14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“先去括号，再合并同类项”</a:t>
            </a: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。牢记符号变化规则，遵循运算顺序，是确保计算准确的关键。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78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CAF50"/>
                </a:solidFill>
                <a:latin typeface="Noto Sans SC"/>
                <a:ea typeface="Noto Sans SC"/>
                <a:cs typeface="Noto Sans SC"/>
                <a:sym typeface="Noto Sans SC"/>
              </a:rPr>
              <a:t>✨ 数学的魅力在于不断探索与总结，让我们在练习中巩固新知，遇见更好的自己！ ✨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540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318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愿你保持对世界的好奇与热爱，在求知的路上步履不停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以探索为帆，以坚持为桨，奔赴属于你的星辰大海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4000" y="5842000"/>
            <a:ext cx="1524000" cy="508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cmpd="sng" cap="flat">
            <a:solidFill>
              <a:srgbClr val="32963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{"Label":"1","ContentProducer":"001191110102MACQD9K64010000","ProduceID":"7662419964385020882","ReservedCode1":"","ContentPropagator":"","PropagateID":"","ReservedCode2":""}</vt:lpwstr>
  </property>
</Properties>
</file>