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面带微笑，声音亲切）“同学们好！今天我们将一起走进几何世界，探索构成我们身边万千图形最基本的元素——直线、射线和线段。它们就像建造高楼大厦的砖块，非常重要。让我们一起开启今天的奇妙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这节课我们有四个主要目标，大家看屏幕。学完这节课，我们不仅能叫出这些图形的名字，还能用数学语言精确地描述它们，甚至还能当一回小小设计师，用尺子和圆规画出我们想要的线段。大家有信心吗？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两张图，工人叔叔砌墙和我们植树，都用到了一个共同的技巧。谁能说说看，他们为什么都只关注两个点呢？（引导学生思考并回答）没错，这就是我们今天要学习的第一个重要结论：‘两点确定一条直线’。这意味着，经过两点，有且只有一条直线。这个‘确定’的意思就是‘有且仅有’，不多不少，刚刚好一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认识一下几何世界的‘三兄弟’。老大是直线，它没有起点也没有终点，像孙悟空的金箍棒，能无限变长。老二是射线，它有一个起点，然后向一个方向无限延伸，就像手电筒发出的光。老三是线段，它最规矩，有两个端点，长度是固定的。大家要特别注意射线的表示方法，端点字母一定要写在前面，因为它代表了射线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怎么比较两条线段谁长谁短呢？就像我们比身高一样，可以用尺子量，这叫‘度量法’。也可以把它们‘叠’在一起比，这叫‘叠合法’。大家看图，我们把A点和C点重合，看B点的位置就能判断了。通过比较，我们还能发现一个重要的规律：连接两点的所有线中，线段是最短的。这就是‘两点之间，线段最短’。而这个最短的长度，我们给它一个名字，叫做‘两点间的距离’。注意，距离是一个数，不是线段本身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不仅能比较线段，还能对它们进行‘加减运算’。比如，想得到一条长度是a+b的线段，我们可以先画a，再接着画b。同样，a-b就是在a上截掉一段b。我们还认识一位新朋友——线段的中点。它就像一根绳子的正中间，把绳子分成了完全相等的两段。如果M是AB的中点，那么AM一定等于MB，而且都等于AB的一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道例题。第一题是尺规作图，“2a-b”可以拆解成先做“2a”，再减去“b”。大家跟着老师的步骤，一步一步在练习本上画一画。第二题是计算，这里有两个中点，我们要一步一步来，先利用C是AB中点求出AC，再利用D是BC中点求出CD，最后把AC和CD加起来就是AD的长度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在做题的时候，这几个地方特别容易出错，老师给大家提个醒。第一，射线的方向很重要，AB和BA完全是两回事。第二，直线已经够长了，不能再延长了，我们只能延长线段。第三，距离是一个数，别跟线段搞混了。最后，看到中点，就要立刻反应出它把线段分成了相等的两部分。记住这几点，就能避开很多‘坑’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现在轮到大家大显身手了！这里有几道练习题，请大家快速思考并回答。第一题是判断题，考验大家对概念的理解。第二题是选择题，看看谁能抓住中点定义的关键。第三题是作图题，大家拿出尺子和圆规，动手画一画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收获满满。让我们一起回顾一下今天的知识地图。我们学习了两个重要的基本事实，认识了直线、射线、线段三兄弟，掌握了比较线段的两种方法，理解了距离和中点的概念，还学会了尺规作图。这些知识点就像一颗颗珍珠，串起了我们今天的学习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学知识不仅在课本里，更在我们的生活中。大家思考一下这两个问题。把弯曲的河道改直，路程就变短了，这是为了节约成本。而公园里的桥故意修成弯曲的，又是为什么呢？（引导学生回答）对，是为了让我们走更长的路，欣赏更多的风景。你看，一个数学原理，正用反用，都充满了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就到这里。我们一起认识了几何世界的基本元素，还学会了很多实用的技能。希望大家课后能及时复习，完成作业。最后的思考题，大家可以画图试一试，看看能发现什么规律。我们下节课揭晓答案！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jpe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jpe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notesSlides/notesSlide12.xml" Type="http://schemas.openxmlformats.org/officeDocument/2006/relationships/notesSlide"/><Relationship Id="rId8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6.2 直线、射线、线段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254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几何图形初步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287000" y="5270500"/>
            <a:ext cx="1143000" cy="1143000"/>
          </a:xfrm>
          <a:prstGeom prst="ellipse">
            <a:avLst/>
          </a:prstGeom>
          <a:solidFill>
            <a:srgbClr val="4CAF50">
              <a:alpha val="18000"/>
            </a:srgbClr>
          </a:solidFill>
          <a:ln cmpd="sng" cap="flat">
            <a:solidFill>
              <a:srgbClr val="329636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88500" y="5740400"/>
            <a:ext cx="4572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mpd="sng" cap="flat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286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认识新朋友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194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理解并掌握直线、射线、线段的核心概念及规范的数学表示方法，学会用几何语言精准描述图形特征。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10400" y="2286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掌握基本事实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8194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深刻理解“两点确定一条直线”与“两点之间，线段最短”的几何公理，并能运用这些原理解释生活中的实际现象。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49400" y="450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学会新技能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419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掌握比较线段长短的度量法与叠合法，熟练使用尺规作图工具，按要求准确作出一条线段等于已知线段。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508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10400" y="450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理解新关系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0419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理解线段的和、差及中点的几何意义，能够结合图形进行线段长度的简单计算与逻辑推理，解决基础几何问题。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生活中的数学智慧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781" b="781"/>
          <a:stretch>
            <a:fillRect/>
          </a:stretch>
        </p:blipFill>
        <p:spPr>
          <a:xfrm rot="0" flipH="false" flipV="false">
            <a:off x="1016000" y="2413000"/>
            <a:ext cx="2032000" cy="2667000"/>
          </a:xfrm>
          <a:prstGeom prst="roundRect">
            <a:avLst>
              <a:gd name="adj" fmla="val 7500"/>
            </a:avLst>
          </a:prstGeom>
          <a:noFill/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3238500" y="2413000"/>
            <a:ext cx="24765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砌墙的智慧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为什么固定两个点就能拉出直线？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这是建筑中最朴素的几何应用。两点确定一条直线，不仅是施工的标准，更是确保结构平直、稳固的底层逻辑，让数学成为建造的隐形标尺。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24603" r="24603" t="0" b="0"/>
          <a:stretch>
            <a:fillRect/>
          </a:stretch>
        </p:blipFill>
        <p:spPr>
          <a:xfrm rot="0" flipH="false" flipV="false">
            <a:off x="6477000" y="2413000"/>
            <a:ext cx="2032000" cy="2667000"/>
          </a:xfrm>
          <a:prstGeom prst="roundRect">
            <a:avLst>
              <a:gd name="adj" fmla="val 7500"/>
            </a:avLst>
          </a:prstGeom>
          <a:noFill/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699500" y="2413000"/>
            <a:ext cx="24765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自然的秩序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整齐的树苗队列藏着什么奥秘？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这不仅是视觉上的整齐划一，更是“两点定线”规律在自然中的生动映射。数学规律赋予了生活与自然一种独特的秩序美与节奏感。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6096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核心洞察：两点确定一条直线 —— 这是连接理论与实践的几何基石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几何世界的“三兄弟”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86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直线 (Line)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952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0480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没有端点，向两端无限延伸，如同无尽的道路。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小写字母 (如直线 l)；② 直线上两点 (如直线 AB)。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核心属性：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无端点，不可度量长度。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286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165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射线 (Ray)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72000" y="30480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有一个端点，向一端无限延伸，如手电筒的光束。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端点字母必须在前 (如射线 OA，O是端点)。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易错点：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字母顺序不可颠倒，代表方向。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286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36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线段 (Segment)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8191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91500" y="30480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直线上两点及之间的部分，是直线的一部分。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两个端点 (如线段 AB)；② 小写字母 (如线段 a)。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核心属性：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有两个端点，可度量长度，不可延伸。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比比谁更长？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度量法：数值量化比较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刻度尺。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用刻度尺量出两条线段的具体长度，通过比较测量数值的大小来确定线段的长短，是一种精准的量化方法。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叠合法：几何直观判断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873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圆规。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将两条线段的一个端点重合，使另一端点落在同侧，根据另一端点的相对位置直接判断长短，是几何图形比较的常用手段。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89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0165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基本事实与定义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两点之间，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线段最短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；连接两点的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线段的长度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，叫做这两点间的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距离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。（重点：距离是一个数值，而非线段本身！）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6752" r="6752" t="0" b="0"/>
          <a:stretch>
            <a:fillRect/>
          </a:stretch>
        </p:blipFill>
        <p:spPr>
          <a:xfrm rot="0" flipH="false" flipV="false">
            <a:off x="6350000" y="1841500"/>
            <a:ext cx="2730500" cy="1968500"/>
          </a:xfrm>
          <a:prstGeom prst="roundRect">
            <a:avLst>
              <a:gd name="adj" fmla="val 6451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18531" r="18531" t="0" b="0"/>
          <a:stretch>
            <a:fillRect/>
          </a:stretch>
        </p:blipFill>
        <p:spPr>
          <a:xfrm rot="0" flipH="false" flipV="false">
            <a:off x="9207500" y="1841500"/>
            <a:ext cx="2730500" cy="1968500"/>
          </a:xfrm>
          <a:prstGeom prst="roundRect">
            <a:avLst>
              <a:gd name="adj" fmla="val 6451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4254500"/>
            <a:ext cx="5588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4445000"/>
            <a:ext cx="527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为什么要学这两种方法？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度量法让我们用“数”来描述形，体会数学的精确性；叠合法则是几何证明中最基础的逻辑工具。这两种方法构成了我们研究几何图形大小关系的基石，从生活中的比身高到数学中的几何证明，都离不开它们。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线段的“加减乘除”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803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尺规作图：作等长线段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22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工具仅用无刻度直尺和圆规。先画一条射线，用圆规量取已知线段长度，再以射线端点为圆心，在射线上截取等长线段，即可完成作图。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2385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42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3909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线段的和与差运算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810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和：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在线段AB延长线上截取BC=b，则总长AC=a+b；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差：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在线段AB上截取BD=b，则剩余AD=a-b。通过“延长”与“截取”实现线段的加减法。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826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4978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线段中点：完美平分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397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若点M是线段AB的中点，则 AM = MB = ½AB，即 AB = 2AM = 2MB。中点将线段分成两段完全相等的部分，是几何计算与证明中的关键元素。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1676" b="1676"/>
          <a:stretch>
            <a:fillRect/>
          </a:stretch>
        </p:blipFill>
        <p:spPr>
          <a:xfrm rot="0" flipH="false" flipV="false">
            <a:off x="6604000" y="1651000"/>
            <a:ext cx="4826000" cy="2095500"/>
          </a:xfrm>
          <a:prstGeom prst="rect">
            <a:avLst/>
          </a:prstGeom>
          <a:noFill/>
          <a:ln w="25400" cmpd="sng" cap="flat">
            <a:solidFill>
              <a:srgbClr val="4CAF50">
                <a:alpha val="30000"/>
              </a:srgbClr>
            </a:solidFill>
            <a:prstDash val="solid"/>
            <a:round/>
          </a:ln>
          <a:effectLst>
            <a:outerShdw dir="2700000" dist="38100" blurRad="101600" algn="tl" rotWithShape="false">
              <a:srgbClr val="000000">
                <a:alpha val="5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10433" r="10433" t="0" b="0"/>
          <a:stretch>
            <a:fillRect/>
          </a:stretch>
        </p:blipFill>
        <p:spPr>
          <a:xfrm rot="0" flipH="false" flipV="false">
            <a:off x="6604000" y="4191000"/>
            <a:ext cx="4826000" cy="2095500"/>
          </a:xfrm>
          <a:prstGeom prst="rect">
            <a:avLst/>
          </a:prstGeom>
          <a:noFill/>
          <a:ln w="25400" cmpd="sng" cap="flat">
            <a:solidFill>
              <a:srgbClr val="4CAF50">
                <a:alpha val="30000"/>
              </a:srgbClr>
            </a:solidFill>
            <a:prstDash val="solid"/>
            <a:round/>
          </a:ln>
          <a:effectLst>
            <a:outerShdw dir="2700000" dist="38100" blurRad="101600" algn="tl" rotWithShape="false">
              <a:srgbClr val="000000">
                <a:alpha val="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学以致用，挑战例题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906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01 · 尺规作图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90600" y="26035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题目：已知线段 \(a\)，\(b\)，求作一条线段，使其长度等于 \(2a - b\)。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118" flipH="false" flipV="false">
            <a:off x="990608" y="3486150"/>
            <a:ext cx="4787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90600" y="3619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作图核心步骤：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40640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 作射线 \(AP\)，在其上顺次截取 \(AB = a\)，\(BC = a\)，得 \(AC = 2a\)；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 在线段 \(AC\) 上，以点 \(C\) 为起点截取 \(CD = b\)；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3. 则剩余的线段 \(AD\) 即为所求作的 \(2a - b\)。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881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02 · 中点计算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88100" y="26035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题目：已知 \(AB = 10\) cm，点C是AB中点，点D是BC中点，求线段 \(AD\) 的长度。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118" flipH="false" flipV="false">
            <a:off x="6388108" y="3486150"/>
            <a:ext cx="4787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388100" y="3619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计算推导过程：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88100" y="40640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 中点性质：\(AC = CB = \frac{1}{2}AB = \frac{1}{2} \times 10 = 5\) cm；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 再次应用：\(CD = \frac{1}{2}BC = \frac{1}{2} \times 5 = 2.5\) cm；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3. 最终求和：\(AD = AC + CD = 5 + 2.5 = 7.5\) cm。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33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射线表示易错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射线 AB 和 BA 并非同一条射线！端点决定了射线的起点，方向决定了延伸路径，二者因端点不同，所指完全不同，切勿颠倒顺序。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133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直线与线段混淆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667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直线本身是向两端无限延伸的，不存在“延长直线”的说法。只有线段有固定长度，可以说“延长线段AB”或“反向延长线段AB”，注意区分两者特性。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41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“距离”概念不清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“线段AB”是几何图形，而“AB的距离”是数值（即线段的长度）。正确表述应为：两点间的距离是线段AB的长度，而不是线段本身，避免概念混淆。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1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中点条件遗漏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953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看到“中点”要立刻联想“一半”和“两倍”的数量关系，但必须注意前提：该点必须在线段上。脱离了线段这个载体，中点的定义就不成立，解题时切勿遗漏。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小试牛刀，练练身手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 · 快速判断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13000"/>
            <a:ext cx="495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线段AB与射线AB都是直线AB的一部分 ——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② 直线AB与直线BA是同一条直线 ——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③ 射线AB与射线BA是同一条射线 ——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（端点方向不同）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④ 两点之间，直线最短 ——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（应为“线段”最短）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381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定义理解 · 选择题挑战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826000"/>
            <a:ext cx="495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题：点C在线段AB上，不能判定C是AB中点的是（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A. AC=CB | B. AB=2AC | C. AC+CB=AB | D. CB=½AB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解析：C选项是所有线段共有的性质，而非中点的判定依据。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78000"/>
            <a:ext cx="52070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40500" y="196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动手实践 · 尺规作图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2413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任务：已知线段 a、b，用尺规作一条线段，使它等于 a + 2b。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80" r="80" t="0" b="0"/>
          <a:stretch>
            <a:fillRect/>
          </a:stretch>
        </p:blipFill>
        <p:spPr>
          <a:xfrm rot="0" flipH="false" flipV="false">
            <a:off x="6794500" y="3048000"/>
            <a:ext cx="4318000" cy="1943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540500" y="5207000"/>
            <a:ext cx="4826000" cy="952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67500" y="53086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  <a:t>📝 核心步骤：</a:t>
            </a:r>
            <a:r>
              <a:rPr lang="en-US" b="false" i="false" strike="noStrike" u="none" sz="1300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  <a:t>1. 画射线 AP；2. 用圆规顺次截取 AB=a，BC=b，CD=b；3. 线段 AD 即为所求的 a+2b。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本节课知识地图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基本事实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牢记两条几何公理：两点确定一条直线；两点之间，线段最短。这是构建几何图形的逻辑基石。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03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419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三种图形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5400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直线无端点，向两边无限延伸；射线有一个端点，向一端无限延伸；线段有两个端点，可度量。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032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868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比较方法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05800" y="25400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度量法：借助刻度尺量化数值；叠合法：将线段移至同一起点，通过另一端点的位置关系直观比较。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441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核心概念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953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两点间距离：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连接两点线段的长度，是几何度量的基础。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线段中点：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将线段平分为两段的点，是研究线段对称性的关键。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59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13500" y="4445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441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05 基本技能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4953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掌握尺规作图：仅使用无刻度直尺和圆规，作一条线段等于已知线段。这不仅是画图技能，更是培养严谨几何逻辑与推理能力的重要途径。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数学在身边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河道改直：追求高效的智慧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384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把弯曲的河道改直后，A、B两地间的航程会发生什么变化？这背后藏着什么数学原理？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200400"/>
            <a:ext cx="4889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河道长度变短了。这是“两点之间，线段最短”的经典应用，能有效缩短航运距离，节约时间与成本。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595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68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九曲桥：享受过程的美学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4384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公园里的桥为何要设计成曲折迂回的样式，而不直接建一座笔直的桥呢？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200400"/>
            <a:ext cx="4889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为了增加游人行走的路程，从而延长赏景时间，让人们能更好地欣赏湖面风光。这是对“两点之间，线段最短”的巧妙反向运用。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150" b="150"/>
          <a:stretch>
            <a:fillRect/>
          </a:stretch>
        </p:blipFill>
        <p:spPr>
          <a:xfrm rot="0" flipH="false" flipV="false">
            <a:off x="762000" y="4445000"/>
            <a:ext cx="3556000" cy="1981200"/>
          </a:xfrm>
          <a:prstGeom prst="rect">
            <a:avLst/>
          </a:prstGeom>
          <a:noFill/>
          <a:ln w="254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38100" blurRad="1016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4508500" y="4445000"/>
            <a:ext cx="6921500" cy="19812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635500"/>
            <a:ext cx="654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发现生活中的数学逻辑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5054600"/>
            <a:ext cx="6540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同一个数学原理，在不同场景下有着截然不同的应用：为了效率，我们追求“最短路径”；为了体验，我们创造“最美路径”。数学不仅是课本上的公式，更是解决实际问题、创造美好生活的思维钥匙。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今天的收获与作业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495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641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01800" y="2603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238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认识基本元素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清晰区分直线、射线、线段的定义，掌握其规范的几何表示方法。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40386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理解几何公理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深刻领会“两点确定一条直线”及“两点之间，线段最短”的核心事实。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889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掌握作图技能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学会用度量法与叠合法比较线段长短，并能完成基础的尺规作图。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286000"/>
            <a:ext cx="495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641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08800" y="2603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323850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P.128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页 习题6.2 第1、2、3题。请认真书写，规范作图，保留作图痕迹。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822" flipH="false" flipV="false">
            <a:off x="6477009" y="4438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463550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如果同一平面内有三个点，经过其中任意两点画直线，最多能画出几条？最少呢？试着画图找出答案。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615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4CAF5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探索几何之美，从每一个线条开始 ——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{"Label":"1","ContentProducer":"001191110102MACQD9K64010000","ProduceID":"7662421271099001809","ReservedCode1":"","ContentPropagator":"","PropagateID":"","ReservedCode2":""}</vt:lpwstr>
  </property>
</Properties>
</file>