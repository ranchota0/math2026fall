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（微笑，声音亲切）“同学们好！今天我们要一起开启一个非常重要的数学新篇章——第五章，一元一次方程。听起来可能有点陌生，但别担心，这节课结束后，你会发现它是一个超级强大的解题工具！让我们一起出发吧！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这节课我们有四个小目标。大家看，理解概念、学会列方程、掌握方程的解、认识一元一次方程。这些都是我们未来学习解方程的基础，非常关键哦！大家有没有信心全部掌握？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这幅图，想象一下这个登山场景。甲队在后面，但速度快；乙队在前面，但速度慢。甲队什么时候能追上乙队呢？大家可以先动笔算一算，用我们以前学的方法。是不是感觉有点复杂？没关系，今天我们就来学习一种更简单、更直接的方法来解决这类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刚才我们遇到的 1.2x + 1 = 0.8x + 3，3x = 4(x - 5) 等等，它们都有一个共同的特点，是什么呢？（引导学生回答：有未知数，还是一个等式）对啦！数学上，我们给这样的式子起了一个名字，叫做‘方程’。大家跟我一起念一遍：方程。它就像一个数学谜题，等着我们去解开未知数的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刚才列出了方程，那怎么知道x等于几呢？很简单，就是找到一个数，把它代进去，能让等号两边算出来的结果一样。比如登山队的问题，当x=5时，左边等于7，右边也等于7，说明x=5就是这个方程的解。这个能让方程左右两边相等的未知数的值，就叫做‘方程的解’。大家记住这个检验的方法，非常重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方程也有很多种，我们今天先认识最简单的一种。大家观察这几个方程，它们有什么共同点？（引导学生观察未知数的个数和次数）对，它们都只有一个未知数，而且未知数的次数都是1。这样的方程，我们叫它‘一元一次方程’。‘一元’就是一个未知数，‘一次’就是未知数的次数是1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两个例题。例1是教我们如何从一个实际问题中列出方程，关键三步：设未知数、用未知数表示其他量、根据相等关系列方程。例2是教我们如何检验一个数是不是方程的解，记住‘代入-计算-比较’三步法。大家都明白了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初学方程，大家很容易掉进一些小‘坑’里。比如，看到有等号就以为是方程，其实必须要有未知数。还有列方程时，一定要找准等量关系，这是关键。检验解的时候，计算一定要仔细。最后，记住一元一次方程的未知数不能在分母里哦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好了，理论学完了，我们来动手练一练。这里有三道题，涵盖了我们今天学习的所有知识点。请大家独立完成，稍后我们一起对答案。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一节课下来，我们学习了不少新概念。大家看这张图，这就是我们今天学习的知识体系。从方程的定义，到方程的解，再到一元一次方程，它们之间紧密相连。希望大家课后能好好消化，把这些概念都记牢。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知道吗？‘方程’这个词其实来源于我们中国古代！我们的祖先很早就开始用类似的思想解决问题了。大家可以想一想，为什么我们要学习用字母来代表未知数呢？这种方法和我们小学的算术方法比，有什么好处呢？大家可以和同桌讨论一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好了同学们，今天的课就到这里。我们一起认识了方程这个新朋友，学会了如何列方程和检验解。希望大家课后能及时复习，完成作业。下节课，我们将学习解方程的‘金钥匙’——等式的性质。下课！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jpeg" Type="http://schemas.openxmlformats.org/officeDocument/2006/relationships/image"/><Relationship Id="rId7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9.xml" Type="http://schemas.openxmlformats.org/officeDocument/2006/relationships/notesSlid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5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8.jpeg" Type="http://schemas.openxmlformats.org/officeDocument/2006/relationships/image"/><Relationship Id="rId3" Target="../media/image39.jpeg" Type="http://schemas.openxmlformats.org/officeDocument/2006/relationships/image"/><Relationship Id="rId4" Target="../notesSlides/notesSlide12.xml" Type="http://schemas.openxmlformats.org/officeDocument/2006/relationships/notesSlide"/><Relationship Id="rId5" Target="../media/image4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287000" y="508000"/>
            <a:ext cx="1524000" cy="1524000"/>
          </a:xfrm>
          <a:prstGeom prst="ellipse">
            <a:avLst/>
          </a:prstGeom>
          <a:solidFill>
            <a:srgbClr val="A7D7C5">
              <a:alpha val="20000"/>
            </a:srgbClr>
          </a:solidFill>
          <a:ln cmpd="sng" cap="flat">
            <a:solidFill>
              <a:srgbClr val="80BEA7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第五章 一元一次方程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873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5.1.1 从算式到方程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270500"/>
            <a:ext cx="76200" cy="3302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cmpd="sng" cap="flat">
            <a:solidFill>
              <a:srgbClr val="80BEA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19200" y="5270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七年级数学上册 · 人教版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0" y="5334000"/>
            <a:ext cx="1016000" cy="1016000"/>
          </a:xfrm>
          <a:prstGeom prst="ellipse">
            <a:avLst/>
          </a:prstGeom>
          <a:solidFill>
            <a:srgbClr val="FFB74D">
              <a:alpha val="15000"/>
            </a:srgbClr>
          </a:solidFill>
          <a:ln cmpd="sng" cap="flat">
            <a:solidFill>
              <a:srgbClr val="E69B2E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0" y="-1270000"/>
            <a:ext cx="3810000" cy="381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5080000"/>
            <a:ext cx="3175000" cy="3175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本节课，我们要学会什么？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95500"/>
            <a:ext cx="762000" cy="762000"/>
          </a:xfrm>
          <a:prstGeom prst="ellipse">
            <a:avLst/>
          </a:prstGeom>
          <a:solidFill>
            <a:srgbClr val="A7D7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260600"/>
            <a:ext cx="76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032000" y="1968500"/>
            <a:ext cx="3683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理解方程的概念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深入理解方程的定义，辨析它与普通算术式的本质区别，建立对“等式平衡关系”的数学认知。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159500" y="1778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13500" y="2095500"/>
            <a:ext cx="762000" cy="762000"/>
          </a:xfrm>
          <a:prstGeom prst="ellipse">
            <a:avLst/>
          </a:prstGeom>
          <a:solidFill>
            <a:srgbClr val="A7D7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13500" y="2260600"/>
            <a:ext cx="76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429500" y="1968500"/>
            <a:ext cx="3683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学会列方程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掌握从实际问题中提取等量关系的技巧，将文字语言描述转化为数学方程，建立数学建模思维。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0005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318000"/>
            <a:ext cx="762000" cy="762000"/>
          </a:xfrm>
          <a:prstGeom prst="ellipse">
            <a:avLst/>
          </a:prstGeom>
          <a:solidFill>
            <a:srgbClr val="A7D7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483100"/>
            <a:ext cx="76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032000" y="4191000"/>
            <a:ext cx="3683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掌握方程的解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理解“方程的解”的数学定义，熟练运用代入检验法，能够准确判断一个数值是否满足方程。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159500" y="40005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13500" y="4318000"/>
            <a:ext cx="762000" cy="762000"/>
          </a:xfrm>
          <a:prstGeom prst="ellipse">
            <a:avLst/>
          </a:prstGeom>
          <a:solidFill>
            <a:srgbClr val="A7D7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13500" y="4483100"/>
            <a:ext cx="76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429500" y="4191000"/>
            <a:ext cx="3683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认识一元一次方程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通过观察归纳，总结一元一次方程的标准形式与核心特征，能够快速识别并判断此类方程。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挑战一下：登山队的问题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01 情境与条件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286000"/>
            <a:ext cx="5334000" cy="952500"/>
          </a:xfrm>
          <a:prstGeom prst="roundRect">
            <a:avLst>
              <a:gd name="adj" fmla="val 0"/>
            </a:avLst>
          </a:prstGeom>
          <a:solidFill>
            <a:srgbClr val="A7D7C5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25781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2413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甲队（一号营地）：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起点距大本营 1km，速度为 1.2km/h，虽然起步晚，但速度更快。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429000"/>
            <a:ext cx="5334000" cy="952500"/>
          </a:xfrm>
          <a:prstGeom prst="roundRect">
            <a:avLst>
              <a:gd name="adj" fmla="val 0"/>
            </a:avLst>
          </a:prstGeom>
          <a:solidFill>
            <a:srgbClr val="A7D7C5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37211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460500" y="3556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乙队（二号营地）：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起点距大本营 3km，速度为 0.8km/h，虽然领先出发，但速度较慢。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572000"/>
            <a:ext cx="5334000" cy="889000"/>
          </a:xfrm>
          <a:prstGeom prst="roundRect">
            <a:avLst>
              <a:gd name="adj" fmla="val 0"/>
            </a:avLst>
          </a:prstGeom>
          <a:solidFill>
            <a:srgbClr val="A7D7C5">
              <a:alpha val="2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52500" y="47244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🤔 核心思考：</a:t>
            </a:r>
            <a:r>
              <a:rPr lang="en-US" b="fals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假设两队同时出发，同向而行，经过多少小时后，甲队能追上乙队？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651500"/>
            <a:ext cx="533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💡 试一试：用我们学过的算术方法列式算一算，你觉得计算过程方便吗？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/>
          <a:srcRect l="0" r="0" t="176" b="176"/>
          <a:stretch>
            <a:fillRect/>
          </a:stretch>
        </p:blipFill>
        <p:spPr>
          <a:xfrm rot="0" flipH="false" flipV="false">
            <a:off x="6477000" y="2032000"/>
            <a:ext cx="5207000" cy="2921000"/>
          </a:xfrm>
          <a:prstGeom prst="roundRect">
            <a:avLst>
              <a:gd name="adj" fmla="val 4347"/>
            </a:avLst>
          </a:prstGeom>
          <a:noFill/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16" id="16"/>
          <p:cNvSpPr/>
          <p:nvPr/>
        </p:nvSpPr>
        <p:spPr>
          <a:xfrm rot="0" flipH="false" flipV="false">
            <a:off x="6477000" y="5207000"/>
            <a:ext cx="520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如图所示，这是一个典型的行程追及问题。虽然两队起点不同，但由于速度差异，甲队终将追上乙队。今天我们就来学习如何用更高效的方程方法来解决它。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414000" y="-762000"/>
            <a:ext cx="2540000" cy="2540000"/>
          </a:xfrm>
          <a:prstGeom prst="ellipse">
            <a:avLst/>
          </a:prstGeom>
          <a:solidFill>
            <a:srgbClr val="A7D7C5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762000" y="5334000"/>
            <a:ext cx="2286000" cy="2286000"/>
          </a:xfrm>
          <a:prstGeom prst="ellipse">
            <a:avLst/>
          </a:prstGeom>
          <a:solidFill>
            <a:srgbClr val="A7D7C5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新朋友登场：方程 (Equation)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10668000" cy="18415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12700" cmpd="sng" cap="flat">
            <a:solidFill>
              <a:srgbClr val="A7D7C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7145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447264"/>
                </a:solidFill>
                <a:latin typeface="Noto Sans SC"/>
                <a:ea typeface="Noto Sans SC"/>
                <a:cs typeface="Noto Sans SC"/>
                <a:sym typeface="Noto Sans SC"/>
              </a:rPr>
              <a:t>🔍 回顾登山追及问题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设 x 小时后甲队追上乙队，根据“路程=速度×时间”，当两队相遇时位置相同，即路程相等：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marL="0" indent="0">
              <a:lnSpc>
                <a:spcPct val="116666"/>
              </a:lnSpc>
            </a:pPr>
            <a:r>
              <a:rPr lang="en-US" b="true" i="false" strike="noStrike" u="none" sz="18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1.2x + 1 = 0.8x + 3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556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A7D7C5">
              <a:alpha val="10000"/>
            </a:srgbClr>
          </a:solidFill>
          <a:ln w="12700" cmpd="sng" cap="flat">
            <a:solidFill>
              <a:srgbClr val="A7D7C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6830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447264"/>
                </a:solidFill>
                <a:latin typeface="Noto Sans SC"/>
                <a:ea typeface="Noto Sans SC"/>
                <a:cs typeface="Noto Sans SC"/>
                <a:sym typeface="Noto Sans SC"/>
              </a:rPr>
              <a:t>🛍️ 购物中的“价格平衡”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买3个大水杯的钱 = 买4个小水杯的钱，大杯单价比小杯贵5元。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设大水杯单价为 x 元，可得：</a:t>
            </a:r>
            <a:r>
              <a:rPr lang="en-US" b="true" i="false" strike="noStrike" u="none" sz="1300">
                <a:solidFill>
                  <a:srgbClr val="E76F51"/>
                </a:solidFill>
                <a:latin typeface="Noto Sans SC"/>
                <a:ea typeface="Noto Sans SC"/>
                <a:cs typeface="Noto Sans SC"/>
                <a:sym typeface="Noto Sans SC"/>
              </a:rPr>
              <a:t>3x = 4(x - 5)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3556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A7D7C5">
              <a:alpha val="10000"/>
            </a:srgbClr>
          </a:solidFill>
          <a:ln w="12700" cmpd="sng" cap="flat">
            <a:solidFill>
              <a:srgbClr val="A7D7C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13500" y="36830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447264"/>
                </a:solidFill>
                <a:latin typeface="Noto Sans SC"/>
                <a:ea typeface="Noto Sans SC"/>
                <a:cs typeface="Noto Sans SC"/>
                <a:sym typeface="Noto Sans SC"/>
              </a:rPr>
              <a:t>📐 图形中的“面积谜题”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纪念币长与宽比为 8:5，总面积 4000 mm²。设长为 x mm，可得：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宽为 (5/8)x，因此：</a:t>
            </a:r>
            <a:r>
              <a:rPr lang="en-US" b="true" i="false" strike="noStrike" u="none" sz="1300">
                <a:solidFill>
                  <a:srgbClr val="E76F51"/>
                </a:solidFill>
                <a:latin typeface="Noto Sans SC"/>
                <a:ea typeface="Noto Sans SC"/>
                <a:cs typeface="Noto Sans SC"/>
                <a:sym typeface="Noto Sans SC"/>
              </a:rPr>
              <a:t>x · (5/8)x = 4000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207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7A9A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5397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核心定义：像这样，</a:t>
            </a: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含有未知数的等式</a:t>
            </a: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，就叫作</a:t>
            </a: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方程</a:t>
            </a: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！它是连接已知与未知的桥梁。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解开谜题：什么是方程的解？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875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cmpd="sng" cap="flat">
            <a:solidFill>
              <a:srgbClr val="80BEA7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066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841500" y="1714500"/>
            <a:ext cx="9271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登山问题实例演算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方程：1.2x + 1 = 0.8x + 3，当</a:t>
            </a:r>
            <a:r>
              <a:rPr lang="en-US" b="true" i="false" strike="noStrike" u="none" sz="14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x = 5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时：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左边 = 1.2×5 + 1 = 7，右边 = 0.8×5 + 3 = 7 →</a:t>
            </a:r>
            <a:r>
              <a:rPr lang="en-US" b="true" i="false" strike="noStrike" u="none" sz="14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左边 = 右边！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（此值即为方程的解）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302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A7D7C5">
              <a:alpha val="20000"/>
            </a:srgbClr>
          </a:solidFill>
          <a:ln w="12700" cmpd="sng" cap="flat">
            <a:solidFill>
              <a:srgbClr val="A7D7C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3429000"/>
            <a:ext cx="495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01 方程的解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使方程左右两边相等的未知数的值，是方程运算后得到的最终“答案”，通常用 x = a 的形式表示。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3302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A7D7C5">
              <a:alpha val="20000"/>
            </a:srgbClr>
          </a:solidFill>
          <a:ln w="12700" cmpd="sng" cap="flat">
            <a:solidFill>
              <a:srgbClr val="A7D7C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13500" y="3429000"/>
            <a:ext cx="495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02 解方程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求方程的解的过程，是从方程出发，通过一系列代数运算和变形，寻找未知数具体值的操作过程。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7625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4953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33500" y="4953000"/>
            <a:ext cx="273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STEP 01 代入左边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52500" y="53975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将未知数的候选值代入方程左侧，严格遵循“先乘除后加减”的运算顺序，计算出结果。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81500" y="47625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572000" y="4953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953000" y="4953000"/>
            <a:ext cx="273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STEP 02 计算右边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72000" y="53975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用同一个候选值代入方程右侧，重复计算步骤。注意运算细节，避免因粗心导致的计算错误。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01000" y="47625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191500" y="4953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572500" y="4953000"/>
            <a:ext cx="273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STEP 03 对比判断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91500" y="53975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比较两边结果：若数值完全相等，则该值是方程的解；若不相等，则说明该值不是方程的解。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414000" y="-762000"/>
            <a:ext cx="2794000" cy="2794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334000"/>
            <a:ext cx="2286000" cy="2286000"/>
          </a:xfrm>
          <a:prstGeom prst="ellipse">
            <a:avLst/>
          </a:prstGeom>
          <a:solidFill>
            <a:srgbClr val="F7A9A8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方程家族的一员：一元一次方程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12700" cmpd="sng" cap="flat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803400"/>
            <a:ext cx="10160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52816F"/>
                </a:solidFill>
                <a:latin typeface="Noto Sans SC"/>
                <a:ea typeface="Noto Sans SC"/>
                <a:cs typeface="Noto Sans SC"/>
                <a:sym typeface="Noto Sans SC"/>
              </a:rPr>
              <a:t>01 观察思考：</a:t>
            </a:r>
            <a:r>
              <a:rPr lang="en-US" b="false" i="false" strike="noStrike" u="none" sz="15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请观察下列方程，尝试找出它们在结构上的共同特征。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① 1.2x + 1 = 0.8x + 3    ② 3x = 4(x - 5)    ③ 0.52x - (1 - 0.52)x = 80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33782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3365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33401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一元：单一未知数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3810000"/>
            <a:ext cx="29972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方程中只含有</a:t>
            </a:r>
            <a:r>
              <a:rPr lang="en-US" b="tru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1个</a:t>
            </a: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未知数（通常用x、y等表示），没有其他不同的未知字母。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94200" y="3175000"/>
            <a:ext cx="33782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84700" y="3365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965700" y="33401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一次：最高次数为1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84700" y="3810000"/>
            <a:ext cx="29972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含有未知数的项的最高次数是</a:t>
            </a:r>
            <a:r>
              <a:rPr lang="en-US" b="tru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，方程中不会出现x²、x³等高于一次的项。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26400" y="3175000"/>
            <a:ext cx="34036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16900" y="33655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597900" y="33401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整式：分母无未知数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16900" y="3810000"/>
            <a:ext cx="29972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方程的两边都是整式，即分母中不含有未知数，这是它区别于分式方程的关键。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953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7A9A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1054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📝 核心定义总结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只含有</a:t>
            </a:r>
            <a:r>
              <a:rPr lang="en-US" b="tru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一个未知数</a:t>
            </a: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（元），且未知数的次数都是</a:t>
            </a:r>
            <a:r>
              <a:rPr lang="en-US" b="tru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，等号两边都是</a:t>
            </a:r>
            <a:r>
              <a:rPr lang="en-US" b="tru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整式</a:t>
            </a: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的方程，叫做</a:t>
            </a:r>
            <a:r>
              <a:rPr lang="en-US" b="tru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一元一次方程</a:t>
            </a: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。它是代数中最基础的方程形式，也是解决实际问题的重要数学模型。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学以致用：例题精讲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70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304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190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01 实际问题：列方程求解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167" flipH="false" flipV="false">
            <a:off x="1016008" y="2406650"/>
            <a:ext cx="476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603500"/>
            <a:ext cx="4762500" cy="889000"/>
          </a:xfrm>
          <a:prstGeom prst="roundRect">
            <a:avLst>
              <a:gd name="adj" fmla="val 0"/>
            </a:avLst>
          </a:prstGeom>
          <a:solidFill>
            <a:srgbClr val="A7D7C5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2730500"/>
            <a:ext cx="4508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问题：某校女生占全体学生数的 52%，比男生多 80 人，这所学校有多少名学生？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683000"/>
            <a:ext cx="476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01 设元：</a:t>
            </a: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设全校总人数为未知数</a:t>
            </a:r>
            <a:r>
              <a:rPr lang="en-US" b="tru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x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191000"/>
            <a:ext cx="476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02 表示：</a:t>
            </a: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女生人数 0.52x，男生人数 0.48x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699000"/>
            <a:ext cx="476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03 关系：</a:t>
            </a: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女生人数 - 男生人数 = 80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270500"/>
            <a:ext cx="4762500" cy="584200"/>
          </a:xfrm>
          <a:prstGeom prst="roundRect">
            <a:avLst>
              <a:gd name="adj" fmla="val 0"/>
            </a:avLst>
          </a:prstGeom>
          <a:solidFill>
            <a:srgbClr val="343A4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143000" y="5359400"/>
            <a:ext cx="4508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04 方程：0.52x - 0.48x = 80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86500" y="1651000"/>
            <a:ext cx="5270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540500" y="19304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85000" y="190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核心技能：检验方程的解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9167" flipH="false" flipV="false">
            <a:off x="6540508" y="2406650"/>
            <a:ext cx="476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540500" y="2603500"/>
            <a:ext cx="476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任务：判断</a:t>
            </a:r>
            <a:r>
              <a:rPr lang="en-US" b="tru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x=10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b="tru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x=20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是否是方程 3x = 4(x-5) 的解。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540500" y="3302000"/>
            <a:ext cx="4762500" cy="1079500"/>
          </a:xfrm>
          <a:prstGeom prst="roundRect">
            <a:avLst>
              <a:gd name="adj" fmla="val 0"/>
            </a:avLst>
          </a:prstGeom>
          <a:solidFill>
            <a:srgbClr val="EF4444">
              <a:alpha val="6000"/>
            </a:srgbClr>
          </a:solidFill>
          <a:ln w="12700" cmpd="sng" cap="flat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67500" y="3403600"/>
            <a:ext cx="4508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当 x = 10 时：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左边 = 3×10 = 30，右边 = 4×(10-5) = 20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∵ 30 ≠ 20 ∴ x=10 不是方程的解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540500" y="4699000"/>
            <a:ext cx="47625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6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667500" y="4800600"/>
            <a:ext cx="4508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当 x = 20 时：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左边 = 3×20 = 60，右边 = 4×(20-5) = 60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∵ 60 = 60 ∴ x=20 是方程的解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温馨提示：这些“坑”要避开！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32000"/>
            <a:ext cx="76200" cy="304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19200" y="20066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01 混淆“等式”与“方程”的概念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540000"/>
            <a:ext cx="47625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等式是含“=”的式子（如2+3=5）；方程必须是含</a:t>
            </a:r>
            <a:r>
              <a:rPr lang="en-US" b="tru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未知数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的等式。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结论：所有方程都是等式，但等式不一定是方程，切勿画等号。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159500" y="1778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13500" y="2032000"/>
            <a:ext cx="76200" cy="304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16700" y="20066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02 列方程时找不准等量关系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13500" y="2540000"/>
            <a:ext cx="47625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对策：抓住“共、比…多/少、是…的几倍、剩余”等关键词。梳理已知量与未知量的内在联系，锁定题目中不变的相等关系，是列对方程的关键。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191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445000"/>
            <a:ext cx="76200" cy="304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219200" y="44196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03 检验方程解时粗心算错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953000"/>
            <a:ext cx="47625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代入数值时需特别警惕</a:t>
            </a:r>
            <a:r>
              <a:rPr lang="en-US" b="tru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负数符号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b="tru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分数通分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的陷阱。养成“一步一查”的验算习惯，将解代回原方程重新推演，避免因计算失误导致结果偏差。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159500" y="4191000"/>
            <a:ext cx="5270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13500" y="4445000"/>
            <a:ext cx="76200" cy="304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16700" y="44196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04 忽略“整式”要求判断失误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13500" y="4953000"/>
            <a:ext cx="47625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易错点：误判分母含未知数的式子（如1/x + 2 = 3）。牢记定义：一元一次方程要求等号两边均为整式，分母中含有未知数的方程属于分式方程。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0" y="-1016000"/>
            <a:ext cx="3175000" cy="3175000"/>
          </a:xfrm>
          <a:prstGeom prst="ellipse">
            <a:avLst/>
          </a:prstGeom>
          <a:solidFill>
            <a:srgbClr val="A7D7C5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A7D7C5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小试牛刀：课堂练习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3378200" cy="762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955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73200" y="2095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01 概念辨析 · 判断题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5211" flipH="false" flipV="false">
            <a:off x="10160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2730500"/>
            <a:ext cx="28702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判断下列等式所属类型：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① 2+3=3+2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→ 是等式，</a:t>
            </a:r>
            <a:r>
              <a:rPr lang="en-US" b="true" i="false" strike="noStrike" u="none" sz="13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非方程</a:t>
            </a: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（无未知数）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② 8y-9=9-y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→ 是方程，且为</a:t>
            </a:r>
            <a:r>
              <a:rPr lang="en-US" b="true" i="false" strike="noStrike" u="none" sz="13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一元一次方程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③ x²+2x+1=4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→ 是方程，</a:t>
            </a:r>
            <a:r>
              <a:rPr lang="en-US" b="true" i="false" strike="noStrike" u="none" sz="13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非一元一次</a:t>
            </a: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（次数为2）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069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06900" y="1778000"/>
            <a:ext cx="3378200" cy="762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60900" y="20955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118100" y="2095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02 解的检验 · 代入法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5211" flipH="false" flipV="false">
            <a:off x="46609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660900" y="2730500"/>
            <a:ext cx="28702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检验 x=2 和 x=4 是否为方程 2x-3=5 的解：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当 x=2 时，左边=2×2-3=1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左边≠右边 →</a:t>
            </a:r>
            <a:r>
              <a:rPr lang="en-US" b="true" i="false" strike="noStrike" u="none" sz="1300">
                <a:solidFill>
                  <a:srgbClr val="DC3545"/>
                </a:solidFill>
                <a:latin typeface="Noto Sans SC"/>
                <a:ea typeface="Noto Sans SC"/>
                <a:cs typeface="Noto Sans SC"/>
                <a:sym typeface="Noto Sans SC"/>
              </a:rPr>
              <a:t>不是解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当 x=4 时，左边=2×4-3=5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左边=右边 →</a:t>
            </a:r>
            <a:r>
              <a:rPr lang="en-US" b="true" i="false" strike="noStrike" u="none" sz="1300">
                <a:solidFill>
                  <a:srgbClr val="28A745"/>
                </a:solidFill>
                <a:latin typeface="Noto Sans SC"/>
                <a:ea typeface="Noto Sans SC"/>
                <a:cs typeface="Noto Sans SC"/>
                <a:sym typeface="Noto Sans SC"/>
              </a:rPr>
              <a:t>是解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518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51800" y="1778000"/>
            <a:ext cx="3378200" cy="762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05800" y="2095500"/>
            <a:ext cx="355600" cy="355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763000" y="20955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03 实际应用 · 列方程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5211" flipH="false" flipV="false">
            <a:off x="83058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9ECE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8305800" y="2730500"/>
            <a:ext cx="2870200" cy="241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甲1.4元/支，乙1.8元/支，共买15支花23元，各买多少？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解：设买甲种铅笔 x 支，则乙种为 (15-x) 支。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根据“总价=单价×数量”列方程：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300">
                <a:solidFill>
                  <a:srgbClr val="6CA891"/>
                </a:solidFill>
                <a:latin typeface="Noto Sans SC"/>
                <a:ea typeface="Noto Sans SC"/>
                <a:cs typeface="Noto Sans SC"/>
                <a:sym typeface="Noto Sans SC"/>
              </a:rPr>
              <a:t>1.4x + 1.8(15-x) = 23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588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57912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460500" y="5740400"/>
            <a:ext cx="9779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核心思路：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解决此类问题的关键在于识别“未知数”与“等量关系”，将实际问题中的语言转化为数学符号语言，构建方程模型是解题的第一步。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0" y="-635000"/>
            <a:ext cx="2540000" cy="254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508000" y="5334000"/>
            <a:ext cx="1905000" cy="1905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本节课知识小结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349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23495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核心概念：方程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5211" flipH="false" flipV="false">
            <a:off x="10160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3175000"/>
            <a:ext cx="28702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【定义】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含有未知数的等式，是表达两个数学式相等关系的数学模型。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【三要素】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必须同时具备：已知数、未知数、等号，三者缺一不可。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942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942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48200" y="2349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156200" y="23495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02 关键概念辨析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5211" flipH="false" flipV="false">
            <a:off x="46482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648200" y="3175000"/>
            <a:ext cx="28702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方程的解：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使方程左右两边相等的未知数的值（强调“结果”）。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解方程：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求方程解的过程（强调“动作”）。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检验法：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代入原方程 → 计算两边值 → 比较是否相等。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264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264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A7D7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80400" y="23495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788400" y="23495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03 典型：一元一次方程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5211" flipH="false" flipV="false">
            <a:off x="82804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8280400" y="3175000"/>
            <a:ext cx="28702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【三大特征】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①只含有一个未知数；②未知数的次数为1；③等式两边都是整式。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A7D7C5"/>
                </a:solidFill>
                <a:latin typeface="Noto Sans SC"/>
                <a:ea typeface="Noto Sans SC"/>
                <a:cs typeface="Noto Sans SC"/>
                <a:sym typeface="Noto Sans SC"/>
              </a:rPr>
              <a:t>【核心地位】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是最简单的整式方程，也是学习二元一次方程组等复杂方程的基础。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867400"/>
            <a:ext cx="10642600" cy="584200"/>
          </a:xfrm>
          <a:prstGeom prst="roundRect">
            <a:avLst>
              <a:gd name="adj" fmla="val 0"/>
            </a:avLst>
          </a:prstGeom>
          <a:solidFill>
            <a:srgbClr val="A7D7C5">
              <a:alpha val="1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52500" y="5994400"/>
            <a:ext cx="1028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5C7269"/>
                </a:solidFill>
                <a:latin typeface="Noto Sans SC"/>
                <a:ea typeface="Noto Sans SC"/>
                <a:cs typeface="Noto Sans SC"/>
                <a:sym typeface="Noto Sans SC"/>
              </a:rPr>
              <a:t>💡 课堂贴士：</a:t>
            </a:r>
            <a:r>
              <a:rPr lang="en-US" b="false" i="false" strike="noStrike" u="none" sz="1400">
                <a:solidFill>
                  <a:srgbClr val="5C7269"/>
                </a:solidFill>
                <a:latin typeface="Noto Sans SC"/>
                <a:ea typeface="Noto Sans SC"/>
                <a:cs typeface="Noto Sans SC"/>
                <a:sym typeface="Noto Sans SC"/>
              </a:rPr>
              <a:t>理解概念是解题的前提，要特别注意区分“方程的解”（结果）与“解方程”（过程）的本质不同。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4445000"/>
            <a:ext cx="3810000" cy="381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-1016000"/>
            <a:ext cx="2540000" cy="2540000"/>
          </a:xfrm>
          <a:prstGeom prst="ellipse">
            <a:avLst/>
          </a:prstGeom>
          <a:solidFill>
            <a:srgbClr val="A7D7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拓展思考：古人的智慧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801" r="801" t="0" b="0"/>
          <a:stretch>
            <a:fillRect/>
          </a:stretch>
        </p:blipFill>
        <p:spPr>
          <a:xfrm rot="0" flipH="false" flipV="false">
            <a:off x="762000" y="1778000"/>
            <a:ext cx="4318000" cy="2921000"/>
          </a:xfrm>
          <a:prstGeom prst="roundRect">
            <a:avLst>
              <a:gd name="adj" fmla="val 5217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50165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《九章算术》是中国古代第一部数学专著，它的出现标志着中国古代数学形成了完整的体系，对后世东方数学的发展产生了深远影响。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88000" y="1778000"/>
            <a:ext cx="5842000" cy="2286000"/>
          </a:xfrm>
          <a:prstGeom prst="roundRect">
            <a:avLst>
              <a:gd name="adj" fmla="val 0"/>
            </a:avLst>
          </a:prstGeom>
          <a:solidFill>
            <a:srgbClr val="A7D7C5">
              <a:alpha val="10000"/>
            </a:srgbClr>
          </a:solidFill>
          <a:ln w="12700" cmpd="sng" cap="flat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16600" y="2006600"/>
            <a:ext cx="279400" cy="279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223000" y="19685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数学溯源：从“天元”到“方程”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816600" y="2438400"/>
            <a:ext cx="53848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 早在《九章算术》中就设有“方程”章，记载了世界上最早的线性方程组解法。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 清代数学家李善兰将 "equation" 首次译为“方程”，赋予了其现代数学含义。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• 古人用“天元”代表未知数，而我们现在通用的 x, y, z 符号则由法国数学家笛卡儿所创。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588000" y="4318000"/>
            <a:ext cx="5842000" cy="1905000"/>
          </a:xfrm>
          <a:prstGeom prst="roundRect">
            <a:avLst>
              <a:gd name="adj" fmla="val 0"/>
            </a:avLst>
          </a:prstGeom>
          <a:solidFill>
            <a:srgbClr val="A7D7C5">
              <a:alpha val="10000"/>
            </a:srgbClr>
          </a:solidFill>
          <a:ln w="12700" cmpd="sng" cap="flat">
            <a:solidFill>
              <a:srgbClr val="A7D7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816600" y="4546600"/>
            <a:ext cx="279400" cy="279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223000" y="45085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深度思辨：算术与方程的跨越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816600" y="4978400"/>
            <a:ext cx="53848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为什么我们需要用字母来表示未知数？对比算术方法，方程方法在解决实际问题时有哪些独特的优势？你认为这是数学思维的一种进步吗？请结合生活中的例子谈谈你的看法。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01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课堂总结与作业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159000"/>
            <a:ext cx="5080000" cy="2667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12700" cmpd="sng" cap="flat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2413000"/>
            <a:ext cx="457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3836F"/>
                </a:solidFill>
                <a:latin typeface="Noto Sans SC"/>
                <a:ea typeface="Noto Sans SC"/>
                <a:cs typeface="Noto Sans SC"/>
                <a:sym typeface="Noto Sans SC"/>
              </a:rPr>
              <a:t>📝 本节课重点回顾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984500"/>
            <a:ext cx="457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一个核心：</a:t>
            </a:r>
            <a:r>
              <a:rPr lang="en-US" b="fals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理解方程的本质是“含未知数的等式”，建立寻找等量关系的数学思维。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3683000"/>
            <a:ext cx="457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两种技能：</a:t>
            </a:r>
            <a:r>
              <a:rPr lang="en-US" b="fals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能根据实际情境准确列出方程，并掌握检验方程解的方法。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4381500"/>
            <a:ext cx="457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一个定义：</a:t>
            </a:r>
            <a:r>
              <a:rPr lang="en-US" b="fals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牢记一元一次方程的特征——只含一个未知数，且未知数的次数为1。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2159000"/>
            <a:ext cx="5080000" cy="2667000"/>
          </a:xfrm>
          <a:prstGeom prst="roundRect">
            <a:avLst>
              <a:gd name="adj" fmla="val 0"/>
            </a:avLst>
          </a:prstGeom>
          <a:solidFill>
            <a:srgbClr val="A7D7C5">
              <a:alpha val="15000"/>
            </a:srgbClr>
          </a:solidFill>
          <a:ln w="12700" cmpd="sng" cap="flat">
            <a:solidFill>
              <a:srgbClr val="A7D7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604000" y="2413000"/>
            <a:ext cx="457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3836F"/>
                </a:solidFill>
                <a:latin typeface="Noto Sans SC"/>
                <a:ea typeface="Noto Sans SC"/>
                <a:cs typeface="Noto Sans SC"/>
                <a:sym typeface="Noto Sans SC"/>
              </a:rPr>
              <a:t>📚 今日课后任务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2984500"/>
            <a:ext cx="4572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复习巩固：</a:t>
            </a:r>
            <a:r>
              <a:rPr lang="en-US" b="fals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整理课堂笔记，在脑海中梳理方程概念的关键点。</a:t>
            </a:r>
            <a:r>
              <a:rPr lang="en-US" b="fals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习题演练：</a:t>
            </a:r>
            <a:r>
              <a:rPr lang="en-US" b="fals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独立完成教材 P113-P114 的练习题，书写规范。</a:t>
            </a:r>
            <a:r>
              <a:rPr lang="en-US" b="fals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预习探索：</a:t>
            </a:r>
            <a:r>
              <a:rPr lang="en-US" b="fals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阅读下一节，思考“如何让天平保持平衡？”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5397500"/>
            <a:ext cx="571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true" strike="noStrike" u="none" sz="15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✨ “数学是思维的体操，每一个方程背后都藏着一个待解的谜题。带着好奇心去探索，你会发现数学的乐趣！”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398000" y="5207000"/>
            <a:ext cx="2032000" cy="1143000"/>
          </a:xfrm>
          <a:prstGeom prst="roundRect">
            <a:avLst>
              <a:gd name="adj" fmla="val 16666"/>
            </a:avLst>
          </a:prstGeom>
          <a:noFill/>
          <a:ln w="25400" cmpd="sng" cap="flat">
            <a:solidFill>
              <a:srgbClr val="FFFFFF">
                <a:alpha val="60000"/>
              </a:srgbClr>
            </a:solidFill>
            <a:prstDash val="solid"/>
            <a:round/>
          </a:ln>
          <a:effectLst>
            <a:outerShdw dir="2700000" dist="63500" blurRad="127000" algn="tl" rotWithShape="false">
              <a:srgbClr val="A7D7C5">
                <a:alpha val="30000"/>
              </a:srgbClr>
            </a:outerShdw>
          </a:effectLst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{"Label":"1","ContentProducer":"001191110102MACQD9K64010000","ProduceID":"7662420005275339716","ReservedCode1":"","ContentPropagator":"","PropagateID":"","ReservedCode2":""}</vt:lpwstr>
  </property>
</Properties>
</file>