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同学们好！今天我们将一起走进一个新的数学世界——代数式。它就像数学的魔法语言，能帮助我们更简洁、更通用地描述生活中的各种数量关系。准备好了吗？让我们一起开启今天的学习之旅！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的目标非常明确。首先，我们要认识新朋友——代数式。然后，要学会如何规范地书写它，这非常重要，就像写汉字要笔顺正确一样。最重要的是，我们要学会用这个新朋友去解决生活中的实际问题。希望通过这节课，大家能感受到数学语言的简洁与魅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，这是现代农业中非常酷的苹果采摘机器人。它工作效率很高，每秒能识别5平方米的苹果。那大家快速口算一下，它工作10秒、60秒分别能识别多大范围？（引导学生回答：5×10=50，5×60=300）。很好！那如果我想问它工作任意时间，比如t秒呢？我们还能一个一个去算吗？这时候，我们就需要一种更强大的数学工具来表示这个关系，这就是我们今天要学习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，从具体的10秒、60秒，到用字母t表示任意时间，我们得到了5t。这个小小的t就代表了所有可能的时间，是不是很强大？这种含有字母的式子，就是代数式。它让我们的表达从解决一个具体问题，推广到了解决一类问题。大家注意书写规范，数字要写在字母前面，乘号可以省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书写代数式就像写作文要讲究格式一样，有一些约定俗成的规矩。大家看这几点，尤其是乘号的省略和数字在前，这是最常用的规则。除法写成分数线形式，能让式子看起来更清晰。这些规范能帮助我们更好地交流数学思想，大家一定要记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我们来看几个简单的例子。列代数式的关键是把文字语言翻译成数学语言。大家注意看第(2)题，“和的2倍”，我们需要先求和，再乘以2，所以必须加上括号。这体现了运算顺序的重要性。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大家发现了吗？同一个代数式 0.9p，在不同的情境下可以表示不同的含义。在第(1)题里它是苹果的售价，在第(2)题里它又成了长方形的面积。这就是代数式的魅力所在，它具有高度的概括性。第(3)题中，“比...少...”的结构，要注意是先倍数关系，再加减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列代数式时，有些地方特别容易出错。大家看这几个例子。第一，运算顺序，尤其是涉及到“和的平方”、“差的积”这类问题，一定要记得加括号。第二，要区分“a的2倍与b的和”和“a与b的和的2倍”，一字之差，结果完全不同。最后，别忘了单位，这是解决实际问题的好习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好了，理论和例子都讲完了，现在轮到大家动手了。请同学们快速完成这几道练习题，检验一下自己的掌握情况。做完的同学可以和同桌互相检查一下。（预留3-5分钟时间，然后公布答案并讲解）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节课下来，我们来梳理一下今天学到的知识。我们认识了代数式这个新朋友，学会了如何根据题意列出代数式，也知道了如何规范地书写它。这些知识点就像一颗颗珍珠，串起了我们今天的学习内容。希望大家课后能好好消化，让这些知识真正成为自己的东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再来看一个有趣的问题。造雪总量是固定的，每天造得越多，完工得就越快。这种一个量增大，另一个量反而减小，但它们的乘积不变的关系，就是我们以后会深入学习的反比例关系。它在生活中也很常见，比如路程一定时，速度和时间就成反比例。大家可以想一想，还有哪些成反比例关系的例子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课就到这里。我们一起学习了代数式，它是解决更复杂数学问题的基础。希望大家课后认真完成作业，并积极思考那个编故事的题目，尝试用数学的眼光去发现生活中的问题。下节课我们将学习如何给代数式中的字母赋值，计算出具体的结果。同学们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9.svg" Type="http://schemas.openxmlformats.org/officeDocument/2006/relationships/image"/><Relationship Id="rId11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32.jpeg" Type="http://schemas.openxmlformats.org/officeDocument/2006/relationships/image"/><Relationship Id="rId4" Target="../media/image33.jpe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0.jpe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3.jpe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9.png" Type="http://schemas.openxmlformats.org/officeDocument/2006/relationships/image"/><Relationship Id="rId2" Target="../media/image44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541000" y="-635000"/>
            <a:ext cx="1778000" cy="1778000"/>
          </a:xfrm>
          <a:prstGeom prst="ellipse">
            <a:avLst/>
          </a:prstGeom>
          <a:solidFill>
            <a:srgbClr val="4ADE80">
              <a:alpha val="18000"/>
            </a:srgbClr>
          </a:solidFill>
          <a:ln cmpd="sng" cap="flat">
            <a:solidFill>
              <a:srgbClr val="2EC565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889000" y="5207000"/>
            <a:ext cx="2286000" cy="2286000"/>
          </a:xfrm>
          <a:prstGeom prst="ellipse">
            <a:avLst/>
          </a:prstGeom>
          <a:solidFill>
            <a:srgbClr val="4ADE80">
              <a:alpha val="18000"/>
            </a:srgbClr>
          </a:solidFill>
          <a:ln cmpd="sng" cap="flat">
            <a:solidFill>
              <a:srgbClr val="2EC565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2413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第三章 代数式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207000" y="4127500"/>
            <a:ext cx="1778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cmpd="sng" cap="flat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46355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2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3.1 列代数式表示数量关系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87500" y="2057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理解代数式的概念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035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理解代数式的核心定义，明确其由数、字母和运算符号组成的基本特征，建立对代数语言的直观认知，为后续深入学习打下坚实基础。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048500" y="2057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掌握规范书写规则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6035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熟练掌握代数式的书写规范，包括乘号的省略、除号的转化、带分数与假分数的使用等细节，规避书写错误，养成严谨的数学表达习惯。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87500" y="4406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学会表达数量关系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9530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能够将生活中的实际问题抽象为数学模型，准确地用代数式表示其中的数量关系和变化规律，实现从具体情境到抽象数学语言的转化。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381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48500" y="4406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体会抽象与简洁之美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9530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感悟从具体数字运算到用字母表示数的抽象过程，深刻体会代数式在表达复杂数量关系时的简洁性与通用性，感受数学语言的独特魅力。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智慧农业中的数学问题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3629" r="3629" t="0" b="0"/>
          <a:stretch>
            <a:fillRect/>
          </a:stretch>
        </p:blipFill>
        <p:spPr>
          <a:xfrm rot="0" flipH="false" flipV="false">
            <a:off x="762000" y="1778000"/>
            <a:ext cx="4826000" cy="2667000"/>
          </a:xfrm>
          <a:prstGeom prst="roundRect">
            <a:avLst>
              <a:gd name="adj" fmla="val 5714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826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这台智能采摘机器人不仅能自动识别成熟果实，还能通过算法规划最优采摘路径。它的工作效率可以通过简单的数学公式来量化，体现了科技与数学的紧密联系。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969000" y="1778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cmpd="sng" cap="flat">
            <a:solidFill>
              <a:srgbClr val="2EC565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159500" y="1930400"/>
            <a:ext cx="520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🌱 情境聚焦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某品牌苹果采摘机器人，视觉系统反应灵敏，平均每秒可以精准识别并覆盖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5平方米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的苹果树冠范围。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969000" y="3200400"/>
            <a:ext cx="558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159500" y="3492500"/>
            <a:ext cx="279400" cy="279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578600" y="3302000"/>
            <a:ext cx="4889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基础计算：工作10秒能识别多大范围？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计算式：5 × 10 = 50（平方米），你算对了吗？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969000" y="4165600"/>
            <a:ext cx="558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159500" y="4457700"/>
            <a:ext cx="279400" cy="279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578600" y="4267200"/>
            <a:ext cx="4889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进阶思考：连续工作1分钟（60秒）呢？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计算式：5 × 60 = 300（平方米），效率真高！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969000" y="5130800"/>
            <a:ext cx="558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159500" y="54229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578600" y="5232400"/>
            <a:ext cx="4889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抽象概括：如果工作 t 秒，识别范围是多少？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用字母表示数：识别范围 = 5 × t，这就是变量关系！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从具体到一般：代数式的诞生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6764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从具体数值出发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1336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当时间为10秒：5 × 10 = 50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当时间为60秒：5 × 60 = 300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这些算式只能描述特定的、有限的情况。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524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mpd="sng" cap="flat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13500" y="16764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02 推广到任意时刻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21336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当时间为 t 秒：5 × t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用字母 t 代表“任意时间”，实现从特殊到一般的跨越！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规范写法：</a:t>
            </a: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5·t 或 5t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（数字在前，乘号可省略）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556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3708400"/>
            <a:ext cx="1028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核心定义：代数式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4165600"/>
            <a:ext cx="1028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用运算符号（加、减、乘、除、乘方等）把数或表示数的字母连接而成的式子。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例如：5t、4a、a²、2n-10、s/60 都是代数式。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20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EF3C7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5397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5397500"/>
            <a:ext cx="984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特别注意：</a:t>
            </a:r>
            <a:r>
              <a:rPr lang="en-US" b="false" i="false" strike="noStrike" u="none" sz="15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单独的一个数（如 5、0）或一个字母（如 t、a）也是代数式。这是代数式的一种特殊形式，体现了数学语言的高度概括性。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代数式的规范书写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1816100"/>
            <a:ext cx="273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乘号的规范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286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数字与字母、字母与字母相乘时，乘号“×”通常省略或写作“·”。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111500"/>
            <a:ext cx="3048000" cy="4572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187700"/>
            <a:ext cx="292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示例：a × b 写作 ab 或 a·b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1841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953000" y="1816100"/>
            <a:ext cx="273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数字务必前置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2286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当数字与字母相乘时，数字因数应写在字母因数的前面。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72000" y="3111500"/>
            <a:ext cx="3048000" cy="4572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35500" y="3187700"/>
            <a:ext cx="292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示例：x × 6 写作 6x (避免 x6)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1841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572500" y="1816100"/>
            <a:ext cx="273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除法写成分数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91500" y="2286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含有除法运算的代数式，一般不用“÷”号，而是写成分数形式。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91500" y="3111500"/>
            <a:ext cx="3048000" cy="4572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55000" y="3187700"/>
            <a:ext cx="292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示例：s ÷ t 写作 s/t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127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3180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333500" y="42926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带分数化为假分数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52500" y="4762500"/>
            <a:ext cx="488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带分数与字母相乘时，必须先把带分数化成假分数，防止被误认为是整数与分数的乘积。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52500" y="5524500"/>
            <a:ext cx="4889500" cy="4572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5600700"/>
            <a:ext cx="4762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示例：1½ × a 写作 (3/2)a (切勿写成 1½a)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159500" y="4127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43180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6731000" y="42926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相同字母写成幂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350000" y="4762500"/>
            <a:ext cx="488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当相同字母相乘时，应根据乘方的意义，写成幂的形式，使表达式更简洁。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50000" y="5524500"/>
            <a:ext cx="4889500" cy="4572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413500" y="5600700"/>
            <a:ext cx="4762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示例：a × a 写作 a²；a × a × a 写作 a³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学以致用：列代数式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65200" y="21590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基础倍分关系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2667000"/>
            <a:ext cx="2971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题目：设某数为 x，用代数式表示“比该数的2倍大1的数”。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946" flipH="false" flipV="false">
            <a:off x="965214" y="367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65200" y="3873500"/>
            <a:ext cx="2971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思路：先翻译“2倍”得到 2x，再根据“大1”进行加1运算。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4826000"/>
            <a:ext cx="2971800" cy="5588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" y="4927600"/>
            <a:ext cx="2971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2x + 1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10100" y="21590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运算顺序优先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10100" y="2667000"/>
            <a:ext cx="2971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题目：设某数为 x，用代数式表示“该数与3的和的2倍”。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946" flipH="false" flipV="false">
            <a:off x="4610114" y="367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10100" y="3873500"/>
            <a:ext cx="2971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思路：先算“和”得到 (x + 3)，再整体乘以2，括号不可省略。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10100" y="4826000"/>
            <a:ext cx="2971800" cy="5588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10100" y="4927600"/>
            <a:ext cx="2971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2(x + 3)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518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55000" y="21590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混合运算表达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0" y="2667000"/>
            <a:ext cx="2971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题目：设某数为 x，用代数式表示“该数的平方与该数2倍的和”。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4946" flipH="false" flipV="false">
            <a:off x="8255014" y="367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255000" y="3873500"/>
            <a:ext cx="2971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思路：分别表示出“平方” x² 和“2倍” 2x，最后将两者相加。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55000" y="4826000"/>
            <a:ext cx="2971800" cy="5588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55000" y="4927600"/>
            <a:ext cx="2971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x² + 2x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651500"/>
            <a:ext cx="10668000" cy="6858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mpd="sng" cap="flat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65200" y="5867400"/>
            <a:ext cx="254000" cy="254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320800" y="58039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核心技巧：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列代数式的关键在于准确捕捉“倍、和、差、积、商、平方”等关键词，严格遵循运算顺序，必要时添加括号以保证运算优先级。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解决生活中的问题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1062" b="11062"/>
          <a:stretch>
            <a:fillRect/>
          </a:stretch>
        </p:blipFill>
        <p:spPr>
          <a:xfrm rot="0" flipH="false" flipV="false">
            <a:off x="762000" y="1651000"/>
            <a:ext cx="2286000" cy="2667000"/>
          </a:xfrm>
          <a:prstGeom prst="roundRect">
            <a:avLst>
              <a:gd name="adj" fmla="val 6666"/>
            </a:avLst>
          </a:prstGeom>
          <a:noFill/>
          <a:ln w="254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16538" r="16538" t="0" b="0"/>
          <a:stretch>
            <a:fillRect/>
          </a:stretch>
        </p:blipFill>
        <p:spPr>
          <a:xfrm rot="0" flipH="false" flipV="false">
            <a:off x="762000" y="4508500"/>
            <a:ext cx="2286000" cy="1651000"/>
          </a:xfrm>
          <a:prstGeom prst="roundRect">
            <a:avLst>
              <a:gd name="adj" fmla="val 9230"/>
            </a:avLst>
          </a:prstGeom>
          <a:noFill/>
          <a:ln w="254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3683000" y="1651000"/>
            <a:ext cx="7366000" cy="1460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873500" y="1841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254500" y="1816100"/>
            <a:ext cx="660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购物优惠：苹果的售价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73500" y="2222500"/>
            <a:ext cx="698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问题：苹果原价为 p 元/千克，现按九折优惠出售，售价是多少？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解答：九折即原价的90%（0.9），因此售价为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0.9p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元/千克。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83000" y="3302000"/>
            <a:ext cx="7366000" cy="1460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873500" y="3492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254500" y="3467100"/>
            <a:ext cx="660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几何计算：长方形的面积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73500" y="3873500"/>
            <a:ext cx="698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问题：一个长方形的长是0.9米，宽是 p 米，它的面积是多少？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解答：根据面积公式“长 × 宽”，代入得面积为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0.9p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平方米。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83000" y="4953000"/>
            <a:ext cx="7366000" cy="1460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873500" y="5143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254500" y="5118100"/>
            <a:ext cx="660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产量统计：去年的产量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873500" y="5524500"/>
            <a:ext cx="698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问题：某产品前年的产量是 n 件，去年的产量比前年的2倍少10件。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解答：前年的2倍是 2n，“少10件”即减10，因此去年产量为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2n - 10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件。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小心！这些“陷阱”你注意到了吗？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27100" y="2032000"/>
            <a:ext cx="304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运算顺序的“坑”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323" flipH="false" flipV="false">
            <a:off x="9271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DE80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927100" y="27940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典型错解：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“a与b的和的平方”误写为 a² + b²，漏掉了括号。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27100" y="37465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✅ 正确写法：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(a + b)²，一定要给先算的部分加上括号！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271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927600"/>
            <a:ext cx="2870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避坑口诀：</a:t>
            </a: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遇“和差积商”先打包，括号优先，再算乘方，顺序不能乱。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2032000"/>
            <a:ext cx="304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“倍”与“和”的纠缠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323" flipH="false" flipV="false">
            <a:off x="45720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DE80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572000" y="27940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典型错解：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“a的2倍与b的和”误写为 2(a + b)，错误地给和加了倍。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37465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✅ 正确写法：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2a + b，分清“倍的和”与“和的倍”的逻辑关系。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60900" y="4927600"/>
            <a:ext cx="2870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避坑口诀：</a:t>
            </a: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抓关键词定先后：“倍的和”是先乘后加，“和的倍”是先加后乘。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518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16900" y="2032000"/>
            <a:ext cx="304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被遗忘的单位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323" flipH="false" flipV="false">
            <a:off x="82169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DE80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216900" y="27940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典型错解：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列式后忘记写单位，或和差形式未加括号直接写单位。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16900" y="37465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✅ 正确写法：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(2x + 2y) 米，若为和差，先括起来再写单位。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169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05800" y="4927600"/>
            <a:ext cx="2870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避坑口诀：</a:t>
            </a: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解决实际应用题，单位一定不能丢！加减式，加括号，再把单位写在后。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875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基础填空 · 概念巩固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4762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数量关系：每包书10册，n包书共有 ________ 册。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 年龄计算：王芳今年m岁，去年 ________ 岁，6年后 ________ 岁。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③ 几何公式：棱长为a的正方体，体积是 ________。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159500" y="15875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13500" y="1778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列式表达 · 逻辑运用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2286000"/>
            <a:ext cx="4762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文字翻译：用代数式表示“a的相反数与b的一半的差”。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 生活应用：购买2个单价为a元的面包和3瓶单价为b元的饮料，共需支付多少元？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提示：总价 = 单价 × 数量，注意各项求和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826000"/>
            <a:ext cx="10668000" cy="1524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0165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参考答案速查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539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5524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填空题：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10n；m - 1，m + 6；a³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0" y="5524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列式题：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-a - b/2；2a + 3b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本节课知识回顾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03400"/>
            <a:ext cx="495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一个核心概念 · 代数式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184400"/>
            <a:ext cx="488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由数和字母经有限次加、减、乘、除、乘方等运算所得的式子，单独的数或字母也称为代数式，是代数表达的基础。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115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11500"/>
            <a:ext cx="762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263900"/>
            <a:ext cx="495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两个关键技能 · 读写互译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644900"/>
            <a:ext cx="488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列：将文字语言描述的数量关系转化为代数式；读：将代数式还原为具体的数量关系，实现“数”与“文”的双向转化。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699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699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851400"/>
            <a:ext cx="495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三个书写规范 · 严谨表达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2324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数字因数前置，如 5a；② 乘号省略或用“·”；③ 除法运算写成分数形式，如 s/t。规范书写是避免歧义的关键。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rcRect l="19301" r="19301" t="0" b="0"/>
          <a:stretch>
            <a:fillRect/>
          </a:stretch>
        </p:blipFill>
        <p:spPr>
          <a:xfrm rot="0" flipH="false" flipV="false">
            <a:off x="6350000" y="2159000"/>
            <a:ext cx="5334000" cy="2032000"/>
          </a:xfrm>
          <a:prstGeom prst="roundRect">
            <a:avLst>
              <a:gd name="adj" fmla="val 750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7" id="17"/>
          <p:cNvSpPr/>
          <p:nvPr/>
        </p:nvSpPr>
        <p:spPr>
          <a:xfrm rot="0" flipH="false" flipV="false">
            <a:off x="6350000" y="46355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4ADE80">
              <a:alpha val="1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40500" y="4851400"/>
            <a:ext cx="279400" cy="279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21500" y="48260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学习启示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代数式是数学思维的语言，它让抽象的数量关系变得具体可感。课后不妨尝试用代数式去描述生活中的购物、行程等场景，体会数学的实用性。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深入思考：代数式与正反比例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95" r="195" t="0" b="0"/>
          <a:stretch>
            <a:fillRect/>
          </a:stretch>
        </p:blipFill>
        <p:spPr>
          <a:xfrm rot="0" flipH="false" flipV="false">
            <a:off x="762000" y="1651000"/>
            <a:ext cx="4318000" cy="2857500"/>
          </a:xfrm>
          <a:prstGeom prst="roundRect">
            <a:avLst>
              <a:gd name="adj" fmla="val 5333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826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北京冬奥会国家高山滑雪中心造雪场景观，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展现了大规模人工造雪的工程实力。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461000" y="1651000"/>
            <a:ext cx="6096000" cy="952500"/>
          </a:xfrm>
          <a:prstGeom prst="roundRect">
            <a:avLst>
              <a:gd name="adj" fmla="val 13333"/>
            </a:avLst>
          </a:prstGeom>
          <a:solidFill>
            <a:srgbClr val="4ADE80">
              <a:alpha val="12000"/>
            </a:srgbClr>
          </a:solidFill>
          <a:ln cmpd="sng" cap="flat">
            <a:solidFill>
              <a:srgbClr val="2EC565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51500" y="1778000"/>
            <a:ext cx="571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真实情境：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北京冬奥会赛场计划造雪总量为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260000 立方米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，这是一个固定不变的总量。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461000" y="2794000"/>
            <a:ext cx="2984500" cy="1206500"/>
          </a:xfrm>
          <a:prstGeom prst="roundRect">
            <a:avLst>
              <a:gd name="adj" fmla="val 10526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588000" y="2921000"/>
            <a:ext cx="2730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场景 A：日造雪 5000m³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所需天数 = 260000 ÷ 5000 =</a:t>
            </a:r>
            <a:r>
              <a:rPr lang="en-US" b="true" i="false" strike="noStrike" u="none" sz="16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52 天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572500" y="2794000"/>
            <a:ext cx="2984500" cy="1206500"/>
          </a:xfrm>
          <a:prstGeom prst="roundRect">
            <a:avLst>
              <a:gd name="adj" fmla="val 10526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699500" y="2921000"/>
            <a:ext cx="2730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场景 B：日造雪 10000m³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所需天数 = 260000 ÷ 10000 =</a:t>
            </a:r>
            <a:r>
              <a:rPr lang="en-US" b="true" i="false" strike="noStrike" u="none" sz="16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26 天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461000" y="4191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651500" y="4318000"/>
            <a:ext cx="577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规律发现：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日造雪量增加，所需天数反而减少，且二者的乘积始终等于总造雪量（固定值）。这就是典型的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反比例关系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461000" y="5397500"/>
            <a:ext cx="6096000" cy="762000"/>
          </a:xfrm>
          <a:prstGeom prst="roundRect">
            <a:avLst>
              <a:gd name="adj" fmla="val 16666"/>
            </a:avLst>
          </a:prstGeom>
          <a:solidFill>
            <a:srgbClr val="4ADE80">
              <a:alpha val="100000"/>
            </a:srgbClr>
          </a:solidFill>
          <a:ln cmpd="sng" cap="flat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588000" y="5562600"/>
            <a:ext cx="584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代数模型：x · y = k （k 为非零常数，这里 k = 260000）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总结与作业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课堂核心回顾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67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2768600"/>
            <a:ext cx="444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🔑 认知升级：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从“算术计算”迈向“代数表达”，学会用字母抽象表示数量关系，实现从具体到一般的思维跨越。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7465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848100"/>
            <a:ext cx="444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✨ 表达优势：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代数式让数学描述更具简洁性与普适性，能够概括同类问题的规律，而非局限于具体数字。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826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4927600"/>
            <a:ext cx="444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📐 规范基石：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掌握代数式的书写规范（如省略乘号、数字在前），是后续学习方程、不等式与函数的基础。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203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课后实践任务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477000" y="2730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58000" y="26924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基础巩固：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完成教材Pxx页《习题3.1》第1、2、3题，重点练习如何根据题意列出代数式。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6477009" y="348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3683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858000" y="36449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新知预习：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预习下一节《代数式的值》，思考：当字母赋予具体数值时，如何求出代数式的结果？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9291" flipH="false" flipV="false">
            <a:off x="6477009" y="443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477000" y="46355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4800600"/>
            <a:ext cx="279400" cy="279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4762500"/>
            <a:ext cx="419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趣味挑战 · 数学故事：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请结合生活场景，为代数式</a:t>
            </a: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100 - 2x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编写一个小故事，下节课我们一起来分享！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{"Label":"1","ContentProducer":"001191110102MACQD9K64010000","ProduceID":"7662419818914892762","ReservedCode1":"","ContentPropagator":"","PropagateID":"","ReservedCode2":""}</vt:lpwstr>
  </property>
</Properties>
</file>