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notesSlides/notesSlide1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notesSlides/notesSlide7.xml" Type="http://schemas.openxmlformats.org/officeDocument/2006/relationships/notesSlide"/><Relationship Id="rId36" Target="notesSlides/notesSlide8.xml" Type="http://schemas.openxmlformats.org/officeDocument/2006/relationships/notesSlide"/><Relationship Id="rId37" Target="notesSlides/notesSlide9.xml" Type="http://schemas.openxmlformats.org/officeDocument/2006/relationships/notesSlide"/><Relationship Id="rId38" Target="notesSlides/notesSlide10.xml" Type="http://schemas.openxmlformats.org/officeDocument/2006/relationships/notesSlide"/><Relationship Id="rId39" Target="notesSlides/notesSlide11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2.xml" Type="http://schemas.openxmlformats.org/officeDocument/2006/relationships/notesSlide"/><Relationship Id="rId41" Target="notesSlides/notesSlide13.xml" Type="http://schemas.openxmlformats.org/officeDocument/2006/relationships/notesSlide"/><Relationship Id="rId42" Target="notesSlides/notesSlide14.xml" Type="http://schemas.openxmlformats.org/officeDocument/2006/relationships/notesSlide"/><Relationship Id="rId43" Target="notesSlides/notesSlide15.xml" Type="http://schemas.openxmlformats.org/officeDocument/2006/relationships/notesSlide"/><Relationship Id="rId44" Target="notesSlides/notesSlide16.xml" Type="http://schemas.openxmlformats.org/officeDocument/2006/relationships/notesSlide"/><Relationship Id="rId45" Target="notesSlides/notesSlide17.xml" Type="http://schemas.openxmlformats.org/officeDocument/2006/relationships/notesSlide"/><Relationship Id="rId46" Target="notesSlides/notesSlide18.xml" Type="http://schemas.openxmlformats.org/officeDocument/2006/relationships/notesSlide"/><Relationship Id="rId47" Target="notesSlides/notesSlide19.xml" Type="http://schemas.openxmlformats.org/officeDocument/2006/relationships/notesSlide"/><Relationship Id="rId48" Target="notesSlides/notesSlide20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今天的数学课堂。今天我们将一起探索一个全新的领域——有理数。在小学阶段，我们认识了整数和分数，那么引入负数之后，数的世界发生了怎样的变化？我们又该如何去理解和比较这些新的数呢？这节课，我们将揭开有理数的神秘面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本节课的学习，我们希望大家能够达成以下目标。首先，在知识与技能方面，我们要掌握有理数的概念、分类，理解数轴、相反数和绝对值，并学会比较有理数的大小。在过程与方法上，我们将通过生活实例和动手画图，感受数学与生活的联系，体会数形结合的思想。最后，希望大家能在学习中培养严谨的思维，感受数学的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正式学习新知识之前，我们先来看几个生活中的场景。天气预报里的零下温度，地理中的海拔高度，还有财务里的盈亏记录，这些都出现了一种我们不太熟悉的数，它们带着一个“-”号。这些数到底是什么意思呢？它们和我们以前学的数有什么关系？这就是我们今天要探讨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刚才的例子，我们引出了正数和负数的概念。大于0的数就是正数，小于0的数就是负数。而0，它是一个非常特殊的数，它既不是正数，也不是负数，是划分正数和负数的界限。大家思考一下，“一个数不是正数就是负数”这句话对吗？对的，因为还有0这个特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正式给出有理数的定义：整数和分数统称为有理数。这里的整数包括正整数、0和负整数，分数包括正分数和负分数。我们可以从两个角度对有理数进行分类：一种是按定义分为整数和分数，另一种是按性质分为正有理数、0和负有理数。大家可以看屏幕上的结构图，这两种分类方式都非常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学习之后，我们来看一个例题。这里有一组数，我们需要把它们分到不同的集合里。大家思考一下，-1是整数还是分数？-2.3呢？150%又属于哪一类？通过这个练习，我们可以加深对有理数分类的理解。记住，小数和百分数都属于分数范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学习一个非常重要的数学工具——数轴。数轴是一条规定了原点、正方向和单位长度的直线。这三个要素——原点、正方向、单位长度，缺一不可。数轴就像一座桥梁，把数和图形连接了起来，这就是我们常说的“数形结合”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画数轴需要遵循四个步骤：一画直线，二定原点，三定方向，四定单位。大家看屏幕上的例子，有些数轴看起来不太对劲，问题出在哪里呢？有的没有原点，有的单位长度不统一。这些都是画数轴时常见的错误，大家一定要注意避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会了画数轴，我们就要学会在数轴上表示数。比如要表示3，就在原点右边第3个单位处点一个点。要表示-2，就在原点左边第2个单位处点一个点。大家注意，像-3.5和1/2这样的小数和分数，也可以在数轴上找到对应的位置。这说明了一个重要结论：任何一个有理数都可以用数轴上的一个点来表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来看数轴上一些有趣的点。大家看2和-2，它们到原点的距离都是2，但一个在左边，一个在右边，符号相反。像这样只有符号不同的两个数，我们就称它们互为相反数。特别地，0的相反数是0。大家快速说出6、-8、0的相反数是什么？那么-(-3)的相反数呢？我们需要先化简，-(-3)等于3，所以它的相反数是-3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几何角度看，相反数非常直观：它们就是数轴上关于原点对称的两个点。如果用字母a来表示一个有理数，那么它的相反数就是-a。这里的a可以是正数、负数，也可以是0。比如当a是-3时，-a就等于3，这正好验证了负负得正的规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我们刚才提到了“距离”，在数学中，我们用“绝对值”来表示一个数在数轴上对应的点到原点的距离。绝对值用符号“| |”表示。比如，+2和-2到原点的距离都是2，所以它们的绝对值都是2。因为距离不可能是负数，所以任何数的绝对值都是非负数。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几何意义出发，我们可以总结出绝对值的代数计算法则。简单来说就是：正数的绝对值是它自己，负数的绝对值是它的相反数，0的绝对值是0。大家看这个例题，-|-4|等于多少？这里要注意运算顺序，先算绝对值得到4，再取相反数，所以结果是-4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学会了数轴，比较数的大小就变得非常直观了。大家记住这个法则：在数轴上，右边的数永远比左边的数大。就像我们排队，排在右边的人位置更靠后。所以，我们只需要把要比较的数在数轴上表示出来，它们的大小关系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用数轴，我们还可以直接根据法则来比较大小。这些法则非常重要：正数大于0，负数小于0，正数大于负数。两个正数比较，绝对值大的就大。最关键的是两个负数比较，绝对值大的那个数反而更小。大家可以记一下这个口诀，帮助记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来看两个稍微复杂一点的例子。第一题，-(-1)和-(+2)，我们需要先化简，得到1和-2，然后根据正数大于负数的法则判断。第二题是两个负数比较，-8/9和-7/8，我们需要先比较它们的绝对值，通分后发现8/9大于7/8，根据“两个负数，绝对值大的反而小”，所以-8/9小于-7/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来梳理一下本节课的知识点。我们学习了有理数的定义和两种分类方法；认识了数轴及其三要素；理解了相反数和绝对值的概念及几何意义；最后掌握了比较有理数大小的两种方法。这些知识点环环相扣，构成了有理数知识体系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是检验大家学习成果的时候了。这里有几道练习题，包括判断、填空和解答题。大家可以尝试独立完成，看看自己对今天所学的知识掌握得怎么样。特别是比较-3和-π的大小，需要我们先估算π的值，再比较它们的绝对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最后，我们来挑战几个更有深度的问题。如果一个数的绝对值是5，这个数可能是什么？绝对值小于3的整数又有哪些？最有挑战性的是第三个问题，已知a是负数，b是正数，且a的绝对值更大，如何比较a, b, -a, -b的大小？这需要我们综合运用今天所学的所有知识。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今天的课程就到这里。我们一起学习了有理数的相关知识，希望大家课后能及时复习，并完成教材上的练习题。数学的学习需要不断地思考和练习，希望大家能保持这份热情，继续探索数学的奥秘。谢谢大家！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9.jpeg" Type="http://schemas.openxmlformats.org/officeDocument/2006/relationships/image"/><Relationship Id="rId4" Target="../media/image10.jpeg" Type="http://schemas.openxmlformats.org/officeDocument/2006/relationships/image"/><Relationship Id="rId5" Target="../media/image11.jpe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Relationship Id="rId4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Relationship Id="rId4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1.svg" Type="http://schemas.openxmlformats.org/officeDocument/2006/relationships/image"/><Relationship Id="rId11" Target="../media/image17.png" Type="http://schemas.openxmlformats.org/officeDocument/2006/relationships/image"/><Relationship Id="rId12" Target="../media/image32.png" Type="http://schemas.openxmlformats.org/officeDocument/2006/relationships/image"/><Relationship Id="rId13" Target="../media/image33.sv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4.png" Type="http://schemas.openxmlformats.org/officeDocument/2006/relationships/image"/><Relationship Id="rId4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43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46.png" Type="http://schemas.openxmlformats.org/officeDocument/2006/relationships/image"/><Relationship Id="rId7" Target="../media/image47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52.png" Type="http://schemas.openxmlformats.org/officeDocument/2006/relationships/image"/><Relationship Id="rId4" Target="../media/image53.svg" Type="http://schemas.openxmlformats.org/officeDocument/2006/relationships/image"/><Relationship Id="rId5" Target="../media/image54.png" Type="http://schemas.openxmlformats.org/officeDocument/2006/relationships/image"/><Relationship Id="rId6" Target="../media/image55.svg" Type="http://schemas.openxmlformats.org/officeDocument/2006/relationships/image"/><Relationship Id="rId7" Target="../media/image56.png" Type="http://schemas.openxmlformats.org/officeDocument/2006/relationships/image"/><Relationship Id="rId8" Target="../media/image57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notesSlides/notesSlide15.xml" Type="http://schemas.openxmlformats.org/officeDocument/2006/relationships/notesSlide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58.png" Type="http://schemas.openxmlformats.org/officeDocument/2006/relationships/image"/><Relationship Id="rId4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3.png" Type="http://schemas.openxmlformats.org/officeDocument/2006/relationships/image"/><Relationship Id="rId4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4.jpeg" Type="http://schemas.openxmlformats.org/officeDocument/2006/relationships/image"/><Relationship Id="rId3" Target="../media/image75.png" Type="http://schemas.openxmlformats.org/officeDocument/2006/relationships/image"/><Relationship Id="rId4" Target="../media/image76.svg" Type="http://schemas.openxmlformats.org/officeDocument/2006/relationships/image"/><Relationship Id="rId5" Target="../notesSlides/notesSlide20.xml" Type="http://schemas.openxmlformats.org/officeDocument/2006/relationships/notesSlide"/><Relationship Id="rId6" Target="../media/image7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508000" y="5334000"/>
            <a:ext cx="1778000" cy="1778000"/>
          </a:xfrm>
          <a:prstGeom prst="ellipse">
            <a:avLst/>
          </a:prstGeom>
          <a:solidFill>
            <a:srgbClr val="A3BCA3">
              <a:alpha val="18000"/>
            </a:srgbClr>
          </a:solidFill>
          <a:ln cmpd="sng" cap="flat">
            <a:solidFill>
              <a:srgbClr val="7DA37D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0" y="-762000"/>
            <a:ext cx="2286000" cy="2286000"/>
          </a:xfrm>
          <a:prstGeom prst="ellipse">
            <a:avLst/>
          </a:prstGeom>
          <a:solidFill>
            <a:srgbClr val="A3BCA3">
              <a:alpha val="15000"/>
            </a:srgbClr>
          </a:solidFill>
          <a:ln cmpd="sng" cap="flat">
            <a:solidFill>
              <a:srgbClr val="7DA37D">
                <a:alpha val="1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286000"/>
            <a:ext cx="1041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1.2 有理数及其大小比较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191000"/>
            <a:ext cx="1041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2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533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从整数到有理数的进阶之旅 · 探索数的大小奥秘，构建严谨的数学逻辑思维体系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0955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73200" y="20828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知识与技能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211" flipH="false" flipV="false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857500"/>
            <a:ext cx="28702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理解有理数的定义，掌握其分类标准与方法；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掌握数轴三要素，能准确用数轴表示有理数；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理解相反数与绝对值的几何及代数意义；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熟练运用数轴法与法则法比较有理数大小。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60900" y="20955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118100" y="20828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过程与方法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211" flipH="false" flipV="false">
            <a:off x="46609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60900" y="2857500"/>
            <a:ext cx="28702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结合温度、海拔等生活实例，体会引入负数的必要性；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通过动手绘制与观察数轴，感悟“数形结合”思想；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在合作探究中，培养将实际问题转化为数学问题的能力。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05800" y="2095500"/>
            <a:ext cx="355600" cy="355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63000" y="20828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情感与价值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211" flipH="false" flipV="false">
            <a:off x="83058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05800" y="2857500"/>
            <a:ext cx="2870200" cy="279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在严谨的分类讨论中，培养逻辑思维的严密性；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感受数学符号的简洁之美与逻辑推理的魅力；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建立数学来源于生活、服务于生活的认知观念。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情境导入：生活中的负数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0" r="0" t="19026" b="19026"/>
          <a:stretch>
            <a:fillRect/>
          </a:stretch>
        </p:blipFill>
        <p:spPr>
          <a:xfrm rot="0" flipH="false" flipV="false">
            <a:off x="1016000" y="1841500"/>
            <a:ext cx="2870200" cy="1778000"/>
          </a:xfrm>
          <a:prstGeom prst="roundRect">
            <a:avLst>
              <a:gd name="adj" fmla="val 857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746500"/>
            <a:ext cx="2870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 气温冷暖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191000"/>
            <a:ext cx="2870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-10℃ / -15℃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762500"/>
            <a:ext cx="287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比0摄氏度还要低的温度，用负数表示寒冷的程度。数值越小，代表天气越寒冷。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651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4598" r="4598" t="0" b="0"/>
          <a:stretch>
            <a:fillRect/>
          </a:stretch>
        </p:blipFill>
        <p:spPr>
          <a:xfrm rot="0" flipH="false" flipV="false">
            <a:off x="4660900" y="1841500"/>
            <a:ext cx="2870200" cy="1778000"/>
          </a:xfrm>
          <a:prstGeom prst="roundRect">
            <a:avLst>
              <a:gd name="adj" fmla="val 857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4660900" y="3746500"/>
            <a:ext cx="2870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 地势高低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60900" y="4191000"/>
            <a:ext cx="2870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+8848m / -11034m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60900" y="4762500"/>
            <a:ext cx="287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以海平面为基准，正数代表高于海平面的高度，负数则代表低于海平面的深度。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651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rcRect l="0" r="0" t="11943" b="11943"/>
          <a:stretch>
            <a:fillRect/>
          </a:stretch>
        </p:blipFill>
        <p:spPr>
          <a:xfrm rot="0" flipH="false" flipV="false">
            <a:off x="8305800" y="1841500"/>
            <a:ext cx="2870200" cy="1778000"/>
          </a:xfrm>
          <a:prstGeom prst="roundRect">
            <a:avLst>
              <a:gd name="adj" fmla="val 8571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6" id="16"/>
          <p:cNvSpPr/>
          <p:nvPr/>
        </p:nvSpPr>
        <p:spPr>
          <a:xfrm rot="0" flipH="false" flipV="false">
            <a:off x="8305800" y="3746500"/>
            <a:ext cx="28702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03 财务盈亏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05800" y="4191000"/>
            <a:ext cx="28702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+2300元 / -125元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05800" y="4762500"/>
            <a:ext cx="2870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正数表示盈利或收入进账，负数表示亏损或资金支出，是记录经济活动的重要方式。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5905500"/>
            <a:ext cx="1041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</a:t>
            </a: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像 -10、-15、-11034 这样带有“-”号的数叫做负数，它们专门用来表示与正数意义相反的量，是我们描述生活中相反状态的有力工具。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正数、负数与零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6B4D"/>
                </a:solidFill>
                <a:latin typeface="Noto Sans SC"/>
                <a:ea typeface="Noto Sans SC"/>
                <a:cs typeface="Noto Sans SC"/>
                <a:sym typeface="Noto Sans SC"/>
              </a:rPr>
              <a:t>01 正数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86000"/>
            <a:ext cx="2997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像 10、8848.86、2300 这样大于0的数。正数前面的“+”号通常省略不写，它代表着生活中“有”或“盈余”的量。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394200" y="1651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584700" y="1841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6B4D"/>
                </a:solidFill>
                <a:latin typeface="Noto Sans SC"/>
                <a:ea typeface="Noto Sans SC"/>
                <a:cs typeface="Noto Sans SC"/>
                <a:sym typeface="Noto Sans SC"/>
              </a:rPr>
              <a:t>02 负数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584700" y="2286000"/>
            <a:ext cx="2997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像 -10、-155、-125 这样小于0的数。前面的“-”号是它的标志，不能省略，常用来表示与正数意义相反的量。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026400" y="1651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16900" y="1841500"/>
            <a:ext cx="3124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D6B4D"/>
                </a:solidFill>
                <a:latin typeface="Noto Sans SC"/>
                <a:ea typeface="Noto Sans SC"/>
                <a:cs typeface="Noto Sans SC"/>
                <a:sym typeface="Noto Sans SC"/>
              </a:rPr>
              <a:t>03 零 (0)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216900" y="2286000"/>
            <a:ext cx="29972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它是正数与负数的分界点。0 既不是正数，也不是负数。它代表着“基准”或“没有”的状态。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191000"/>
            <a:ext cx="10668000" cy="20955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cmpd="sng" cap="flat">
            <a:solidFill>
              <a:srgbClr val="7DA37D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438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课堂思考与互动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889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mpd="sng" cap="flat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50546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87500" y="5016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生活中的正负数：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请试着举出2-3个例子，比如温度、海拔高度、财务收支等，并和同桌分享你的想法。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889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mpd="sng" cap="flat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13500" y="50546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794500" y="5016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概念辨析：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“一个数不是正数就是负数”这句话对吗？为什么？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答：不对，因为0既不是正数也不是负数。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有理数的定义与分类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644" b="644"/>
          <a:stretch>
            <a:fillRect/>
          </a:stretch>
        </p:blipFill>
        <p:spPr>
          <a:xfrm rot="0" flipH="false" flipV="false">
            <a:off x="762000" y="1778000"/>
            <a:ext cx="2413000" cy="3429000"/>
          </a:xfrm>
          <a:prstGeom prst="rect">
            <a:avLst/>
          </a:prstGeom>
          <a:noFill/>
          <a:ln w="25400" cmpd="sng" cap="flat">
            <a:solidFill>
              <a:srgbClr val="A3BCA3">
                <a:alpha val="4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397500"/>
            <a:ext cx="241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📚 教材原文参考</a:t>
            </a: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数系扩充的核心基础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683000" y="1651000"/>
            <a:ext cx="7620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73500" y="1778000"/>
            <a:ext cx="7239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A664A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核心定义：数系的基石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整数（正整数、0、负整数）和分数（正分数、负分数）统称为有理数。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本质特征：所有有理数都可以表示为两个整数之比（m/n，n≠0）的形式。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683000" y="30480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810000" y="3175000"/>
            <a:ext cx="34925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4A664A"/>
                </a:solidFill>
                <a:latin typeface="Noto Sans SC"/>
                <a:ea typeface="Noto Sans SC"/>
                <a:cs typeface="Noto Sans SC"/>
                <a:sym typeface="Noto Sans SC"/>
              </a:rPr>
              <a:t>01 按【定义】分类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整数：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正整数、0、负整数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分数：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正分数、负分数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提示：有限小数与无限循环小数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均可转化为分数形式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556500" y="30480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83500" y="3175000"/>
            <a:ext cx="3492500" cy="184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4A664A"/>
                </a:solidFill>
                <a:latin typeface="Noto Sans SC"/>
                <a:ea typeface="Noto Sans SC"/>
                <a:cs typeface="Noto Sans SC"/>
                <a:sym typeface="Noto Sans SC"/>
              </a:rPr>
              <a:t>02 按【性质】分类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正有理数：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正整数 + 正分数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0：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既非正数也非负数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负有理数：</a:t>
            </a:r>
            <a:r>
              <a:rPr lang="en-US" b="false" i="false" strike="noStrike" u="none" sz="14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负整数 + 负分数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提示：分类标准不同，结果维度不同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83000" y="5207000"/>
            <a:ext cx="7620000" cy="1079500"/>
          </a:xfrm>
          <a:prstGeom prst="roundRect">
            <a:avLst>
              <a:gd name="adj" fmla="val 0"/>
            </a:avLst>
          </a:prstGeom>
          <a:solidFill>
            <a:srgbClr val="E6F0E6">
              <a:alpha val="80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873500" y="5334000"/>
            <a:ext cx="723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重点辨析：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“0”是有理数分类中的关键节点，它是整数但不属于正数或负数。同时，要注意区分：无限不循环小数（如圆周率π）不属于有理数，这是我们后续学习无理数的基础。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例题讲解：有理数的分类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383" b="383"/>
          <a:stretch>
            <a:fillRect/>
          </a:stretch>
        </p:blipFill>
        <p:spPr>
          <a:xfrm rot="0" flipH="false" flipV="false">
            <a:off x="762000" y="1778000"/>
            <a:ext cx="2667000" cy="3810000"/>
          </a:xfrm>
          <a:prstGeom prst="rect">
            <a:avLst/>
          </a:prstGeom>
          <a:noFill/>
          <a:ln w="38100" cmpd="sng" cap="flat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57785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6464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教材对应知识点回顾与示例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810000" y="1651000"/>
            <a:ext cx="7620000" cy="1079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000500" y="1752600"/>
            <a:ext cx="723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将下列各数分别填入相应的集合里：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-1, +2, -2.3, 0, 1/2, -3/4, 150%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810000" y="2921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937000" y="3022600"/>
            <a:ext cx="342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 整数集合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{-1, +2, 0}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思路：包含正整数、0和负整数。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810000" y="41275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37000" y="4229100"/>
            <a:ext cx="342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 分数集合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{-2.3, 1/2, -3/4, 150%}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思路：小数、百分数均可化成分数。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810000" y="5334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937000" y="5435600"/>
            <a:ext cx="342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03 正数集合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{+2, 1/2, 150%}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思路：所有大于0的数，不含0。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747000" y="2921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3022600"/>
            <a:ext cx="342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04 负数集合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{-1, -2.3, -3/4}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思路：所有小于0的数，不含0。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747000" y="4127500"/>
            <a:ext cx="3683000" cy="2349500"/>
          </a:xfrm>
          <a:prstGeom prst="roundRect">
            <a:avLst>
              <a:gd name="adj" fmla="val 0"/>
            </a:avLst>
          </a:prstGeom>
          <a:solidFill>
            <a:srgbClr val="A3BCA3">
              <a:alpha val="20000"/>
            </a:srgbClr>
          </a:solidFill>
          <a:ln w="12700" cmpd="sng" cap="flat">
            <a:solidFill>
              <a:srgbClr val="A3BCA3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874000" y="4229100"/>
            <a:ext cx="3429000" cy="222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607D60"/>
                </a:solidFill>
                <a:latin typeface="Noto Sans SC"/>
                <a:ea typeface="Noto Sans SC"/>
                <a:cs typeface="Noto Sans SC"/>
                <a:sym typeface="Noto Sans SC"/>
              </a:rPr>
              <a:t>05 有理数集合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包含上述所有数：{-1, +2, -2.3, 0, 1/2, -3/4, 150%}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</a:t>
            </a:r>
            <a:r>
              <a:rPr lang="en-US" b="false" i="false" strike="noStrike" u="none" sz="130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整数和分数统称为有理数。无论是有限小数、无限循环小数还是百分数，本质上都属于分数，因此也都是有理数。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数轴的概念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16" b="116"/>
          <a:stretch>
            <a:fillRect/>
          </a:stretch>
        </p:blipFill>
        <p:spPr>
          <a:xfrm rot="0" flipH="false" flipV="false">
            <a:off x="762000" y="1524000"/>
            <a:ext cx="3810000" cy="2667000"/>
          </a:xfrm>
          <a:prstGeom prst="rect">
            <a:avLst/>
          </a:prstGeom>
          <a:noFill/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508500"/>
            <a:ext cx="3810000" cy="1714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cmpd="sng" cap="flat">
            <a:solidFill>
              <a:srgbClr val="7DA37D">
                <a:alpha val="1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699000"/>
            <a:ext cx="3556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C553C"/>
                </a:solidFill>
                <a:latin typeface="Noto Sans SC"/>
                <a:ea typeface="Noto Sans SC"/>
                <a:cs typeface="Noto Sans SC"/>
                <a:sym typeface="Noto Sans SC"/>
              </a:rPr>
              <a:t>🤔 思考：数与形的桥梁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我们能否用一条直线上的点来直观地表示有理数？这正是“数形结合”思想的起源，它将抽象的数字与直观的图形完美连接。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953000" y="1524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143500" y="1676400"/>
            <a:ext cx="609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📐 数轴的定义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规定了</a:t>
            </a:r>
            <a:r>
              <a:rPr lang="en-US" b="true" i="false" strike="noStrike" u="none" sz="1400">
                <a:solidFill>
                  <a:srgbClr val="527152"/>
                </a:solidFill>
                <a:latin typeface="Noto Sans SC"/>
                <a:ea typeface="Noto Sans SC"/>
                <a:cs typeface="Noto Sans SC"/>
                <a:sym typeface="Noto Sans SC"/>
              </a:rPr>
              <a:t>原点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b="true" i="false" strike="noStrike" u="none" sz="1400">
                <a:solidFill>
                  <a:srgbClr val="527152"/>
                </a:solidFill>
                <a:latin typeface="Noto Sans SC"/>
                <a:ea typeface="Noto Sans SC"/>
                <a:cs typeface="Noto Sans SC"/>
                <a:sym typeface="Noto Sans SC"/>
              </a:rPr>
              <a:t>正方向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b="true" i="false" strike="noStrike" u="none" sz="1400">
                <a:solidFill>
                  <a:srgbClr val="527152"/>
                </a:solidFill>
                <a:latin typeface="Noto Sans SC"/>
                <a:ea typeface="Noto Sans SC"/>
                <a:cs typeface="Noto Sans SC"/>
                <a:sym typeface="Noto Sans SC"/>
              </a:rPr>
              <a:t>单位长度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的直线叫做数轴。这三个要素是构成数轴的基础，缺一不可。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953000" y="29845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EBF2EB">
              <a:alpha val="70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105400" y="31750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435600" y="31750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原点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105400" y="36195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在直线上选定的基准点，专门用来表示数字 0，它是数轴上所有数的位置参照中心。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175500" y="29845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EBF2EB">
              <a:alpha val="70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27900" y="3175000"/>
            <a:ext cx="279400" cy="279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658100" y="31750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正方向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327900" y="36195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通常规定向右（或向上）为正方向，并用箭头标出，它确定了数值递增的方向。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398000" y="29845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EBF2EB">
              <a:alpha val="70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50400" y="3175000"/>
            <a:ext cx="279400" cy="279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880600" y="3175000"/>
            <a:ext cx="158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单位长度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50400" y="3619500"/>
            <a:ext cx="177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选取统一的长度作为度量单位，从原点向两侧等距标记，保证刻度的均匀性。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953000" y="5207000"/>
            <a:ext cx="6477000" cy="8890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w="12700" cmpd="sng" cap="flat">
            <a:solidFill>
              <a:srgbClr val="829E82">
                <a:alpha val="5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143500" y="5359400"/>
            <a:ext cx="6223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C55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原点、正方向、单位长度是数轴的“三要素”，三者缺一不可，共同构成了数轴的标准形式，是我们学习有理数的重要工具。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如何画数轴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18161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01 画直线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22860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绘制一条水平的直线，这是构成数轴的基础载体，线条需保持平直、均匀，为后续标注做好准备。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556000" y="1651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746500" y="18415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127500" y="18161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02 定原点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746500" y="22860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在直线上任选一点，标记为“0”，称为原点。它是数轴的基准点，决定了正数和负数的分界。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7465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3937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333500" y="3911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03 定方向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3815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通常规定直线向右为正方向，并在直线的最右端画上箭头符号，以此区分正负数值的走向。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556000" y="37465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3746500" y="3937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127500" y="3911600"/>
            <a:ext cx="203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04 定单位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746500" y="4381500"/>
            <a:ext cx="228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选取合适的长度作为单位长度，从原点开始，在直线上向左右两侧均匀地标出刻度值。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rcRect l="0" r="0" t="4992" b="4992"/>
          <a:stretch>
            <a:fillRect/>
          </a:stretch>
        </p:blipFill>
        <p:spPr>
          <a:xfrm rot="0" flipH="false" flipV="false">
            <a:off x="6477000" y="1651000"/>
            <a:ext cx="4826000" cy="3048000"/>
          </a:xfrm>
          <a:prstGeom prst="roundRect">
            <a:avLst>
              <a:gd name="adj" fmla="val 4166"/>
            </a:avLst>
          </a:prstGeom>
          <a:noFill/>
          <a:ln w="25400" cmpd="sng" cap="flat">
            <a:solidFill>
              <a:srgbClr val="A3BCA3">
                <a:alpha val="5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21" id="21"/>
          <p:cNvSpPr/>
          <p:nvPr/>
        </p:nvSpPr>
        <p:spPr>
          <a:xfrm rot="0" flipH="false" flipV="false">
            <a:off x="6477000" y="49530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70000"/>
            </a:srgbClr>
          </a:solidFill>
          <a:ln w="12700" cmpd="sng" cap="flat">
            <a:solidFill>
              <a:srgbClr val="E6B450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67500" y="5105400"/>
            <a:ext cx="254000" cy="25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985000" y="5080000"/>
            <a:ext cx="4254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常见错误警示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667500" y="5461000"/>
            <a:ext cx="4445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容易忽视的细节：① 忘记标原点或正方向箭头；② 单位长度刻度间距不一致；③ 负数部分的顺序标反。请对照教材图例仔细检查！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在数轴上表示数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0" b="20"/>
          <a:stretch>
            <a:fillRect/>
          </a:stretch>
        </p:blipFill>
        <p:spPr>
          <a:xfrm rot="0" flipH="false" flipV="false">
            <a:off x="762000" y="1651000"/>
            <a:ext cx="3556000" cy="2489200"/>
          </a:xfrm>
          <a:prstGeom prst="rect">
            <a:avLst/>
          </a:prstGeom>
          <a:noFill/>
          <a:ln w="25400" cmpd="sng" cap="flat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12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445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w="12700" cmpd="sng" cap="flat">
            <a:solidFill>
              <a:srgbClr val="A3BCA3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4635500"/>
            <a:ext cx="3302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核心结论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任何一个有理数（整数、分数、小数）都可以用数轴上的一个</a:t>
            </a:r>
            <a:r>
              <a:rPr lang="en-US" b="tru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唯一的点</a:t>
            </a:r>
            <a:r>
              <a:rPr lang="en-US" b="false" i="false" strike="noStrike" u="none" sz="1400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来表示。这是“数”与“形”结合的基础。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26000" y="1651000"/>
            <a:ext cx="6604000" cy="1143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16500" y="1778000"/>
            <a:ext cx="622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📝 课堂例题：</a:t>
            </a:r>
            <a:r>
              <a:rPr lang="en-US" b="fals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在数轴上标出：3，-2，-3.5，1/2，0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3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思考：它们分别在原点的哪一侧？距离原点多少个单位长度？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26000" y="2984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978400" y="3149600"/>
            <a:ext cx="279400" cy="279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34000" y="30734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定位正数 (+3)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从原点出发，向</a:t>
            </a:r>
            <a:r>
              <a:rPr lang="en-US" b="tru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正方向</a:t>
            </a: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数3个单位长度，标记该点。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826000" y="4191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978400" y="4356100"/>
            <a:ext cx="279400" cy="279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5334000" y="42799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定位负数 (-2)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从原点出发，向</a:t>
            </a:r>
            <a:r>
              <a:rPr lang="en-US" b="tru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负方向</a:t>
            </a: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数2个单位长度，标记该点。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826000" y="5397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978400" y="5562600"/>
            <a:ext cx="279400" cy="279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5334000" y="54864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定位分数 (1/2)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向右数半个单位，位于0和1之间的中点位置。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0" y="2984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407400" y="31496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763000" y="30734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定位小数 (-3.5)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向左数3个单位，再额外向左半个单位的位置。</a:t>
            </a:r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0" y="4191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407400" y="4356100"/>
            <a:ext cx="279400" cy="279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763000" y="42799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原点 (0)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数轴的基准点，既不是正数也不是负数，是正负的分界。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255000" y="5397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EF9C3">
              <a:alpha val="60000"/>
            </a:srgbClr>
          </a:solidFill>
          <a:ln w="12700" cmpd="sng" cap="flat">
            <a:solidFill>
              <a:srgbClr val="EAB308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407400" y="5562600"/>
            <a:ext cx="279400" cy="279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763000" y="5486400"/>
            <a:ext cx="2667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A16207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易错提醒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300">
                <a:solidFill>
                  <a:srgbClr val="78350F"/>
                </a:solidFill>
                <a:latin typeface="Noto Sans SC"/>
                <a:ea typeface="Noto Sans SC"/>
                <a:cs typeface="Noto Sans SC"/>
                <a:sym typeface="Noto Sans SC"/>
              </a:rPr>
              <a:t>注意单位长度的统一，标数时不要混淆左右方向。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相反数的概念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0" b="20"/>
          <a:stretch>
            <a:fillRect/>
          </a:stretch>
        </p:blipFill>
        <p:spPr>
          <a:xfrm rot="0" flipH="false" flipV="false">
            <a:off x="762000" y="1778000"/>
            <a:ext cx="3810000" cy="2667000"/>
          </a:xfrm>
          <a:prstGeom prst="rect">
            <a:avLst/>
          </a:prstGeom>
          <a:noFill/>
          <a:ln w="25400" cmpd="sng" cap="flat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381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结合数轴直观理解：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数字在原点两侧，距离却完全相等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953000" y="1778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143500" y="1905000"/>
            <a:ext cx="609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4A644A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观察发现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相同点：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两数在数轴上到原点的距离相等；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不同点：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分别位于原点左右两侧，正负符号相反。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3000" y="3429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143500" y="3556000"/>
            <a:ext cx="609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4A644A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只有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符号不同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的两个数，我们称它们为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特别规定：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 的相反数是它本身（0）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953000" y="5080000"/>
            <a:ext cx="6477000" cy="1270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143500" y="5207000"/>
            <a:ext cx="6096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4A644A"/>
                </a:solidFill>
                <a:latin typeface="Noto Sans SC"/>
                <a:ea typeface="Noto Sans SC"/>
                <a:cs typeface="Noto Sans SC"/>
                <a:sym typeface="Noto Sans SC"/>
              </a:rPr>
              <a:t>03 课堂速练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快速抢答：请说出下列各数的相反数。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6 ② -8 ③ 0 ④ -(-3) （思考：先化简）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相反数的几何意义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0" r="20" t="0" b="0"/>
          <a:stretch>
            <a:fillRect/>
          </a:stretch>
        </p:blipFill>
        <p:spPr>
          <a:xfrm rot="0" flipH="false" flipV="false">
            <a:off x="762000" y="1651000"/>
            <a:ext cx="4064000" cy="2844800"/>
          </a:xfrm>
          <a:prstGeom prst="rect">
            <a:avLst/>
          </a:prstGeom>
          <a:noFill/>
          <a:ln w="25400" cmpd="sng" cap="flat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dir="2700000" dist="635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406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教材直观图示：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互为相反数的两个点在数轴上关于原点中心对称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1651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524500" y="1803400"/>
            <a:ext cx="571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586E58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核心几何特征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在数轴上，表示互为相反数的两个点，必定位于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原点两侧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，且它们到原点的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距离完全相等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。这是相反数最直观的几何表达。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334000" y="3429000"/>
            <a:ext cx="6096000" cy="2413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24500" y="3581400"/>
            <a:ext cx="5715000" cy="222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586E58"/>
                </a:solidFill>
                <a:latin typeface="Noto Sans SC"/>
                <a:ea typeface="Noto Sans SC"/>
                <a:cs typeface="Noto Sans SC"/>
                <a:sym typeface="Noto Sans SC"/>
              </a:rPr>
              <a:t>02 代数定义与举例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若有理数为 a，则其相反数记为</a:t>
            </a: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-a</a:t>
            </a: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（读作“负a”）。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当 a = 3 时，相反数为 -3；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当 a = -3 时，相反数为 -(-3) = 3（体现“负负得正”）；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特殊情况：0 的相反数仍是 0，因为原点到自身的距离为 0。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59436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586E58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6032500"/>
            <a:ext cx="104140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C4B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关键点：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相反数是成对出现的，它们只有符号不同，绝对值（即距离）完全相同。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绝对值的几何意义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20" r="20" t="0" b="0"/>
          <a:stretch>
            <a:fillRect/>
          </a:stretch>
        </p:blipFill>
        <p:spPr>
          <a:xfrm rot="0" flipH="false" flipV="false">
            <a:off x="762000" y="1651000"/>
            <a:ext cx="3556000" cy="2489200"/>
          </a:xfrm>
          <a:prstGeom prst="rect">
            <a:avLst/>
          </a:prstGeom>
          <a:noFill/>
          <a:ln w="25400" cmpd="sng" cap="flat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dir="2700000" dist="50800" blurRad="1524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5085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从教材图示中可以直观看到：无论数在原点左侧还是右侧，我们关注的是它到原点的“距离”这一非负属性，这正是绝对值的几何本质。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699000" y="1651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89500" y="1879600"/>
            <a:ext cx="279400" cy="279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270500" y="18415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核心思考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89500" y="2349500"/>
            <a:ext cx="311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在数轴上，一个数所对应的点与原点的</a:t>
            </a:r>
            <a:r>
              <a:rPr lang="en-US" b="true" i="false" strike="noStrike" u="none" sz="1400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距离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，该如何用简洁的数学符号来量化表示呢？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318500" y="1651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09000" y="1879600"/>
            <a:ext cx="279400" cy="279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8890000" y="18415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数学定义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509000" y="2349500"/>
            <a:ext cx="311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数轴上表示数 a 的点与原点的距离，叫做数 a 的</a:t>
            </a:r>
            <a:r>
              <a:rPr lang="en-US" b="true" i="false" strike="noStrike" u="none" sz="1400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，记作</a:t>
            </a:r>
            <a:r>
              <a:rPr lang="en-US" b="true" i="false" strike="noStrike" u="none" sz="1400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|a|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。“距离”是绝对值的几何内核。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393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889500" y="4165600"/>
            <a:ext cx="279400" cy="279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270500" y="41275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典型示例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89500" y="4635500"/>
            <a:ext cx="311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|+2| = 2，|-2| = 2，|0| = 0。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互为相反数的两个数，绝对值相等；原点到自身的距离为0。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393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509000" y="4165600"/>
            <a:ext cx="279400" cy="279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890000" y="41275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重要结论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09000" y="4635500"/>
            <a:ext cx="3111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距离不可能为负，因此任何数的绝对值都是</a:t>
            </a:r>
            <a:r>
              <a:rPr lang="en-US" b="true" i="false" strike="noStrike" u="none" sz="1400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非负数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，即：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|a| ≥ 0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（a 为任意实数）。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绝对值的代数定义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460500" y="18034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正数的绝对值是它本身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代数语言：若 a &gt; 0，则 |a| = 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实例验证：|5| = 5，|+2.8| = 2.8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238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2004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负数的绝对值是它的相反数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代数语言：若 a &lt; 0，则 |a| = -a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实例验证：|-5| = 5，|-3.2| = 3.2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444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635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460500" y="45974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 的绝对值是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代数语言：若 a = 0，则 |a| = 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实例验证：|0| = 0，是绝对值的基准点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rcRect l="20" r="20" t="0" b="0"/>
          <a:stretch>
            <a:fillRect/>
          </a:stretch>
        </p:blipFill>
        <p:spPr>
          <a:xfrm rot="0" flipH="false" flipV="false">
            <a:off x="6477000" y="1651000"/>
            <a:ext cx="3175000" cy="2222500"/>
          </a:xfrm>
          <a:prstGeom prst="rect">
            <a:avLst/>
          </a:prstGeom>
          <a:noFill/>
          <a:ln w="25400" cmpd="sng" cap="flat">
            <a:solidFill>
              <a:srgbClr val="A3BCA3">
                <a:alpha val="70000"/>
              </a:srgbClr>
            </a:solidFill>
            <a:prstDash val="solid"/>
            <a:round/>
          </a:ln>
          <a:effectLst>
            <a:outerShdw dir="2700000" dist="38100" blurRad="1016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14" id="14"/>
          <p:cNvSpPr/>
          <p:nvPr/>
        </p:nvSpPr>
        <p:spPr>
          <a:xfrm rot="0" flipH="false" flipV="false">
            <a:off x="9842500" y="1651000"/>
            <a:ext cx="2222500" cy="222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结合教材原文与数轴图示，直观理解绝对值的“非负性”本质，将代数定义与几何意义建立联系。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43180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mpd="sng" cap="flat">
            <a:solidFill>
              <a:srgbClr val="A3BCA3">
                <a:alpha val="80000"/>
              </a:srgbClr>
            </a:solidFill>
            <a:prstDash val="dash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67500" y="4470400"/>
            <a:ext cx="5080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易错点解析：多重符号化简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67500" y="4889500"/>
            <a:ext cx="5080000" cy="1079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-|-4| = ?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步骤：先算内层绝对值 |-4| = 4，再算外层符号 -4。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结论：结果为</a:t>
            </a: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-4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。切记：先处理绝对值，再看外部符号！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利用数轴比较大小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309" b="309"/>
          <a:stretch>
            <a:fillRect/>
          </a:stretch>
        </p:blipFill>
        <p:spPr>
          <a:xfrm rot="0" flipH="false" flipV="false">
            <a:off x="762000" y="1714500"/>
            <a:ext cx="3556000" cy="2476500"/>
          </a:xfrm>
          <a:prstGeom prst="rect">
            <a:avLst/>
          </a:prstGeom>
          <a:noFill/>
          <a:ln w="25400" cmpd="sng" cap="flat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dir="2700000" dist="76200" blurRad="1524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445000"/>
            <a:ext cx="3556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教材直观呈现：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通过温度计与数轴的类比，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将抽象的数字大小转化为直观的位置关系，</a:t>
            </a: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帮助我们快速理解数的排列规律。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17145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080000" y="1905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486400" y="18796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核心法则：位置决定大小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0" y="23114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在数轴上表示的两个数，</a:t>
            </a:r>
            <a:r>
              <a:rPr lang="en-US" b="true" i="false" strike="noStrike" u="none" sz="1500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右边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的数总比</a:t>
            </a:r>
            <a:r>
              <a:rPr lang="en-US" b="true" i="false" strike="noStrike" u="none" sz="1500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左边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的数</a:t>
            </a:r>
            <a:r>
              <a:rPr lang="en-US" b="true" i="false" strike="noStrike" u="none" sz="1500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大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。这是判断有理数大小的“黄金标准”。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33020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080000" y="34925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486400" y="34671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02 直观示例：一目了然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0" y="38989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观察数轴上的排列：</a:t>
            </a:r>
            <a:r>
              <a:rPr lang="en-US" b="true" i="false" strike="noStrike" u="none" sz="1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-3 &lt; -1 &lt; 0 &lt; 2 &lt; 4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从左向右，数值依次递增；正数永远大于0，负数永远小于0。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26000" y="48895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080000" y="5080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486400" y="5054600"/>
            <a:ext cx="584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03 速记口诀：右大左小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0" y="5486400"/>
            <a:ext cx="609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无需死记硬背，只需看位置：越往“右”走数越大，越往“左”走数越小。就像我们排队，排在后面的人位置更“大”。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利用法则比较大小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55" b="55"/>
          <a:stretch>
            <a:fillRect/>
          </a:stretch>
        </p:blipFill>
        <p:spPr>
          <a:xfrm rot="0" flipH="false" flipV="false">
            <a:off x="762000" y="1651000"/>
            <a:ext cx="4064000" cy="2844800"/>
          </a:xfrm>
          <a:prstGeom prst="rect">
            <a:avLst/>
          </a:prstGeom>
          <a:noFill/>
          <a:ln w="25400" cmpd="sng" cap="flat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dir="2700000" dist="76200" blurRad="2032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699000"/>
            <a:ext cx="406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教材实例参考：直观理解有理数比较逻辑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334000" y="1651000"/>
            <a:ext cx="6223000" cy="11176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524500" y="18288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5969000" y="1803400"/>
            <a:ext cx="546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01. 正负数与 0 的基础关系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969000" y="21844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核心逻辑：正数 &gt; 0 &gt; 负数。所有正数都大于负数。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示例：5 &gt; 0，-3 &lt; 0，因此 5 &gt; -3。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334000" y="2959100"/>
            <a:ext cx="6223000" cy="11176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5524500" y="31369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969000" y="3111500"/>
            <a:ext cx="546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02. 两个正数比较大小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969000" y="34925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遵循常规逻辑：绝对值大的数更大。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示例：|7| = 7，|5| = 5，因为 7 &gt; 5，所以 7 &gt; 5。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334000" y="4267200"/>
            <a:ext cx="6223000" cy="11176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524500" y="4445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969000" y="4419600"/>
            <a:ext cx="5461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03. 两个负数比较大小（重点易错）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969000" y="4800600"/>
            <a:ext cx="5461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特殊规则：绝对值大的数反而更小。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示例：|-7| = 7，|-5| = 5，因为 7 &gt; 5，所以 -7 &lt; -5。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6134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cmpd="sng" cap="flat">
            <a:solidFill>
              <a:srgbClr val="7DA37D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854700"/>
            <a:ext cx="355600" cy="3556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524000" y="5765800"/>
            <a:ext cx="965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记忆口诀：</a:t>
            </a:r>
            <a:r>
              <a:rPr lang="en-US" b="false" i="false" strike="noStrike" u="none" sz="1500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“正数大于零，负数小于零，正数大于负数；两负相比较，绝对值大的反而小。”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例题讲解：比较大小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98" r="198" t="0" b="0"/>
          <a:stretch>
            <a:fillRect/>
          </a:stretch>
        </p:blipFill>
        <p:spPr>
          <a:xfrm rot="0" flipH="false" flipV="false">
            <a:off x="762000" y="1778000"/>
            <a:ext cx="3556000" cy="2501900"/>
          </a:xfrm>
          <a:prstGeom prst="rect">
            <a:avLst/>
          </a:prstGeom>
          <a:noFill/>
          <a:ln w="25400" cmpd="sng" cap="flat">
            <a:solidFill>
              <a:srgbClr val="A3BCA3">
                <a:alpha val="50000"/>
              </a:srgbClr>
            </a:solidFill>
            <a:prstDash val="solid"/>
            <a:round/>
          </a:ln>
          <a:effectLst>
            <a:outerShdw dir="2700000" dist="76200" blurRad="190500" algn="tl" rotWithShape="false">
              <a:srgbClr val="000000">
                <a:alpha val="8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572000"/>
            <a:ext cx="3556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结合教材中的经典例题，我们通过两个典型场景来深入理解有理数比较大小的规则。掌握“先化简、再比较，负数看绝对值”的解题逻辑是关键。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826000" y="1778000"/>
            <a:ext cx="66040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0" y="19304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01. 符号化简与正负判定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7161" flipH="false" flipV="false">
            <a:off x="5080007" y="23812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/>
          <p:nvPr/>
        </p:nvSpPr>
        <p:spPr>
          <a:xfrm rot="0" flipH="false" flipV="false">
            <a:off x="5080000" y="2489200"/>
            <a:ext cx="6096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比较 -(-1) 与 -(+2) 的大小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先化简符号得：-(-1)=1，-(+2)=-2。根据“正数大于一切负数”的法则，因为 1 是正数，-2 是负数，所以结论为：</a:t>
            </a:r>
            <a:r>
              <a:rPr lang="en-US" b="true" i="false" strike="noStrike" u="none" sz="14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-(-1) &gt; -(+2)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4000500"/>
            <a:ext cx="66040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80000" y="4152900"/>
            <a:ext cx="609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02. 负数比较：看绝对值大小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7161" flipH="false" flipV="false">
            <a:off x="5080007" y="46037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5080000" y="4711700"/>
            <a:ext cx="6096000" cy="1460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比较 -8/9 与 -7/8 的大小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tru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负数比较先算绝对值：|-8/9|=64/72，|-7/8|=63/72。因为 64/72 &gt; 63/72，根据“两个负数，绝对值大的反而小”，所以结论为：</a:t>
            </a:r>
            <a:r>
              <a:rPr lang="en-US" b="true" i="false" strike="noStrike" u="none" sz="14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-8/9 &lt; -7/8</a:t>
            </a: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6764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有理数的概念与分类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0574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整数和分数的统称，是整数和分数的集合。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分类：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按定义分（整数、分数）；按性质分（正有理数、0、负有理数）。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865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477000" y="16764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02 数轴的核心要素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20574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三要素：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原点、正方向、单位长度（三者缺一不可）。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直观表示数的位置，是理解有理数的几何工具，也用于比较大小。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111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32639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03 相反数的双重意义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6449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代数定义：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只有符号不同的两个数互为相反数。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几何意义：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在原点两侧，且到原点距离相等；特别地，0的相反数是0。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86500" y="3111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263900"/>
            <a:ext cx="4889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04 绝对值的意义与性质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3644900"/>
            <a:ext cx="4889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几何意义：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数轴上表示数a的点与原点的距离（距离非负）。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代数性质：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正数的绝对值是本身，负数是其相反数，0的绝对值为0。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699000"/>
            <a:ext cx="10795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851400"/>
            <a:ext cx="1041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05 有理数大小比较的两种方法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5270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数轴比较法：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利用数轴直观判断，右边的数总比左边的数大，越向右数值越大。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23618" flipH="false" flipV="false">
            <a:off x="5873750" y="5613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6350000" y="5270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法则比较法：</a:t>
            </a: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正数永远大于0，0永远大于负数；两个负数比较时，绝对值大的数反而小。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</a:t>
            </a:r>
            <a:endParaRPr lang="en-US" sz="1100"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37" r="137" t="0" b="0"/>
          <a:stretch>
            <a:fillRect/>
          </a:stretch>
        </p:blipFill>
        <p:spPr>
          <a:xfrm rot="0" flipH="false" flipV="false">
            <a:off x="762000" y="1651000"/>
            <a:ext cx="3556000" cy="2501900"/>
          </a:xfrm>
          <a:prstGeom prst="rect">
            <a:avLst/>
          </a:prstGeom>
          <a:noFill/>
          <a:ln w="25400" cmpd="sng" cap="flat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dir="2700000" dist="50800" blurRad="127000" algn="tl" rotWithShape="false">
              <a:srgbClr val="000000">
                <a:alpha val="1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445000"/>
            <a:ext cx="355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通过基础判断、计算填空与数轴应用三类题型，全面巩固对绝对值、相反数及有理数大小比较的理解。请结合教材例题，独立思考完成。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699000" y="16510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889500" y="1778000"/>
            <a:ext cx="6477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65F46"/>
                </a:solidFill>
                <a:latin typeface="Noto Sans SC"/>
                <a:ea typeface="Noto Sans SC"/>
                <a:cs typeface="Noto Sans SC"/>
                <a:sym typeface="Noto Sans SC"/>
              </a:rPr>
              <a:t>01 判断题 · 概念辨析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一个数的绝对值一定是正数 (×，0的绝对值为0) ② 任何有理数都有相反数 (√)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③ 绝对值相等的两数相等 (×，如 |2|=|-2|，但 2≠-2)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699000" y="32385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889500" y="3365500"/>
            <a:ext cx="6477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65F46"/>
                </a:solidFill>
                <a:latin typeface="Noto Sans SC"/>
                <a:ea typeface="Noto Sans SC"/>
                <a:cs typeface="Noto Sans SC"/>
                <a:sym typeface="Noto Sans SC"/>
              </a:rPr>
              <a:t>02 填空题 · 基础计算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-5的相反数是</a:t>
            </a:r>
            <a:r>
              <a:rPr lang="en-US" b="true" i="false" strike="noStrike" u="none" sz="1400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； ② |-10| =</a:t>
            </a:r>
            <a:r>
              <a:rPr lang="en-US" b="true" i="false" strike="noStrike" u="none" sz="1400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； ③ 比较大小：-3</a:t>
            </a:r>
            <a:r>
              <a:rPr lang="en-US" b="true" i="false" strike="noStrike" u="none" sz="1400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&gt;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-π (π≈3.14，|-3|&lt;|-π|)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99000" y="48260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89500" y="4953000"/>
            <a:ext cx="6477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00">
                <a:solidFill>
                  <a:srgbClr val="465F46"/>
                </a:solidFill>
                <a:latin typeface="Noto Sans SC"/>
                <a:ea typeface="Noto Sans SC"/>
                <a:cs typeface="Noto Sans SC"/>
                <a:sym typeface="Noto Sans SC"/>
              </a:rPr>
              <a:t>03 解答题 · 数轴应用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在数轴上表示 -4, -1.5, 0, 2, 3.5，并按从小到大排列：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true" i="false" strike="noStrike" u="none" sz="1400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-4 &lt; -1.5 &lt; 0 &lt; 2 &lt; 3.5</a:t>
            </a:r>
            <a:r>
              <a:rPr lang="en-US" b="false" i="false" strike="noStrike" u="none" sz="14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(数轴上左边的数总小于右边的数)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299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基础回顾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3495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问题：如果 |x| = 5，那么未知数 x 的取值是多少？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302000"/>
            <a:ext cx="2997200" cy="57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79500" y="3403600"/>
            <a:ext cx="2870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3624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结论：x = 5 或 x = -5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06900" y="1651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597400" y="1841500"/>
            <a:ext cx="299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进阶探索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597400" y="23495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问题：请列举出所有绝对值小于 3 的整数，包含0吗？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97400" y="3302000"/>
            <a:ext cx="2997200" cy="57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24400" y="3403600"/>
            <a:ext cx="2870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3624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结论：-2, -1, 0, 1, 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51800" y="1651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242300" y="1841500"/>
            <a:ext cx="29972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03 逻辑辨析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42300" y="2349500"/>
            <a:ext cx="29972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挑战：已知 a &lt; 0，b &gt; 0，且 |a| &gt; |b|，如何比较 a, b, -a, -b 的大小？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42300" y="3302000"/>
            <a:ext cx="2997200" cy="57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69300" y="3403600"/>
            <a:ext cx="28702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43624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提示：利用数轴与符号法则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4450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A3BCA3">
              <a:alpha val="20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4635500"/>
            <a:ext cx="5080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🔍 深度解析：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由 a&lt;0, b&gt;0 可知 a 为负，b 为正，故 a &lt; b；-a 为正，-b 为负，故 -b &lt; -a。又因 |a| &gt; |b|，说明 a 距原点更远，因此 -a &gt; b 且 a &lt; -b。综合符号与距离即可得出最终排序。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71352" flipH="false" flipV="false">
            <a:off x="5334000" y="5391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A3BCA3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286500" y="4635500"/>
            <a:ext cx="4953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🏆 最终结论：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200">
                <a:solidFill>
                  <a:srgbClr val="2E4E2E"/>
                </a:solidFill>
                <a:latin typeface="Noto Sans SC"/>
                <a:ea typeface="Noto Sans SC"/>
                <a:cs typeface="Noto Sans SC"/>
                <a:sym typeface="Noto Sans SC"/>
              </a:rPr>
              <a:t>a &lt; -b &lt; b &lt; -a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（记忆技巧：负数 &lt; 负数 &lt; 正数 &lt; 正数，结合绝对值大小判断）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mpd="sng" cap="flat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2794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45720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mpd="sng" cap="flat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397000" y="49657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4762500"/>
            <a:ext cx="8763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今日课后任务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600">
                <a:solidFill>
                  <a:srgbClr val="595959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 Pxx 页 练习题 1、2、3，尝试用今天学到的有理数知识解决生活中的简单计算问题。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{"Label":"1","ContentProducer":"001191110102MACQD9K64010000","ProduceID":"7661646721987398623","ReservedCode1":"","ContentPropagator":"","PropagateID":"","ReservedCode2":""}</vt:lpwstr>
  </property>
</Properties>
</file>