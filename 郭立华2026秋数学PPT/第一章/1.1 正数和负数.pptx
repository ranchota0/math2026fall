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大家好，欢迎来到今天的数学课堂。今天我们将一起探索一个非常有趣且实用的数学概念——正数和负数。我们将从生活中的各种现象出发，看看数学是如何帮助我们描述和理解这个世界的。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节课我们将分为六个部分。首先，我们会通过生活中的例子来感受什么是“相反意义的量”。接着，我们将正式学习正数和负数的定义。然后通过例题和练习来巩固所学。最后，我们还会了解一些关于负数的有趣历史，并对本节课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请看屏幕上的三个场景。天气预报里的零上和零下，记账单里的收入和支出，工厂里的增产和减产。大家有没有发现，这些都是成对出现的、意义完全相反的量？在生活中，这样的例子还有很多。那么，我们该如何用数学语言来精确地描述它们呢？这就是我们今天要学习的核心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区分这些相反意义的量，数学家们引入了‘+’号和‘-’号。我们把一种意义的量，比如零上、收入、增产，规定为正，用我们熟悉的数或者在数前面加上‘+’号来表示，这些数就叫做正数。而与它相反意义的量，比如零下、支出、减产，我们就在数的前面加上一个‘-’号来表示，这些数就叫做负数。大家一定要记住，负数的‘-’号是它的重要组成部分，是绝对不能省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我们熟悉的老朋友‘0’应该归到哪一类呢？是正数还是负数？我们来想一下，正数是比‘没有’多，负数是比‘没有’少。0就处在正数和负数中间的那个位置，它是一个分界点。所以，我们规定：0既不是正数，也不是负数。它是一个非常特殊的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第一个例题。题目要求我们写出体重的‘增长值’。这里的关键是理解‘增长’这个词。增长不仅包括增加，也包括减少（负增长）和不变（零增长）。我们首先要确定一个标准，比如，我们把‘增加’规定为正，那么‘减少’就是负，‘无变化’就是0。这样，小明的体重增长值就是+2kg，小华的体重增长值就是-1kg，而小强的体重增长值就是0kg。通过正负数，我们就能非常清晰地描述出三个人体重的变化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例题背景换成了经济领域。这里要求我们写出‘增长率’。同样，我们先规定‘增长’为正，‘减少’为负。那么，德国、意大利和中国的增长率就是正数，而美国、法国和英国的增长率就是负数。通过这种方式，我们可以用一个统一的‘增长率’概念，来描述所有国家的经济表现，非常方便进行比较和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学完了概念和例题，我们来动手练一练。请大家快速完成这几道题。第一题是基本概念的判断，第二、三、四题都是用正负数来表示相反意义的量。大家在做的时候，一定要先想清楚谁是‘正’的一方，谁是‘负’的一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你们知道吗？我们今天学习的负数，最早就是由我们中国人使用的！早在两千多年前的《九章算术》里，就有了关于负数的记载。当时的人们用红色的小棍代表正数，黑色的小棍代表负数，是不是很形象？这比西方国家要早了一千多年。这充分说明了我们中华民族是一个充满智慧的民族，在数学发展史上做出了巨大的贡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今天的新知识就学到这里，课后请大家完成这几道习题来巩固所学。这些题目涵盖了我们今天学习的所有知识点，特别是第三题，需要大家仔细思考，真正理解0的特殊性。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来看两道题。第四题考察的是对相反意义的理解。第五题是一个生活中的应用，叫做“允许偏差”，它告诉我们一个产品的尺寸可以在多大范围内波动仍然是合格的。这也是正负数在工业生产中的一个重要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同学们，我们来总结一下今天这节课的内容。我们从生活中的相反现象出发，认识了‘相反意义的量’，并由此引入了正数和负数的概念。大家一定要记住，0是一个非常特殊的数，它既不是正数也不是负数。最重要的是，我们学会了如何用正负数这个强大的工具，来描述和解决生活中的实际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今天的课就到这里，感谢同学们的积极参与和认真思考。希望大家课后多加练习，真正掌握这个新知识。下课！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16.jpe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3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Relationship Id="rId5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1.jpeg" Type="http://schemas.openxmlformats.org/officeDocument/2006/relationships/image"/><Relationship Id="rId3" Target="../notesSlides/notesSlide13.xml" Type="http://schemas.openxmlformats.org/officeDocument/2006/relationships/notesSlide"/><Relationship Id="rId4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第一章 有理数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000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1.1 正数和负数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080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从生活现象中走进数学，探索相反意义的量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541000" y="5334000"/>
            <a:ext cx="1270000" cy="1270000"/>
          </a:xfrm>
          <a:prstGeom prst="ellipse">
            <a:avLst/>
          </a:prstGeom>
          <a:solidFill>
            <a:srgbClr val="4CAF50">
              <a:alpha val="15000"/>
            </a:srgbClr>
          </a:solidFill>
          <a:ln cmpd="sng" cap="flat">
            <a:solidFill>
              <a:srgbClr val="329636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68500" y="19304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情境引入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观察生活中的“相反”现象，建立直观认知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4290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68500" y="33909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新知讲解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系统学习正数与负数的定义，明确数学概念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69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889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68500" y="48514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结合典型例题，掌握正负数的实际运用技巧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1968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429500" y="19304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通过随堂练习巩固知识，检验学习成果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238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34290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29500" y="33909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文化拓展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探索负数的起源与发展，感受数学文化魅力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69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4889500"/>
            <a:ext cx="88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429500" y="48514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回顾核心知识点，总结收获并启发深入思考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情境引入：我们身边的“相反”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3095" b="3095"/>
          <a:stretch>
            <a:fillRect/>
          </a:stretch>
        </p:blipFill>
        <p:spPr>
          <a:xfrm rot="0" flipH="false" flipV="false">
            <a:off x="1016000" y="1905000"/>
            <a:ext cx="3048000" cy="1905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400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天气预报：冷热对立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508500"/>
            <a:ext cx="3048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“-3℃”代表零下温度，“+3℃”代表零上温度。它们以0℃为分界点，是一对意义完全相反的量，描述了两种截然不同的冷热状态。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28012" b="28012"/>
          <a:stretch>
            <a:fillRect/>
          </a:stretch>
        </p:blipFill>
        <p:spPr>
          <a:xfrm rot="0" flipH="false" flipV="false">
            <a:off x="4572000" y="1905000"/>
            <a:ext cx="3048000" cy="1905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400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经济生活：收支变化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4508500"/>
            <a:ext cx="3048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“收入”意味着个人或企业的资金增加，“支出”则意味着资金减少。在财务账目里，它们是最基础的一对相反量，直接决定了资金的流向。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874000" y="1651000"/>
            <a:ext cx="3556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rcRect l="4999" r="5000" t="0" b="0"/>
          <a:stretch>
            <a:fillRect/>
          </a:stretch>
        </p:blipFill>
        <p:spPr>
          <a:xfrm rot="0" flipH="false" flipV="false">
            <a:off x="8128000" y="1905000"/>
            <a:ext cx="3048000" cy="1905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8128000" y="400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生产记录：产量增减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4508500"/>
            <a:ext cx="3048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“增产”是指产品数量在原有基础上增加，“减产”则是数量减少。这对相反的量在工业统计中至关重要，直观反映了生产经营的效益与趋势。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新知讲解：正数与负数的定义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764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/ 相反意义的量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为了表示一对具有相反意义的量，我们把其中一种意义的量规定为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正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，另一种与之意义相反的量规定为</a:t>
            </a:r>
            <a:r>
              <a:rPr lang="en-US" b="true" i="false" strike="noStrike" u="none" sz="14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负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。例如：零上温度与零下温度、收入与支出、向东走与向西走等。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845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2004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3200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/ 正数 (Positive Number)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291" flipH="false" flipV="false">
            <a:off x="1016009" y="374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873500"/>
            <a:ext cx="469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像 3, 1.8%, 3.5 这样大于0的数叫做正数。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表示：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前面可加“</a:t>
            </a: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”（正号），如 +3，+1.8%。通常情况下，“+”号可以省略不写。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984500"/>
            <a:ext cx="5207000" cy="2540000"/>
          </a:xfrm>
          <a:prstGeom prst="roundRect">
            <a:avLst>
              <a:gd name="adj" fmla="val 0"/>
            </a:avLst>
          </a:prstGeom>
          <a:solidFill>
            <a:srgbClr val="FF5722">
              <a:alpha val="8000"/>
            </a:srgbClr>
          </a:solidFill>
          <a:ln w="12700" cmpd="sng" cap="flat">
            <a:solidFill>
              <a:srgbClr val="FF572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32004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21500" y="3200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/ 负数 (Negative Number)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291" flipH="false" flipV="false">
            <a:off x="6477009" y="374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572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77000" y="3873500"/>
            <a:ext cx="469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在正数前加上“</a:t>
            </a:r>
            <a:r>
              <a:rPr lang="en-US" b="false" i="false" strike="noStrike" u="none" sz="1400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”（负号）的数，如 -3, -2.7%, -4.5。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负数前面的“-”号</a:t>
            </a:r>
            <a:r>
              <a:rPr lang="en-US" b="true" i="false" strike="noStrike" u="none" sz="14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不能省略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，它是负数的重要组成部分，用来区分相反意义的量。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58420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核心记忆：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正数是大于0的数，“+”号可省；负数是小于0的数，“-”号必留；0既不是正数，也不是负数。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新知讲解：关于“0”的讨论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41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核心定义：0 既不是正数，也不是负数。它是正数与负数之间唯一的分界点，标志着数量的“基准状态”。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175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340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概念回顾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37000"/>
            <a:ext cx="2870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在生活中，0 代表“没有”或“空”，是我们计数的起点。它不表示具体的数量多少，而是一个衡量正负的参照原点。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3175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3429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41900" y="340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逻辑辨析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3937000"/>
            <a:ext cx="2870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正数的定义是“大于0的数”，负数是“小于0的数”。由于0既不大于也不小于自身，因此它无法归入任何一方，是绝对的中间值。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3175000"/>
            <a:ext cx="33782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3429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86800" y="340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数学结论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05800" y="3937000"/>
            <a:ext cx="2870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在数学分类中，0 是一个特殊的中性数。它不属于正数集合，也不属于负数集合，而是作为一个独立的存在，平衡着正与负的关系。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842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" y="59436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记忆口诀：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零在中间站，正负两边分；它是分界点，非正也非负。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例题精讲：用正负数表示偏差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3048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143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生活中的正负数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直观记录身体的细微变化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318000" y="1778000"/>
            <a:ext cx="736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▍经典案例：体重变化的量化表示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18000" y="2349500"/>
            <a:ext cx="7366000" cy="1079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cmpd="sng" cap="flat">
            <a:solidFill>
              <a:srgbClr val="329636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476500"/>
            <a:ext cx="711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题目背景：一个月内，小明体重增加2kg，小华体重减少1kg，小强体重保持不变。若我们规定“体重增加为正方向”，请用正负数分别表示三人的体重增长值。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36830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70400" y="38354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826000" y="38354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小明 · 增重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+2 kg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48514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与规定正方向一致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31000" y="36830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FF980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883400" y="38354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239000" y="38354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小华 · 减重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945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-1 kg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94500" y="48514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与规定正方向相反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3683000"/>
            <a:ext cx="2286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9E9E9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96400" y="38354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652000" y="38354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小强 · 不变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207500" y="4254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0 kg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207500" y="48514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基准点，无增减变化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18000" y="5588000"/>
            <a:ext cx="7366000" cy="6985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cmpd="sng" cap="flat">
            <a:solidFill>
              <a:srgbClr val="329636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45000" y="5689600"/>
            <a:ext cx="711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解题的第一步是确定“基准”和“正方向”，这是用正负数表示相反意义量的前提。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例题精讲：用正负数表示增长率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923" r="923" t="0" b="0"/>
          <a:stretch>
            <a:fillRect/>
          </a:stretch>
        </p:blipFill>
        <p:spPr>
          <a:xfrm rot="0" flipH="false" flipV="false">
            <a:off x="762000" y="1651000"/>
            <a:ext cx="4064000" cy="2349500"/>
          </a:xfrm>
          <a:prstGeom prst="roundRect">
            <a:avLst>
              <a:gd name="adj" fmla="val 6486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381500"/>
            <a:ext cx="4064000" cy="1714500"/>
          </a:xfrm>
          <a:prstGeom prst="roundRect">
            <a:avLst>
              <a:gd name="adj" fmla="val 8888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572000"/>
            <a:ext cx="3746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核心解题思路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引入正负数后，我们可以将“增长”和“减少”这一对具有相反意义的量，统一纳入同一个数学符号体系中，这不仅简化了描述，更方便了我们对不同国家的经济数据进行直观的比较和分析。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07000" y="1651000"/>
            <a:ext cx="6477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题目背景：某年度，部分国家商品进出口总额较上年的变化情况如下：美国减少6.4%，德国增长1.3%，法国减少2.4%，英国减少3.5%，意大利增长0.2%，中国增长7.5%。请用正负数表示这些国家的增长率。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207000" y="29210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▍规范解答：增长记为“+”，减少记为“-”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207000" y="3492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3594100"/>
            <a:ext cx="2984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美国：</a:t>
            </a:r>
            <a:r>
              <a:rPr lang="en-US" b="true" i="false" strike="noStrike" u="none" sz="16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-6.4%</a:t>
            </a: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（减少6.4%）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445500" y="3492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572500" y="3594100"/>
            <a:ext cx="2984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德国：</a:t>
            </a: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+1.3%</a:t>
            </a: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（增长1.3%）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07000" y="4381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4483100"/>
            <a:ext cx="2984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法国：</a:t>
            </a:r>
            <a:r>
              <a:rPr lang="en-US" b="true" i="false" strike="noStrike" u="none" sz="16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-2.4%</a:t>
            </a: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（减少2.4%）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45500" y="4381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572500" y="4483100"/>
            <a:ext cx="2984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英国：</a:t>
            </a:r>
            <a:r>
              <a:rPr lang="en-US" b="true" i="false" strike="noStrike" u="none" sz="16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-3.5%</a:t>
            </a: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（减少3.5%）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207000" y="5270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334000" y="5372100"/>
            <a:ext cx="2984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意大利：</a:t>
            </a: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+0.2%</a:t>
            </a: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（增长0.2%）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445500" y="5270500"/>
            <a:ext cx="31115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C8C8C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572500" y="5372100"/>
            <a:ext cx="2984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中国：</a:t>
            </a: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+7.5%</a:t>
            </a:r>
            <a:r>
              <a:rPr lang="en-US" b="false" i="false" strike="noStrike" u="none" sz="1200">
                <a:solidFill>
                  <a:srgbClr val="888888"/>
                </a:solidFill>
                <a:latin typeface="Noto Sans SC"/>
                <a:ea typeface="Noto Sans SC"/>
                <a:cs typeface="Noto Sans SC"/>
                <a:sym typeface="Noto Sans SC"/>
              </a:rPr>
              <a:t>（增长7.5%）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课堂练习：学以致用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76400"/>
            <a:ext cx="4953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数列：4, -1/2, 0, -3.14, 120, -1.732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✅ 正数：4, 120 | ❌ 负数：-1/2, -3.14, -1.732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86500" y="1524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0" y="1676400"/>
            <a:ext cx="4953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方向与位置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条件：80m 表示向东走 80m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❓ -60m 表示什么？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💡 答案：</a:t>
            </a:r>
            <a:r>
              <a:rPr lang="en-US" b="true" i="false" strike="noStrike" u="none" sz="1400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向西走 60 米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556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16996" r="16996" t="0" b="0"/>
          <a:stretch>
            <a:fillRect/>
          </a:stretch>
        </p:blipFill>
        <p:spPr>
          <a:xfrm rot="0" flipH="false" flipV="false">
            <a:off x="952500" y="3746500"/>
            <a:ext cx="2159000" cy="1841500"/>
          </a:xfrm>
          <a:prstGeom prst="roundRect">
            <a:avLst>
              <a:gd name="adj" fmla="val 827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3238500" y="3746500"/>
            <a:ext cx="2603500" cy="234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水位变化记录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若水位升高 3m 记作 +3m，则：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下降 3m 记作</a:t>
            </a:r>
            <a:r>
              <a:rPr lang="en-US" b="true" i="false" strike="noStrike" u="none" sz="14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-3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不升不降记作</a:t>
            </a:r>
            <a:r>
              <a:rPr lang="en-US" b="true" i="false" strike="noStrike" u="none" sz="14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💡 0是基准点，既非正数也非负数。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3556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1904" b="1904"/>
          <a:stretch>
            <a:fillRect/>
          </a:stretch>
        </p:blipFill>
        <p:spPr>
          <a:xfrm rot="0" flipH="false" flipV="false">
            <a:off x="6477000" y="3746500"/>
            <a:ext cx="2159000" cy="1841500"/>
          </a:xfrm>
          <a:prstGeom prst="roundRect">
            <a:avLst>
              <a:gd name="adj" fmla="val 8275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763000" y="3746500"/>
            <a:ext cx="2603500" cy="234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月球温度记录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月球昼夜温差极大：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白天零上 126℃：</a:t>
            </a:r>
            <a:r>
              <a:rPr lang="en-US" b="true" i="false" strike="noStrike" u="none" sz="14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+126℃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夜间零下 150℃：</a:t>
            </a:r>
            <a:r>
              <a:rPr lang="en-US" b="true" i="false" strike="noStrike" u="none" sz="14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-150℃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💡 注意：“+”号可省略，但“-”号必须保留。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文化拓展：负数的起源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71" b="271"/>
          <a:stretch>
            <a:fillRect/>
          </a:stretch>
        </p:blipFill>
        <p:spPr>
          <a:xfrm rot="0" flipH="false" flipV="false">
            <a:off x="762000" y="1778000"/>
            <a:ext cx="2794000" cy="40386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3937000" y="1778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中国人最早使用负数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37000" y="2603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127500" y="2794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508500" y="27940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📜 世界最早的典籍记载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27500" y="32004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成书于公元一世纪的《九章算术》，是人类历史上最早引入负数概念的数学著作，比西方早了一千多年。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10500" y="2603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001000" y="2794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8382000" y="27940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🎨 “正赤负黑”的直观表达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32004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书中明确提出“正算赤，负算黑”，即用红色算筹代表正数，黑色算筹代表负数，巧妙区分相反意义的量。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37000" y="4254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127500" y="4445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508500" y="44450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🧮 完备的“正负术”法则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127500" y="48514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不仅定义了负数，更系统总结了正负数的加减法则——“正负术”，其运算原理与现代数学完全一致。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10500" y="4254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001000" y="4445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382000" y="44450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🌏 领先千年的数学智慧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01000" y="48514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直到17世纪，欧洲数学家仍对负数的“合法性”争论不休，而中国古人早已将其熟练应用于方程求解。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9436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60706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文化启示：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中国古代数学在世界数学发展史上占据着重要地位，彰显了中华民族无穷的智慧与创造力。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课后习题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05000" y="1676400"/>
            <a:ext cx="914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辨识正负数：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请指出下列各数中的正数与负数：5, -5/7, 0, 0.56, -3, -25.8, 12/5, -0.0001, +2, -600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正数：5, 0.56, 12/5, +2； 负数：-5/7, -3, -25.8, -0.0001, -600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65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05000" y="3327400"/>
            <a:ext cx="914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水位的实际意义：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蓄水池标准水位为0m，正数表示高于标准水位。0.08m与-0.2m各表示什么？低于0.1m与高于0.23m如何表示？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0.08m是高于0.08m，-0.2m是低于0.2m；低于0.1m记为-0.1m，高于0.23m记为+0.23m（或0.23m）。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82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016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4978400"/>
            <a:ext cx="914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概念辨析：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“不是正数的数一定是负数，不是负数的数一定是正数”，这种说法正确吗？请说明理由。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不正确。因为0是一个特殊的数，它既不是正数，也不是负数，是正负数的分界点。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课后习题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762000" cy="304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习题 04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860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若把物体向后移动5m记作 -5m，那么移动 +5m 是什么意思？此时物体距离两次移动前的初始位置有多远？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111500"/>
            <a:ext cx="4889500" cy="82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213100"/>
            <a:ext cx="4635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+5m 表示向前移动5m。物体先向后再向前移动相同距离，最终回到初始位置，距离为 0m。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1651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841500"/>
            <a:ext cx="762000" cy="304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8415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习题 05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2860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某品牌乒乓球的产品参数中标明：直径 40mm ±0.05mm。请解释这个标注的实际含义。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3111500"/>
            <a:ext cx="4889500" cy="825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213100"/>
            <a:ext cx="4635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表示乒乓球直径的合格范围在 39.95mm 到 40.05mm 之间。即直径最大不超过40.05mm，最小不低于39.95mm。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445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4673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4635500"/>
            <a:ext cx="990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知识点回顾：正负数的实际应用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5080000"/>
            <a:ext cx="1028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正负数是表示相反意义的量的数学工具。在本题中，它不仅能描述方向的变化，还能界定产品规格的“标准值”与“允许误差”范围。这种表示方法广泛应用于工业制造、气象预报、财务统计等领域，帮助我们更精确地描述现实世界中的数量关系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 课堂总结：本节课我们学到了什么？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73200" y="215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28702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相反量：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正负数产生的现实基础，成对出现。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大于0的数为正，加“-”号的数为负。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0的意义：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是正负数的分界点，既非正也非负。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069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159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18100" y="215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核心技能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60900" y="2794000"/>
            <a:ext cx="28702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表征：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用正负数描述盈亏、升降等生活现象。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辨析：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准确区分正数、负数与0的归属。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解决实际生活中的简单计数问题。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51800" y="1905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159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63000" y="215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数学思想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05800" y="2794000"/>
            <a:ext cx="28702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符号化：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用简洁符号表示数的性质，体现简洁美。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抽象概括：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从具体情境提炼出数学模型。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对立统一：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理解正负数相互依存的关系。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270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46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✨ 课堂点睛：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数学源于生活，又服务于生活。正负数是我们量化世界、描述矛盾的有力工具，希望大家能带着数学的眼光去发现生活中的“正负之美”！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175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44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 spc="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46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5555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愿你保持探索的热情，在知识的旅途中步履不停，收获成长与新知。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{"Label":"1","ContentProducer":"001191110102MACQD9K64010000","ProduceID":"7661641875291540411","ReservedCode1":"","ContentPropagator":"","PropagateID":"","ReservedCode2":""}</vt:lpwstr>
  </property>
</Properties>
</file>