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notesSlides/notesSlide1.xml" Type="http://schemas.openxmlformats.org/officeDocument/2006/relationships/notesSlide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33" Target="notesSlides/notesSlide12.xml" Type="http://schemas.openxmlformats.org/officeDocument/2006/relationships/notesSlide"/><Relationship Id="rId34" Target="notesSlides/notesSlide13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大家好，欢迎来到今天的数学课堂。今天我们将一起探索有理数的加减法，这是我们初中数学学习中非常重要的一个基础环节。让我们一起开启这段有趣的数学之旅吧！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好！今天我们将一起探索有理数的加减法。这节课非常关键，它是我们后续学习更复杂运算的基础。通过这节课的学习，大家不仅要会算，更要明白为什么这么算。希望大家能积极思考，踊跃发言，让我们一起攻克这个新挑战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我们的生活中充满了数学问题。大家看这两个例子，一个是物体的运动，一个是计算温差。它们都涉及到了正数和负数。那么，像 (-5) + (-3) 和 3 - (-3) 这样的算式，我们该如何计算呢？这就是我们今天要学习的内容——有理数的加法与减法。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，有理数的加法法则其实就分这几种情况。核心思想是‘先定符号，再算绝对值’。同号的好朋友一起走，符号不变，绝对值相加。异号的两个数相遇，就要比一比谁的‘力气’大（绝对值大），结果的符号就跟谁，然后用大力气减小力气。特别地，相反数相加得0，任何数和0相加都还是它自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还记得我们小学学过的加法交换律和结合律吗？它们在有理数范围内同样适用！这可是我们进行简便运算的法宝。当遇到一串数字相加时，我们可以‘挑挑拣拣’，把容易计算的数先组合在一起，比如正数和正数抱团，负数和负数抱团，或者把一对相反数找出来凑成0，这样计算就会轻松很多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我们来看这几个例题。例1是基础的加法法则应用，大家注意每一步的符号判断和绝对值计算。例2则展示了运算律的威力，通过重新组合，我们把复杂的计算变成了简单的40 + (-60)。大家在做题时，要养成先观察、再计算的好习惯，看看有没有简便方法。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减法看起来有点吓人，但其实它是‘纸老虎’！我们可以把它变成我们熟悉的加法。法则很简单，就两步：一‘变’符号，减号变加号；二‘变’数字，减数变成它的相反数。这样，任何减法问题都转化成了加法问题。比如 5 - 8，就变成了 5 + (-8)，是不是就会算了？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例3是减法法则的直接应用。例4是一个加减混合运算，我们的策略是‘一统到底’，先把所有的减法都变成加法，然后式子就变成了几个正数和负数的和。这时，我们就可以利用运算律来简便计算了。大家注意看，省略括号和加号后，式子看起来更清爽，计算也更方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同学们，在计算时一定要细心。这些错误都是大家非常容易犯的。特别是符号的变化，一定要‘两步走’：运算符号变，数字的性质符号也变。大家在草稿纸上一步步写清楚，不要跳步，就能有效避免这些错误。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理论学习结束，现在是大家大显身手的时候了！请大家拿出练习本，完成这几道题。注意运用我们今天学的法则和运算律。做完的同学可以想一想，你用了哪些简便方法？（教师巡视指导，之后公布答案并讲解重点题目）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节课下来，我们学习了不少新知识。大家看这张图，它清晰地展示了本节课的核心内容。有理数的加减法，核心就是‘加法法则’和‘减法转加法’。而运算律则是我们提高计算效率的利器。希望大家课后能对照这个结构图，好好复习巩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数学的魅力在于发现规律。大家看，数轴上任意两点之间的距离，其实都可以用我们今天学的减法来表示。这个距离就是两个数差的绝对值。这个发现非常有用，它把‘形’（数轴上的距离）和‘数’（有理数的运算）联系了起来。大家可以课后再找几组数验证一下这个猜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今天我们成功地征服了有理数的加减法。大家表现得都非常棒！记住，法则是基础，运算律是技巧。希望大家课后多加练习，做到熟能生巧。今天的作业请大家认真完成，我们下节课再见！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.svg" Type="http://schemas.openxmlformats.org/officeDocument/2006/relationships/image"/><Relationship Id="rId11" Target="../notesSlides/notesSlide2.xml" Type="http://schemas.openxmlformats.org/officeDocument/2006/relationships/notesSlid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Relationship Id="rId5" Target="../media/image15.jpeg" Type="http://schemas.openxmlformats.org/officeDocument/2006/relationships/image"/><Relationship Id="rId6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.svg" Type="http://schemas.openxmlformats.org/officeDocument/2006/relationships/image"/><Relationship Id="rId11" Target="../notesSlides/notesSlide11.xml" Type="http://schemas.openxmlformats.org/officeDocument/2006/relationships/notesSlide"/><Relationship Id="rId2" Target="../media/image4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4.svg" Type="http://schemas.openxmlformats.org/officeDocument/2006/relationships/image"/><Relationship Id="rId11" Target="../media/image45.png" Type="http://schemas.openxmlformats.org/officeDocument/2006/relationships/image"/><Relationship Id="rId12" Target="../media/image46.svg" Type="http://schemas.openxmlformats.org/officeDocument/2006/relationships/image"/><Relationship Id="rId13" Target="../notesSlides/notesSlide13.xml" Type="http://schemas.openxmlformats.org/officeDocument/2006/relationships/notesSlide"/><Relationship Id="rId14" Target="../media/image47.png" Type="http://schemas.openxmlformats.org/officeDocument/2006/relationships/image"/><Relationship Id="rId2" Target="../media/image36.jpeg" Type="http://schemas.openxmlformats.org/officeDocument/2006/relationships/imag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media/image4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922000" y="-508000"/>
            <a:ext cx="1524000" cy="1524000"/>
          </a:xfrm>
          <a:prstGeom prst="ellipse">
            <a:avLst/>
          </a:prstGeom>
          <a:solidFill>
            <a:srgbClr val="4ADE80">
              <a:alpha val="15000"/>
            </a:srgbClr>
          </a:solidFill>
          <a:ln cmpd="sng" cap="flat">
            <a:solidFill>
              <a:srgbClr val="2EC565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858000" y="2286000"/>
            <a:ext cx="5080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有理数的加法与减法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858000" y="4191000"/>
            <a:ext cx="482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20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人教版数学七年级上册 · 第二章 第一节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858000" y="5270500"/>
            <a:ext cx="15240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cmpd="sng" cap="flat">
            <a:solidFill>
              <a:srgbClr val="2EC56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176000" y="5715000"/>
            <a:ext cx="6096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本节课，我们要学会什么？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49400" y="2032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理解法则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掌握有理数的加法与减法法则，明确同号相加、异号相加及与0相加的规则。能够准确判断结果的符号，并进行规范的数值计算，夯实运算基础。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778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032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010400" y="2032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掌握运算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540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理解加法交换律和结合律在有理数范围内的适用性。学会运用“凑整”、“同号结合”等简便运算技巧，将复杂的连加运算化繁为简，提升计算效率。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064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318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49400" y="4318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学会转化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826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理解“减去一个数等于加上这个数的相反数”的核心原理。能将加减混合运算统一转化为加法运算，熟练书写省略加号和括号的代数和形式，并准确计算。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4064000"/>
            <a:ext cx="5207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3180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010400" y="43180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04 联系实际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4826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能将实际生活中的盈亏、海拔升降、温度变化、行程距离等问题，抽象为有理数加减法的数学模型，运用所学知识解决简单的实际问题，感受数学的应用价值。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生活中的有理数运算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ECFDF5">
              <a:alpha val="85000"/>
            </a:srgbClr>
          </a:solidFill>
          <a:ln w="12700" cmpd="sng" cap="flat">
            <a:solidFill>
              <a:srgbClr val="86EFA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7145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01 物体向右运动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rcRect l="1051" r="1051" t="0" b="0"/>
          <a:stretch>
            <a:fillRect/>
          </a:stretch>
        </p:blipFill>
        <p:spPr>
          <a:xfrm rot="0" flipH="false" flipV="false">
            <a:off x="1143000" y="2286000"/>
            <a:ext cx="2667000" cy="177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7" id="7"/>
          <p:cNvSpPr/>
          <p:nvPr/>
        </p:nvSpPr>
        <p:spPr>
          <a:xfrm rot="0" flipH="false" flipV="false">
            <a:off x="952500" y="4191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规定向右为正方向，物体先向右移动5米，随后继续向右移动3米。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5080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计算：5 + 3 = 8（米）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81500" y="1524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ECFDF5">
              <a:alpha val="85000"/>
            </a:srgbClr>
          </a:solidFill>
          <a:ln w="12700" cmpd="sng" cap="flat">
            <a:solidFill>
              <a:srgbClr val="86EFA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72000" y="17145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02 物体向左运动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rcRect l="38402" r="38402" t="0" b="0"/>
          <a:stretch>
            <a:fillRect/>
          </a:stretch>
        </p:blipFill>
        <p:spPr>
          <a:xfrm rot="0" flipH="false" flipV="false">
            <a:off x="4762500" y="2286000"/>
            <a:ext cx="2667000" cy="177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4572000" y="4191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规定向左为负方向，物体先向左移动5米，随后继续向左移动3米。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72000" y="5080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计算：(-5) + (-3) = -8（米）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01000" y="1524000"/>
            <a:ext cx="3429000" cy="3937000"/>
          </a:xfrm>
          <a:prstGeom prst="roundRect">
            <a:avLst>
              <a:gd name="adj" fmla="val 0"/>
            </a:avLst>
          </a:prstGeom>
          <a:solidFill>
            <a:srgbClr val="ECFDF5">
              <a:alpha val="85000"/>
            </a:srgbClr>
          </a:solidFill>
          <a:ln w="12700" cmpd="sng" cap="flat">
            <a:solidFill>
              <a:srgbClr val="86EFA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91500" y="1714500"/>
            <a:ext cx="317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03 计算当日温差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rcRect l="0" r="0" t="41596" b="41596"/>
          <a:stretch>
            <a:fillRect/>
          </a:stretch>
        </p:blipFill>
        <p:spPr>
          <a:xfrm rot="0" flipH="false" flipV="false">
            <a:off x="8382000" y="2286000"/>
            <a:ext cx="2667000" cy="177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7" id="17"/>
          <p:cNvSpPr/>
          <p:nvPr/>
        </p:nvSpPr>
        <p:spPr>
          <a:xfrm rot="0" flipH="false" flipV="false">
            <a:off x="8191500" y="41910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北京某日气温范围为 -3℃ 至 3℃，温差即最高气温减去最低气温。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91500" y="5080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思考：3 - (-3) = ？（℃）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7785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89000" y="5943600"/>
            <a:ext cx="1041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核心思考：从这些生活实例中，你能总结出有理数加减法的符号规律吗？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核心概念讲解（一）：有理数加法法则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2032000"/>
            <a:ext cx="31242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01 同号两数相加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3974" flipH="false" flipV="false">
            <a:off x="889013" y="25971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889000" y="2794000"/>
            <a:ext cx="3124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法则：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取相同的符号，并把绝对值相加。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3683000"/>
            <a:ext cx="3124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✅ (+5) + (+3) = +8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✅ (-5) + (-3) = -8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4889500"/>
            <a:ext cx="3124200" cy="825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cmpd="sng" cap="flat">
            <a:solidFill>
              <a:srgbClr val="2EC565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5016500"/>
            <a:ext cx="29972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记忆口诀：</a:t>
            </a:r>
            <a:r>
              <a:rPr lang="en-US" b="false" i="false" strike="noStrike" u="none" sz="13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同号相加号不变，绝对值加在一起算。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069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33900" y="2032000"/>
            <a:ext cx="31242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02 异号两数相加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3974" flipH="false" flipV="false">
            <a:off x="4533913" y="25971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533900" y="2794000"/>
            <a:ext cx="3124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法则：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取绝对值较大数的符号，用大绝对值减小绝对值。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533900" y="3683000"/>
            <a:ext cx="3124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✅ (-3) + 5 = +2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✅ 3 + (-5) = -2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533900" y="4889500"/>
            <a:ext cx="3124200" cy="825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cmpd="sng" cap="flat">
            <a:solidFill>
              <a:srgbClr val="2EC565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597400" y="5016500"/>
            <a:ext cx="29972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记忆口诀：</a:t>
            </a:r>
            <a:r>
              <a:rPr lang="en-US" b="false" i="false" strike="noStrike" u="none" sz="13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异号相加看大小，大减小后符号跟着大的跑。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518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78800" y="2032000"/>
            <a:ext cx="31242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03 特殊情况速记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-13974" flipH="false" flipV="false">
            <a:off x="8178813" y="2597150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8178800" y="2794000"/>
            <a:ext cx="3124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法则：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互为相反数和为0；任何数与0相加仍得原数。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178800" y="3683000"/>
            <a:ext cx="3124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✅ 5 + (-5) = 0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✅ (-5) + 0 = -5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178800" y="4889500"/>
            <a:ext cx="3124200" cy="825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cmpd="sng" cap="flat">
            <a:solidFill>
              <a:srgbClr val="2EC565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242300" y="5016500"/>
            <a:ext cx="29972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核心思想：</a:t>
            </a:r>
            <a:r>
              <a:rPr lang="en-US" b="false" i="false" strike="noStrike" u="none" sz="1300">
                <a:solidFill>
                  <a:srgbClr val="166534"/>
                </a:solidFill>
                <a:latin typeface="Noto Sans SC"/>
                <a:ea typeface="Noto Sans SC"/>
                <a:cs typeface="Noto Sans SC"/>
                <a:sym typeface="Noto Sans SC"/>
              </a:rPr>
              <a:t>先定符号，再算数值；0是加法中的“隐形人”。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核心概念讲解（二）：加法运算律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70500" cy="2730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841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加法交换律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286000"/>
            <a:ext cx="488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两个数相加，交换加数的位置，和不变。这一规律打破了运算顺序的限制，是有理数加法中最基础的交换法则。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984500"/>
            <a:ext cx="4889500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984500"/>
            <a:ext cx="4889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公式：a + b = b + a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3581400"/>
            <a:ext cx="4889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示例：30 + (-20) = (-20) + 30 = 10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交换位置后，最终的计算结果保持完全一致。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159500" y="1651000"/>
            <a:ext cx="5270500" cy="2730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1841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加法结合律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50000" y="2286000"/>
            <a:ext cx="48895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三个数相加，先把前两个数相加，或者先把后两个数相加，和不变。它允许我们根据计算的便捷性自由调整运算优先级。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50000" y="2984500"/>
            <a:ext cx="4889500" cy="4064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2984500"/>
            <a:ext cx="4889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公式：(a + b) + c = a + (b + c)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3581400"/>
            <a:ext cx="48895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示例：[8 + (-5)] + (-4) = 8 + [(-5) + (-4)] = -1</a:t>
            </a: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无论先计算哪两个数，最终结果都不会改变。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8260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ECFCF1">
              <a:alpha val="85000"/>
            </a:srgbClr>
          </a:solidFill>
          <a:ln w="12700" cmpd="sng" cap="flat">
            <a:solidFill>
              <a:srgbClr val="86EFAC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50292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549400" y="5029200"/>
            <a:ext cx="952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运算律的“简便运算”心法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5511800"/>
            <a:ext cx="10160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面对多个有理数连加时，巧用交换律和结合律进行“分组凑整”：优先将</a:t>
            </a:r>
            <a:r>
              <a:rPr lang="en-US" b="true" i="false" strike="noStrike" u="none" sz="14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正数与正数、负数与负数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分别结合求和，或快速找出</a:t>
            </a:r>
            <a:r>
              <a:rPr lang="en-US" b="true" i="false" strike="noStrike" u="none" sz="14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互为相反数（和为0）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的数对。这种方法能化繁为简，大幅减少计算量，提升解题速度与准确率。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例题精讲（一）：加法法则与运算律的应用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基础法则应用 · 例1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540000"/>
            <a:ext cx="4699000" cy="698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26416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① 同号相加：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(-3) + (-9) = -(3+9) = -12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302000"/>
            <a:ext cx="4699000" cy="698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34036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② 异号相加：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12 + (-8) = +(12-8) = 4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064000"/>
            <a:ext cx="4699000" cy="698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143000" y="41656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③ 小数运算：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(-4.7) + 3.9 = -(4.7-3.9) = -0.8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4889500"/>
            <a:ext cx="4699000" cy="6985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143000" y="49911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④ 互为相反数：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(-1/2) + (+1/2) = 0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1905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运算律巧算 · 例2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25400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计算：16 + (-25) + 24 + (-35)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3111500"/>
            <a:ext cx="4699000" cy="508000"/>
          </a:xfrm>
          <a:prstGeom prst="roundRect">
            <a:avLst>
              <a:gd name="adj" fmla="val 0"/>
            </a:avLst>
          </a:prstGeom>
          <a:solidFill>
            <a:srgbClr val="FEF3C7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604000" y="32131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💡 思路点拨：</a:t>
            </a:r>
            <a:r>
              <a:rPr lang="en-US" b="false" i="false" strike="noStrike" u="none" sz="1400">
                <a:solidFill>
                  <a:srgbClr val="92400E"/>
                </a:solidFill>
                <a:latin typeface="Noto Sans SC"/>
                <a:ea typeface="Noto Sans SC"/>
                <a:cs typeface="Noto Sans SC"/>
                <a:sym typeface="Noto Sans SC"/>
              </a:rPr>
              <a:t>运用加法交换律与结合律，凑整简化计算。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3873500"/>
            <a:ext cx="4699000" cy="1714500"/>
          </a:xfrm>
          <a:prstGeom prst="roundRect">
            <a:avLst>
              <a:gd name="adj" fmla="val 0"/>
            </a:avLst>
          </a:prstGeom>
          <a:solidFill>
            <a:srgbClr val="F0FDF4">
              <a:alpha val="100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04000" y="4000500"/>
            <a:ext cx="4445000" cy="158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(16 + 24) + [(-25) + (-35)]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= 40 + (-60)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= -20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核心概念讲解（三）：有理数减法法则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685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逆向思考：减法的本质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603500"/>
            <a:ext cx="4699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思考：如何计算 3 - (-3) 的结果？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1115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根据“减法是加法的逆运算”，寻找一个数 x 使得 x + (-3) = 3。显然 x = 6，因此 3 - (-3) = 6。同时我们知道：3 + (+3) = 6。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445000"/>
            <a:ext cx="4699000" cy="12065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43000" y="4597400"/>
            <a:ext cx="4445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核心发现：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3 - (-3) = 3 + (+3) = 6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减去一个负数，等于加上它的相反数。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1651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19685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法则总结与运算步骤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2603500"/>
            <a:ext cx="4699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减去一个数，等于加上这个数的</a:t>
            </a:r>
            <a:r>
              <a:rPr lang="en-US" b="true" i="false" strike="noStrike" u="none" sz="1500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相反数</a:t>
            </a: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。这是将减法转化为加法的关键。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3429000"/>
            <a:ext cx="4699000" cy="558800"/>
          </a:xfrm>
          <a:prstGeom prst="roundRect">
            <a:avLst>
              <a:gd name="adj" fmla="val 0"/>
            </a:avLst>
          </a:prstGeom>
          <a:solidFill>
            <a:srgbClr val="37415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3530600"/>
            <a:ext cx="4699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a - b = a + (-b)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4381500"/>
            <a:ext cx="14732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4508500"/>
            <a:ext cx="1473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1. 变号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减号变加号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改变运算符号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89900" y="4381500"/>
            <a:ext cx="14732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89900" y="4508500"/>
            <a:ext cx="1473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2. 变相反数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减数变其相反数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改变数字符号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702800" y="4381500"/>
            <a:ext cx="1473200" cy="1143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702800" y="4508500"/>
            <a:ext cx="14732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3. 计算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marL="0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按加法法则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得出最终结果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例题精讲（二）：减法与加减混合运算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714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基础减法：变减为加，符号转换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222500"/>
            <a:ext cx="482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</a:t>
            </a: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 (-3) - (-5)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解析：</a:t>
            </a: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(-3) + (+5) （减法法则：减变加，负变正）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= +(5 - 3) =</a:t>
            </a:r>
            <a:r>
              <a:rPr lang="en-US" b="true" i="false" strike="noStrike" u="none" sz="15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（异号相加，取大值符号再相减）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524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13500" y="17145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混合运算：一统到底，凑整简便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13500" y="2222500"/>
            <a:ext cx="482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</a:t>
            </a: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 (-20) + (+3) - (-5) - (+7)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解析：</a:t>
            </a: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原式 = -20 + 3 + 5 - 7 （省略括号，统一加法）</a:t>
            </a:r>
            <a: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5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= (-20 - 7) + (3 + 5) = -27 + 8 =</a:t>
            </a:r>
            <a:r>
              <a:rPr lang="en-US" b="true" i="false" strike="noStrike" u="none" sz="15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-19</a:t>
            </a: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（结合律凑整）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0005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4216400"/>
            <a:ext cx="279400" cy="279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333500" y="41910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核心思路：减法统一为加法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52500" y="4699000"/>
            <a:ext cx="4826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口诀“减变加，负变正”是解题关键。将所有减法转化为加法后，式子就变成了“代数和”的形式。此时利用加法交换律和结合律，把正数与正数结合、负数与负数结合，能有效避免符号错误并简化计算。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40005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4ADE80">
              <a:alpha val="10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13500" y="4216400"/>
            <a:ext cx="279400" cy="279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794500" y="41910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读法小贴士：理解式子的双重身份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13500" y="4699000"/>
            <a:ext cx="4826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式子 -20 + 3 + 5 - 7 有两种读法：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①</a:t>
            </a: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运算视角：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读作“负20加3加5减7”；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②</a:t>
            </a:r>
            <a:r>
              <a:rPr lang="en-US" b="tru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本质视角：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读作“负20、正3、正5、负7的和”。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第二种读法更能体现“统一加法”的数学本质，帮助我们更好地运用运算律。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易错点提醒：小心！这些“陷阱”很常见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841500"/>
            <a:ext cx="488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符号看错：加减不分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286000"/>
            <a:ext cx="4889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错：3 - 5 = 2（误把减号当加号）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对：3 - 5 = 3 + (-5) = -2（转化为代数和）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159500" y="1651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1841500"/>
            <a:ext cx="488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减法去括号：忘记变号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350000" y="2286000"/>
            <a:ext cx="4889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错：7 - (-4) = 7 - 4 = 3（只变运算，未变数）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对：7 - (-4) = 7 + (+4) = 11（减去负数等于加正数）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064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4254500"/>
            <a:ext cx="488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多重符号化简：规则混淆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4699000"/>
            <a:ext cx="4889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错：-(-5) = -5 或 -(+5) = +5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对：同号得正，异号得负 → -(-5)=+5，-(+5)=-5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159500" y="4064000"/>
            <a:ext cx="5270500" cy="2032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50000" y="4254500"/>
            <a:ext cx="4889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04 运算顺序：盲目凑整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4699000"/>
            <a:ext cx="48895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❌ 错：跳步计算，忽略运算优先级或从左到右规则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✅ 对：无括号时，严格从左到右；有括号先算括号内，再算乘方，最后算加减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课堂练习：小试牛刀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2006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基础口算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211" flipH="false" flipV="false">
            <a:off x="1016014" y="2597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794000"/>
            <a:ext cx="2997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 (-4) + (-6) = ?</a:t>
            </a: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2. 4 + (-6) = ?</a:t>
            </a: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3. (-4) + 4 = ?</a:t>
            </a: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4. 0 - (-6) = ?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5016500"/>
            <a:ext cx="2870200" cy="635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79500" y="5143500"/>
            <a:ext cx="2743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小贴士：注意同号与异号两数相加的符号法则哦！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942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48200" y="2032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5029200" y="2006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进阶计算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5211" flipH="false" flipV="false">
            <a:off x="4648214" y="2597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4648200" y="2794000"/>
            <a:ext cx="2997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 15 + (-22)</a:t>
            </a: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2. (-0.9) + 1.5</a:t>
            </a: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3. (-8) - (-8)</a:t>
            </a: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4. 7.2 - (-4.8)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48200" y="5016500"/>
            <a:ext cx="2870200" cy="635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711700" y="5143500"/>
            <a:ext cx="2743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⚡ 关键点：减去一个负数，等于加上它的相反数。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264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280400" y="20320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8661400" y="20066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03 混合挑战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15211" flipH="false" flipV="false">
            <a:off x="8280414" y="25971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8280400" y="2794000"/>
            <a:ext cx="29972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 23 + (-17) + 6 + (-22)</a:t>
            </a: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2. (-7) - (+5) + (-4) - (-10)</a:t>
            </a: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3. 尝试用简便方法计算上题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80400" y="5016500"/>
            <a:ext cx="2870200" cy="635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343900" y="5143500"/>
            <a:ext cx="2743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✨ 挑战：运用加法交换律和结合律，凑整简化计算。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本节课知识结构图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066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98600" y="20066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01 有理数加法法则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同号相加：取相同符号，绝对值相加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异号相加：取绝对值较大数的符号，用大减小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特殊情形：加0得原数，互为相反数相加和为0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006600"/>
            <a:ext cx="355600" cy="355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59600" y="20066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02 有理数减法法则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5400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核心思想：减法转化为加法，变“减”为“加”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公式表达：a - b = a + (-b)（减一个数=加其相反数）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关键步骤：改变符号，注意减数的符号变化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3561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498600" y="43561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03 运算律：简便计算的钥匙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8895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加法交换律：a + b = b + a（位置互换，和不变）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加法结合律：(a+b)+c = a+(b+c)（调整运算顺序）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应用技巧：凑整（如凑整十、整百）、凑零简化计算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4ADE80">
              <a:alpha val="8000"/>
            </a:srgbClr>
          </a:solidFill>
          <a:ln w="12700" cmpd="sng" cap="flat">
            <a:solidFill>
              <a:srgbClr val="4ADE8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356100"/>
            <a:ext cx="355600" cy="355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959600" y="43561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04 加减混合运算：统一与简化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4889500"/>
            <a:ext cx="4699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步骤一：统一成加法算式，省略加号和括号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步骤二：利用运算律重新组合，优先凑整或凑零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避坑指南：时刻关注每个数的符号，避免符号错误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拓展思考：挑战一下，数轴上的秘密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669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1714500"/>
            <a:ext cx="965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在数轴上，点A表示数</a:t>
            </a:r>
            <a:r>
              <a:rPr lang="en-US" b="tru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，点B表示数</a:t>
            </a:r>
            <a:r>
              <a:rPr lang="en-US" b="tru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b</a:t>
            </a: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。观察下方几组数值，你能找出点A与点B之间的距离，和数 a、b 之间隐藏的数量关系吗？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921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92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3111500"/>
            <a:ext cx="317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01. 同号正整数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设定：点A为 2，点B为 6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计算：6 - 2 =</a:t>
            </a:r>
            <a:r>
              <a:rPr lang="en-US" b="true" i="false" strike="noStrike" u="none" sz="1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（单位长度）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81500" y="2921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1500" y="292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72000" y="3111500"/>
            <a:ext cx="317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02. 异号整数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设定：点A为 2，点B为 -6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计算：2 - (-6) =</a:t>
            </a:r>
            <a:r>
              <a:rPr lang="en-US" b="true" i="false" strike="noStrike" u="none" sz="1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8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（单位长度）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01000" y="2921000"/>
            <a:ext cx="3429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01000" y="2921000"/>
            <a:ext cx="3429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91500" y="3111500"/>
            <a:ext cx="3175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03. 同号负整数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设定：点A为 -2，点B为 -6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计算：|-2 - (-6)| =</a:t>
            </a:r>
            <a:r>
              <a:rPr lang="en-US" b="true" i="false" strike="noStrike" u="none" sz="14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（单位长度）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0165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4ADE80">
              <a:alpha val="1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5410200"/>
            <a:ext cx="609600" cy="609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841500" y="5207000"/>
            <a:ext cx="9271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💡 终极发现：数轴距离公式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无论两点在数轴上的什么位置，它们之间的距离等于两数之差的</a:t>
            </a:r>
            <a:r>
              <a:rPr lang="en-US" b="tru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绝对值</a:t>
            </a:r>
            <a:r>
              <a:rPr lang="en-US" b="false" i="false" strike="noStrike" u="none" sz="15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20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AB 距离 = |a - b|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总结与作业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01 本课重点回顾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291" flipH="false" flipV="false">
            <a:off x="1016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921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460500" y="28956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一个核心思想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利用“减去一个数等于加上它的相反数”，将减法运算统一转化为加法运算，化繁为简。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873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460500" y="38481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两个关键法则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掌握有理数加法法则（符号与绝对值的判定）及减法法则，这是计算的基石。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826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460500" y="48006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两大运算律优化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灵活运用加法交换律和结合律，对正负数进行凑整或归类，简化混合运算。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778000"/>
            <a:ext cx="5207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2032000"/>
            <a:ext cx="469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4ADE80"/>
                </a:solidFill>
                <a:latin typeface="Noto Sans SC"/>
                <a:ea typeface="Noto Sans SC"/>
                <a:cs typeface="Noto Sans SC"/>
                <a:sym typeface="Noto Sans SC"/>
              </a:rPr>
              <a:t>02 课后作业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9291" flipH="false" flipV="false">
            <a:off x="6477009" y="2660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4ADE80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2921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921500" y="2895600"/>
            <a:ext cx="457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基础必做题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认真完成教材第24页至25页的《习题2.1》，注意书写规范，验算结果。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77000" y="4064000"/>
            <a:ext cx="4699000" cy="1460500"/>
          </a:xfrm>
          <a:prstGeom prst="roundRect">
            <a:avLst>
              <a:gd name="adj" fmla="val 0"/>
            </a:avLst>
          </a:prstGeom>
          <a:solidFill>
            <a:srgbClr val="4ADE80">
              <a:alpha val="18000"/>
            </a:srgbClr>
          </a:solidFill>
          <a:ln cmpd="sng" cap="flat">
            <a:solidFill>
              <a:srgbClr val="2EC565">
                <a:alpha val="1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667500" y="4254500"/>
            <a:ext cx="279400" cy="279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7048500" y="4229100"/>
            <a:ext cx="4191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15803D"/>
                </a:solidFill>
                <a:latin typeface="Noto Sans SC"/>
                <a:ea typeface="Noto Sans SC"/>
                <a:cs typeface="Noto Sans SC"/>
                <a:sym typeface="Noto Sans SC"/>
              </a:rPr>
              <a:t>数学与生活 · 思考题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结合生活实例（如温度、收支、海拔等），尝试解释算式 (-3) + 2 = -1 的实际意义，记录你的创意想法。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62000" y="59944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true" strike="noStrike" u="none" sz="1600">
                <a:solidFill>
                  <a:srgbClr val="374151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—— 熟能生巧，保持好奇心，我们下节课见！ ——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{"Label":"1","ContentProducer":"001191110102MACQD9K64010000","ProduceID":"7662419384275962830","ReservedCode1":"","ContentPropagator":"","PropagateID":"","ReservedCode2":""}</vt:lpwstr>
  </property>
</Properties>
</file>