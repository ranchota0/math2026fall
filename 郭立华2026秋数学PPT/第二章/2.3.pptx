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（面带微笑，声音亲切）“同学们好！今天我们来学习第二章《有理数的运算》中的一个非常重要且有趣的新知识——有理数的乘方。相信通过这节课的学习，大家会发现数学世界里一种更简洁、更强大的运算方式。让我们一起开始今天的数学之旅吧！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上课之前，我们先明确一下今天的学习目标。这节课我们有四个核心任务。首先，我们要理解什么是‘乘方’，以及它的几个小伙伴——底数、指数和幂。其次，我们要学会如何进行乘方运算，尤其是处理带负数的乘方。第三，也是非常重要的一点，当加减乘除和乘方混在一起时，我们要知道先算什么，后算什么。最后，我们会接触两个非常有用的工具——科学记数法和近似数。大家有信心掌握它们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我们先来解决两个简单的几何问题。看这个边长为2cm的正方形，它的面积怎么算？对，是2乘以2。再看这个棱长为2cm的正方体，它的体积呢？没错，是2乘以2再乘以2。大家仔细观察这两个算式，它们有什么共同点呀？（等待学生回答）说得非常好！它们都是几个相同的数在相乘。当相同的乘数越来越多时，这样写是不是有点麻烦呢？数学家们也想到了这一点，于是发明了一种更简洁的表示方法，这就是我们今天要学习的‘乘方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刚才我们看到的 2 × 2，为了简便，我们记作 2²，读作‘2的平方’或‘2的2次方’。同样，2 × 2 × 2 记作 2³，读作‘2的立方’或‘2的3次方’。像这样，求n个相同因数a的积的运算，就叫做‘乘方’。乘方的结果，我们给它一个名字，叫做‘幂’。大家看这个图，在 aⁿ 这个形式里，下面的 a 是‘底数’，就像房子的地基；右上角的 n 是‘指数’，就像指示我们要重复多少次。所以，aⁿ 就读作‘a的n次方’或‘a的n次幂’。特别注意，任何一个数，比如5，我们都可以把它看作是它自己的1次方，只是指数1通常省略不写。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动手算一算这几个例子。第一题，(-4)³，表示3个-4相乘。负负得正，再乘一个-4，结果就是-64。第二题，(-2)⁴，4个-2相乘，两两相乘都是正数，最后结果是16。第三题，(-2/3)³，3个-2/3相乘，结果是-8/27。大家观察这三个结果，特别是符号，你发现了什么规律吗？（引导学生）对！当指数是奇数的时候，负数的幂是负数；当指数是偶数的时候，负数的幂是正数。这就是‘奇负偶正’的规律。记住这个规律，能帮助我们快速判断结果的符号。当然，正数的任何次幂都是正数，0的任何正整数次幂都是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同学们，乘方运算中有两个非常重要的易错点，大家一定要睁大眼睛看清楚。第一个，(-2)⁴ 和 -2⁴ 一样吗？（停顿）不一样！(-2)⁴ 的底数是-2，是4个-2相乘，结果是正数16。而 -2⁴ 的底数其实是2，它表示的是2的4次方的相反数，结果是-16。有没有括号，天差地别！第二个易错点是混合运算的顺序。记住这个口诀：‘先乘方，再乘除，最后加减’。如果有括号，那就先算括号里面的。顺序千万不能错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好，我们来看一个混合运算的例子。这个式子里面有乘方、乘法、减法和加法。根据我们刚才说的运算顺序，第一步应该先算什么？（引导学生回答：乘方）对，先算 (-3)³，等于-27。第二步，算乘法，2 × (-27) 等于-54，-4 × (-3) 等于12。现在式子变成了 -54 + 12 + 15。最后一步，从左到右进行加减运算，结果是-27。大家看，只要我们遵循运算顺序，一步一步来，再复杂的混合运算也能迎刃而解。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轮到大家自己动手了！这里有几道练习题，请同学们在练习本上完成。注意运算顺序和符号的处理。做完的同学可以举手示意。（等待学生完成）好，我们一起来对一下答案。第一题...第二题...大家都做对了吗？对于最后一道混合运算题，谁愿意到黑板上来展示一下你的解题过程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节课下来，我们学习了不少新知识。现在我们一起来梳理一下。今天我们学习了有理数的乘方，知道了它的定义、底数、指数和幂的概念。最重要的是，我们掌握了乘方运算的符号法则，特别是‘奇负偶正’。同时，我们还明确了在混合运算中，一定要遵循‘先乘方，再乘除，最后加减’的顺序。这些知识点都非常重要，希望大家课后好好复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数学不仅仅是计算，更是发现规律的科学。这里有三行数，它们之间隐藏着有趣的秘密。大家仔细观察，第①行的数是怎么变化的？（引导学生发现是(-2)¹, (-2)², (-2)³...）那么第②行和第③行的数和第①行又有什么关系呢？（引导学生发现②是①+2，③是①×1/2）。如果让你找出每行的第10个数并求和，你会吗？这个问题我们可以课后继续思考和讨论，看看谁能最先揭开这个数字谜题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好了，同学们，今天的数学课就要结束了。我们一起认识了‘乘方’这个新朋友，学会了它的计算方法，还掌握了混合运算的顺序。希望大家课后能认真完成作业，巩固今天所学的知识。我们下节课再见！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jpeg" Type="http://schemas.openxmlformats.org/officeDocument/2006/relationships/image"/><Relationship Id="rId6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svg" Type="http://schemas.openxmlformats.org/officeDocument/2006/relationships/image"/><Relationship Id="rId11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svg" Type="http://schemas.openxmlformats.org/officeDocument/2006/relationships/image"/><Relationship Id="rId11" Target="../notesSlides/notesSlide11.xml" Type="http://schemas.openxmlformats.org/officeDocument/2006/relationships/notesSlide"/><Relationship Id="rId12" Target="../media/image29.png" Type="http://schemas.openxmlformats.org/officeDocument/2006/relationships/image"/><Relationship Id="rId2" Target="../media/image2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-762000"/>
            <a:ext cx="2286000" cy="2286000"/>
          </a:xfrm>
          <a:prstGeom prst="ellipse">
            <a:avLst/>
          </a:prstGeom>
          <a:solidFill>
            <a:srgbClr val="4ADE80">
              <a:alpha val="18000"/>
            </a:srgbClr>
          </a:solidFill>
          <a:ln cmpd="sng" cap="flat">
            <a:solidFill>
              <a:srgbClr val="2EC565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508000" y="5461000"/>
            <a:ext cx="1524000" cy="1524000"/>
          </a:xfrm>
          <a:prstGeom prst="ellipse">
            <a:avLst/>
          </a:prstGeom>
          <a:solidFill>
            <a:srgbClr val="4ADE80">
              <a:alpha val="12000"/>
            </a:srgbClr>
          </a:solidFill>
          <a:ln cmpd="sng" cap="flat">
            <a:solidFill>
              <a:srgbClr val="2EC565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第二章 有理数的运算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556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2.3 有理数的乘方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889500"/>
            <a:ext cx="952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从重复的乘法到简洁的指数表达，探索幂运算的核心逻辑，</a:t>
            </a:r>
            <a:r>
              <a:rPr lang="en-US" b="fals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让复杂的数值计算变得更加高效与清晰。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60325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七年级数学上册 | 人民教育出版社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本节课，我们要掌握什么？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57400"/>
            <a:ext cx="533400" cy="533400"/>
          </a:xfrm>
          <a:prstGeom prst="ellipse">
            <a:avLst/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57400"/>
            <a:ext cx="5334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52600" y="2057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理解乘方的意义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52600" y="2603500"/>
            <a:ext cx="400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深入理解乘方的定义，清晰辨识“幂、底数、指数”这三个核心概念，建立对乘方运算的直观认知，为后续学习打好理论基础。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2057400"/>
            <a:ext cx="533400" cy="533400"/>
          </a:xfrm>
          <a:prstGeom prst="ellipse">
            <a:avLst/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057400"/>
            <a:ext cx="5334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213600" y="2057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掌握乘方运算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213600" y="2603500"/>
            <a:ext cx="400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熟练进行有理数的乘方运算，重点攻克“负数的幂”这一易错点，理解符号与指数奇偶性的关系，确保运算结果的准确性。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064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343400"/>
            <a:ext cx="533400" cy="533400"/>
          </a:xfrm>
          <a:prstGeom prst="ellipse">
            <a:avLst/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343400"/>
            <a:ext cx="5334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752600" y="4343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掌握混合运算顺序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752600" y="4889500"/>
            <a:ext cx="400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牢记“先乘方，再乘除，最后加减”的运算法则，正确处理括号与运算优先级的关系，能够规范、准确地完成复杂的混合运算。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4064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4343400"/>
            <a:ext cx="533400" cy="533400"/>
          </a:xfrm>
          <a:prstGeom prst="ellipse">
            <a:avLst/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4343400"/>
            <a:ext cx="5334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213600" y="4343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了解科学记数法与近似数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213600" y="4889500"/>
            <a:ext cx="400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初步认识科学记数法的规范表示形式，学会用它表示大数或小数；理解近似数的含义，掌握根据实际需求取近似值的方法。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大家来帮忙算一算！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情境一：正方形的面积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2286000"/>
            <a:ext cx="1778000" cy="177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2921000" y="2286000"/>
            <a:ext cx="28575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已知边长为 2cm，面积计算如下：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 × 2 = 4 (cm²)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这是两个相同的数连续相乘。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524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1714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情境二：正方体的体积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4084" r="4084" t="0" b="0"/>
          <a:stretch>
            <a:fillRect/>
          </a:stretch>
        </p:blipFill>
        <p:spPr>
          <a:xfrm rot="0" flipH="false" flipV="false">
            <a:off x="6477000" y="2286000"/>
            <a:ext cx="1778000" cy="177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8382000" y="2286000"/>
            <a:ext cx="28575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已知棱长为 2cm，体积计算如下：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 × 2 × 2 = 8 (cm³)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这是三个相同的数连续相乘。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143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53086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思考时刻：观察这两个算式，它们有什么共同的特点？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它们都是由</a:t>
            </a:r>
            <a:r>
              <a:rPr lang="en-US" b="true" i="false" strike="noStrike" u="none" sz="140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相同的数字</a:t>
            </a:r>
            <a:r>
              <a:rPr lang="en-US" b="false" i="false" strike="noStrike" u="none" sz="140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进行连续的乘法运算。当这样的乘数越来越多时，我们需要一种更简洁的方式来表达！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乘方的世界：aⁿ 的秘密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58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核心定义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7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286000"/>
            <a:ext cx="5334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求n个相同因数a的积的运算，叫做</a:t>
            </a: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乘方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，其结果称为</a:t>
            </a: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。在形式</a:t>
            </a:r>
            <a:r>
              <a:rPr lang="en-US" b="false" i="false" strike="noStrike" u="none" sz="14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aⁿ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中：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底数 (a)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：代表相同的因数，是运算的基础；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指数 (n)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：代表相同因数的个数，决定运算的次数。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810000"/>
            <a:ext cx="558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读法示例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318000"/>
            <a:ext cx="2730500" cy="952500"/>
          </a:xfrm>
          <a:prstGeom prst="roundRect">
            <a:avLst>
              <a:gd name="adj" fmla="val 0"/>
            </a:avLst>
          </a:prstGeom>
          <a:solidFill>
            <a:srgbClr val="EFF6FF">
              <a:alpha val="75000"/>
            </a:srgbClr>
          </a:solidFill>
          <a:ln w="12700" cmpd="sng" cap="flat">
            <a:solidFill>
              <a:srgbClr val="93C5FD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63600" y="4419600"/>
            <a:ext cx="2603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2² / 2³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特殊称谓：读作“2的平方”或“2的立方”，是生活中常用的乘方形式。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19500" y="4318000"/>
            <a:ext cx="2730500" cy="952500"/>
          </a:xfrm>
          <a:prstGeom prst="roundRect">
            <a:avLst>
              <a:gd name="adj" fmla="val 0"/>
            </a:avLst>
          </a:prstGeom>
          <a:solidFill>
            <a:srgbClr val="EFF6FF">
              <a:alpha val="75000"/>
            </a:srgbClr>
          </a:solidFill>
          <a:ln w="12700" cmpd="sng" cap="flat">
            <a:solidFill>
              <a:srgbClr val="93C5FD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721100" y="4419600"/>
            <a:ext cx="2603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(-2)⁴ / (-2/5)⁵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通用读法：“底数的n次方”，注意负数和分数需加括号以明确范围。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461000"/>
            <a:ext cx="5588000" cy="698500"/>
          </a:xfrm>
          <a:prstGeom prst="roundRect">
            <a:avLst>
              <a:gd name="adj" fmla="val 0"/>
            </a:avLst>
          </a:prstGeom>
          <a:solidFill>
            <a:srgbClr val="FFFBEB">
              <a:alpha val="80000"/>
            </a:srgbClr>
          </a:solidFill>
          <a:ln w="12700" cmpd="sng" cap="flat">
            <a:solidFill>
              <a:srgbClr val="FCD34D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89000" y="5664200"/>
            <a:ext cx="279400" cy="279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244600" y="5562600"/>
            <a:ext cx="5016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小贴士：</a:t>
            </a:r>
            <a:r>
              <a:rPr lang="en-US" b="false" i="false" strike="noStrike" u="none" sz="13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任何数都可看作自身的1次方（如 5 = 5¹），指数1通常省略不写，这是数学书写的简洁约定。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rcRect l="0" r="0" t="204" b="204"/>
          <a:stretch>
            <a:fillRect/>
          </a:stretch>
        </p:blipFill>
        <p:spPr>
          <a:xfrm rot="0" flipH="false" flipV="false">
            <a:off x="7493000" y="1968500"/>
            <a:ext cx="2540000" cy="3429000"/>
          </a:xfrm>
          <a:prstGeom prst="rect">
            <a:avLst/>
          </a:prstGeom>
          <a:noFill/>
          <a:ln w="254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6" id="16"/>
          <p:cNvSpPr/>
          <p:nvPr/>
        </p:nvSpPr>
        <p:spPr>
          <a:xfrm rot="0" flipH="false" flipV="false">
            <a:off x="6858000" y="5461000"/>
            <a:ext cx="4572000" cy="952500"/>
          </a:xfrm>
          <a:prstGeom prst="roundRect">
            <a:avLst>
              <a:gd name="adj" fmla="val 0"/>
            </a:avLst>
          </a:prstGeom>
          <a:solidFill>
            <a:srgbClr val="ECFDF5">
              <a:alpha val="75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85000" y="5562600"/>
            <a:ext cx="431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结构记忆：</a:t>
            </a:r>
            <a:r>
              <a:rPr lang="en-US" b="false" i="false" strike="noStrike" u="none" sz="1400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“底数”是高楼的基石，支撑整个运算；“指数”是楼的层数，决定运算规模；合起来就是一个完整的“幂”。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小试牛刀：乘方的计算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01 例题演算与解析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540000"/>
            <a:ext cx="4699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2667000"/>
            <a:ext cx="444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(-4)³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= (-4) × (-4) × (-4)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5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结果：-64</a:t>
            </a:r>
            <a:r>
              <a:rPr lang="en-US" b="false" i="false" strike="noStrike" u="none" sz="15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（指数3为奇数，结果为负）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619500"/>
            <a:ext cx="4699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746500"/>
            <a:ext cx="444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② (-2)⁴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= (-2) × (-2) × (-2) × (-2)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5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结果：16</a:t>
            </a:r>
            <a:r>
              <a:rPr lang="en-US" b="false" i="false" strike="noStrike" u="none" sz="15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（指数4为偶数，结果为正）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699000"/>
            <a:ext cx="4699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4826000"/>
            <a:ext cx="444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③ (-2/3)³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= (-2/3) × (-2/3) × (-2/3)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5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结果：-8/27</a:t>
            </a:r>
            <a:r>
              <a:rPr lang="en-US" b="false" i="false" strike="noStrike" u="none" sz="15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（指数3为奇数，结果为负）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1905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02 规律探究与总结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2540000"/>
            <a:ext cx="4699000" cy="1397000"/>
          </a:xfrm>
          <a:prstGeom prst="roundRect">
            <a:avLst>
              <a:gd name="adj" fmla="val 0"/>
            </a:avLst>
          </a:prstGeom>
          <a:solidFill>
            <a:srgbClr val="4ADE80">
              <a:alpha val="20000"/>
            </a:srgbClr>
          </a:solidFill>
          <a:ln w="12700" cmpd="sng" cap="flat">
            <a:solidFill>
              <a:srgbClr val="16A34A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2667000"/>
            <a:ext cx="4445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核心口诀：奇负偶正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观察结果可知：负数的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奇次幂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是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负数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，负数的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偶次幂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是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正数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。这是快速判断乘方结果符号的核心依据。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4064000"/>
            <a:ext cx="4699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41910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☀️ 正数的幂：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正数的任何次幂都是正数，符号始终保持不变，无需额外判断。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5080000"/>
            <a:ext cx="4699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52070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0️⃣ 零的幂：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0的任何正整数次幂都是0，因为无论多少个0相乘，结果仍然是0。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小心！这里容易出错！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01.</a:t>
            </a: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(-2)⁴ 与 -2⁴ 的本质区别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54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ECFDF5">
              <a:alpha val="8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667000"/>
            <a:ext cx="495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(-2)⁴ （带括号）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底数是</a:t>
            </a:r>
            <a:r>
              <a:rPr lang="en-US" b="true" i="false" strike="noStrike" u="none" sz="14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-2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，表示4个-2相乘。计算：(-2)×(-2)×(-2)×(-2) =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16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873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EF2F2">
              <a:alpha val="80000"/>
            </a:srgbClr>
          </a:solidFill>
          <a:ln w="12700" cmpd="sng" cap="flat">
            <a:solidFill>
              <a:srgbClr val="EF444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4000500"/>
            <a:ext cx="495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-2⁴ （无括号）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底数是</a:t>
            </a:r>
            <a:r>
              <a:rPr lang="en-US" b="true" i="false" strike="noStrike" u="none" sz="14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，表示2⁴的相反数。计算：-(2×2×2×2) =</a:t>
            </a:r>
            <a:r>
              <a:rPr lang="en-US" b="true" i="false" strike="noStrike" u="none" sz="14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-16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52705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BEB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5397500"/>
            <a:ext cx="4953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💡 避坑指南：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有无括号决定了“谁”在参与乘方！括号改变底数范围，结果天差地别。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7780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02.</a:t>
            </a: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混合运算顺序法则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2540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9FAFB">
              <a:alpha val="8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413500" y="27305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858000" y="2667000"/>
            <a:ext cx="4508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先乘方，再乘除，最后加减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乘方运算优先级最高，务必先计算幂的结果，再进行后续的乘除和加减。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3746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9FAFB">
              <a:alpha val="8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13500" y="39370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858000" y="3873500"/>
            <a:ext cx="4508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同级运算，从左向右依次进行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只有乘除或只有加减时，严格遵循“从左到右”的顺序，不可随意改变顺序。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4953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9FAFB">
              <a:alpha val="8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13500" y="51435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858000" y="5080000"/>
            <a:ext cx="4508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有括号，先算括号内的运算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若有多层括号，优先计算最内层括号里的内容，再向外逐层计算。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综合挑战：有理数的混合运算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1028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例题 02：</a:t>
            </a: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计算下列代数式的值：</a:t>
            </a: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 × (-3)³ - 4 × (-3) + 15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921000"/>
            <a:ext cx="5207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3048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❶ 运算优先级拆解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556000"/>
            <a:ext cx="279400" cy="279400"/>
          </a:xfrm>
          <a:prstGeom prst="roundRect">
            <a:avLst>
              <a:gd name="adj" fmla="val 0"/>
            </a:avLst>
          </a:prstGeom>
          <a:solidFill>
            <a:srgbClr val="4ADE8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556000"/>
            <a:ext cx="279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33500" y="3556000"/>
            <a:ext cx="450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先算乘方：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优先计算指数项 (-3)³ = -27，这是最高优先级。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191000"/>
            <a:ext cx="279400" cy="279400"/>
          </a:xfrm>
          <a:prstGeom prst="roundRect">
            <a:avLst>
              <a:gd name="adj" fmla="val 0"/>
            </a:avLst>
          </a:prstGeom>
          <a:solidFill>
            <a:srgbClr val="4ADE8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4191000"/>
            <a:ext cx="279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333500" y="4191000"/>
            <a:ext cx="450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再算乘除：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 2×(-27) = -54 和 -4×(-3) = 12，注意负负得正。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500" y="4889500"/>
            <a:ext cx="279400" cy="279400"/>
          </a:xfrm>
          <a:prstGeom prst="roundRect">
            <a:avLst>
              <a:gd name="adj" fmla="val 0"/>
            </a:avLst>
          </a:prstGeom>
          <a:solidFill>
            <a:srgbClr val="4ADE8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4889500"/>
            <a:ext cx="279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333500" y="4889500"/>
            <a:ext cx="450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最后算加减：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合并结果 -54 + 12 + 15，从左至右计算得到最终值。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2921000"/>
            <a:ext cx="5207000" cy="2667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13500" y="3048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❷ 标准书写示范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13500" y="3556000"/>
            <a:ext cx="4826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2 × (-27) - 4 × (-3) + 15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= -54 + 12 + 15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= -42 + 15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b="true" i="false" strike="noStrike" u="none" sz="15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-27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89000" y="59690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核心口诀：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先乘方，再乘除，最后算加减；同级运算，从左到右；有括号先算括号内。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大显身手：课堂练习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20574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51000" y="21082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计算：(-1)¹⁰ 的值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238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5179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51000" y="35687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计算：(-1)⁷ 的值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699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9784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651000" y="50292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计算：(-5)³ 的值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77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13500" y="20574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112000" y="21082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计算：(-1/2)⁴ 的值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3238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13500" y="35179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12000" y="35687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计算：(-10)⁴ 的值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4699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13500" y="49784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12000" y="50292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混合运算：(-1)¹⁰ × 2 + (-2)³ ÷ 4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本节课知识回顾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796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1841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乘方的定义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2343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476500"/>
            <a:ext cx="4699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求n个相同因数a的积的运算，记作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aⁿ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。它表示n个a相乘的结果，读作“a的n次方”或“a的n次幂”，是乘法的简便运算形式。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8796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21500" y="1841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核心三要素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291" flipH="false" flipV="false">
            <a:off x="6477009" y="2343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477000" y="2476500"/>
            <a:ext cx="4699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aⁿ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中：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底数 (a)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：相乘的相同因数；</a:t>
            </a: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指数 (n)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：因数的个数；</a:t>
            </a: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：乘方运算的最终结果。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0005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2291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460500" y="4191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符号判定法则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291" flipH="false" flipV="false">
            <a:off x="1016009" y="4692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1016000" y="4826000"/>
            <a:ext cx="4699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负数：奇次幂为负，偶次幂为正（口诀：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奇负偶正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）；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② 正数：任何次幂都是正数；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③ 零：任何正整数次幂都为0。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注意区分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(-2)⁴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(正) 与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-2⁴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(负) 的结果差异。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40005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2291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921500" y="4191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 混合运算优先级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9291" flipH="false" flipV="false">
            <a:off x="6477009" y="4692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477000" y="4826000"/>
            <a:ext cx="4699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遵循“先乘方，再乘除，最后加减”的顺序：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优先计算乘方，再算括号内（小→中→大）；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同级运算（乘除/加减）从左到右依次进行；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遇到多层括号，由内向外逐层化简。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探索规律：数字的奥秘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1714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基础变化数列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159000"/>
            <a:ext cx="3124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-2, 4, -8, 16, -32, 64, ...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特征：后项是前项的 -2 倍，呈现正负交替的指数增长模式，是整个题目的核心基准。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94200" y="1524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mpd="sng" cap="flat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21200" y="1714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02 偏移关联数列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21200" y="2159000"/>
            <a:ext cx="3124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0, 6, -6, 18, -30, 66, ...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特征：与第①行紧密关联，每一项均为第①行对应项加 2 得到，保持了同步的波动趋势。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26400" y="1524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A855F7">
              <a:alpha val="10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53400" y="1714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7E22CE"/>
                </a:solidFill>
                <a:latin typeface="Noto Sans SC"/>
                <a:ea typeface="Noto Sans SC"/>
                <a:cs typeface="Noto Sans SC"/>
                <a:sym typeface="Noto Sans SC"/>
              </a:rPr>
              <a:t>03 比例缩放数列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53400" y="2159000"/>
            <a:ext cx="3124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-1, 2, -4, 8, -16, 32, ...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特征：由第①行等比缩放而来，每一项均为第①行对应项的 1/2，节奏完全一致。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10668000" cy="2032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4381500"/>
            <a:ext cx="952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深度思考挑战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889500"/>
            <a:ext cx="330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规律探寻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尝试用含 n 的代数式，精准表示出第①行数的第 n 项，揭示其数学本质规律。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5350892" flipH="false" flipV="false">
            <a:off x="3873500" y="5391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508500" y="4889500"/>
            <a:ext cx="330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 关联推导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基于第①行的通项公式，推导出第②行与第③行的第 n 项表达式，建立联系。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5350892" flipH="false" flipV="false">
            <a:off x="7366000" y="5391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001000" y="4889500"/>
            <a:ext cx="3175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03 实战计算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分别求出每行的第 10 个数，计算这三个数的和，检验你的发现是否正确。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1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今日收获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159000"/>
            <a:ext cx="51435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2413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841500" y="23114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一个新运算 · 乘方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认识乘方表达式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aⁿ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，理解它是求几个相同因数的积的简便运算，是乘法的高级形式。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2159000"/>
            <a:ext cx="51435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2413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175500" y="23114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三个核心概念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底数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（基础数值）、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指数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（相乘的次数）和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幂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（最终结果）三者的关系与定义。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746500"/>
            <a:ext cx="51435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70000" y="4000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841500" y="38989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符号法则：奇负偶正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负数的奇次幂为负数，偶次幂为正数；正数的任何次幂都是正数，0的正数次幂为0。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3746500"/>
            <a:ext cx="51435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4000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175500" y="38989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混合运算优先级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遵循“先乘方，再乘除，最后算加减”的原则；遇到括号，优先计算括号内部的式子。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232400"/>
            <a:ext cx="10477500" cy="711200"/>
          </a:xfrm>
          <a:prstGeom prst="roundRect">
            <a:avLst>
              <a:gd name="adj" fmla="val 0"/>
            </a:avLst>
          </a:prstGeom>
          <a:solidFill>
            <a:srgbClr val="1F2937">
              <a:alpha val="6000"/>
            </a:srgbClr>
          </a:solidFill>
          <a:ln cmpd="sng" cap="flat">
            <a:solidFill>
              <a:srgbClr val="0E141E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232400"/>
            <a:ext cx="76200" cy="711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270000" y="5232400"/>
            <a:ext cx="10033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📝 课后任务：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完成教材 P45-P46 练习题以巩固基础；预习下一课《科学记数法》，思考大数的简便写法。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0" y="61595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{"Label":"1","ContentProducer":"001191110102MACQD9K64010000","ProduceID":"7662419786227895226","ReservedCode1":"","ContentPropagator":"","PropagateID":"","ReservedCode2":""}</vt:lpwstr>
  </property>
</Properties>
</file>