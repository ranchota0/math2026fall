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1fc087ff94441f4" /><Relationship Type="http://schemas.openxmlformats.org/officeDocument/2006/relationships/extended-properties" Target="/docProps/app.xml" Id="R9c75ad31089d415b" /><Relationship Type="http://schemas.openxmlformats.org/officeDocument/2006/relationships/officeDocument" Target="/ppt/presentation.xml" Id="Rd000b830c98049f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e4ba1d89224b39"/>
    <p:sldMasterId xmlns:r="http://schemas.openxmlformats.org/officeDocument/2006/relationships" id="2147483660" r:id="Re7abb4fe0d0249d5"/>
  </p:sldMasterIdLst>
  <p:notesMasterIdLst>
    <p:notesMasterId xmlns:r="http://schemas.openxmlformats.org/officeDocument/2006/relationships" r:id="Rc00569bfcb024e2a"/>
  </p:notesMasterIdLst>
  <p:sldIdLst>
    <p:sldId xmlns:r="http://schemas.openxmlformats.org/officeDocument/2006/relationships" id="256" r:id="R023637dc9516446c"/>
    <p:sldId xmlns:r="http://schemas.openxmlformats.org/officeDocument/2006/relationships" id="257" r:id="R78d10d78998a4ec5"/>
    <p:sldId xmlns:r="http://schemas.openxmlformats.org/officeDocument/2006/relationships" id="258" r:id="R04fcfd47779247d5"/>
    <p:sldId xmlns:r="http://schemas.openxmlformats.org/officeDocument/2006/relationships" id="259" r:id="R86f0894a2cb346be"/>
    <p:sldId xmlns:r="http://schemas.openxmlformats.org/officeDocument/2006/relationships" id="260" r:id="Rcf1cdbc8f24b478e"/>
    <p:sldId xmlns:r="http://schemas.openxmlformats.org/officeDocument/2006/relationships" id="261" r:id="R195b20fe78c446d9"/>
    <p:sldId xmlns:r="http://schemas.openxmlformats.org/officeDocument/2006/relationships" id="262" r:id="Ra204a138a625471e"/>
    <p:sldId xmlns:r="http://schemas.openxmlformats.org/officeDocument/2006/relationships" id="263" r:id="R317c715c95674b39"/>
    <p:sldId xmlns:r="http://schemas.openxmlformats.org/officeDocument/2006/relationships" id="264" r:id="Raa45c12a92594643"/>
    <p:sldId xmlns:r="http://schemas.openxmlformats.org/officeDocument/2006/relationships" id="265" r:id="R9812e8e4626f488f"/>
    <p:sldId xmlns:r="http://schemas.openxmlformats.org/officeDocument/2006/relationships" id="266" r:id="R1958e83dd70846a4"/>
    <p:sldId xmlns:r="http://schemas.openxmlformats.org/officeDocument/2006/relationships" id="267" r:id="Rb00630fbd2124a03"/>
    <p:sldId xmlns:r="http://schemas.openxmlformats.org/officeDocument/2006/relationships" id="268" r:id="R1ef9cf3d9239414f"/>
    <p:sldId xmlns:r="http://schemas.openxmlformats.org/officeDocument/2006/relationships" id="269" r:id="Rb7393e01adac4dd8"/>
    <p:sldId xmlns:r="http://schemas.openxmlformats.org/officeDocument/2006/relationships" id="270" r:id="R05aab951bfd94d1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50692b3b68a47da" /><Relationship Type="http://schemas.openxmlformats.org/officeDocument/2006/relationships/slideMaster" Target="/ppt/slideMasters/slideMaster1.xml" Id="Rf4e4ba1d89224b39" /><Relationship Type="http://schemas.openxmlformats.org/officeDocument/2006/relationships/slideMaster" Target="/ppt/slideMasters/slideMaster2.xml" Id="Re7abb4fe0d0249d5" /><Relationship Type="http://schemas.openxmlformats.org/officeDocument/2006/relationships/notesMaster" Target="/ppt/notesMasters/notesMaster1.xml" Id="Rc00569bfcb024e2a" /><Relationship Type="http://schemas.openxmlformats.org/officeDocument/2006/relationships/presProps" Target="/ppt/presProps.xml" Id="R17840b25e5d2452f" /><Relationship Type="http://schemas.openxmlformats.org/officeDocument/2006/relationships/viewProps" Target="/ppt/viewProps.xml" Id="R7d60256dde114402" /><Relationship Type="http://schemas.openxmlformats.org/officeDocument/2006/relationships/tableStyles" Target="/ppt/tableStyles.xml" Id="Rc7f25952decd4bd9" /><Relationship Type="http://schemas.openxmlformats.org/officeDocument/2006/relationships/slide" Target="/ppt/slides/slide1.xml" Id="R023637dc9516446c" /><Relationship Type="http://schemas.openxmlformats.org/officeDocument/2006/relationships/slide" Target="/ppt/slides/slide2.xml" Id="R78d10d78998a4ec5" /><Relationship Type="http://schemas.openxmlformats.org/officeDocument/2006/relationships/slide" Target="/ppt/slides/slide3.xml" Id="R04fcfd47779247d5" /><Relationship Type="http://schemas.openxmlformats.org/officeDocument/2006/relationships/slide" Target="/ppt/slides/slide4.xml" Id="R86f0894a2cb346be" /><Relationship Type="http://schemas.openxmlformats.org/officeDocument/2006/relationships/slide" Target="/ppt/slides/slide5.xml" Id="Rcf1cdbc8f24b478e" /><Relationship Type="http://schemas.openxmlformats.org/officeDocument/2006/relationships/slide" Target="/ppt/slides/slide6.xml" Id="R195b20fe78c446d9" /><Relationship Type="http://schemas.openxmlformats.org/officeDocument/2006/relationships/slide" Target="/ppt/slides/slide7.xml" Id="Ra204a138a625471e" /><Relationship Type="http://schemas.openxmlformats.org/officeDocument/2006/relationships/slide" Target="/ppt/slides/slide8.xml" Id="R317c715c95674b39" /><Relationship Type="http://schemas.openxmlformats.org/officeDocument/2006/relationships/slide" Target="/ppt/slides/slide9.xml" Id="Raa45c12a92594643" /><Relationship Type="http://schemas.openxmlformats.org/officeDocument/2006/relationships/slide" Target="/ppt/slides/slide10.xml" Id="R9812e8e4626f488f" /><Relationship Type="http://schemas.openxmlformats.org/officeDocument/2006/relationships/slide" Target="/ppt/slides/slide11.xml" Id="R1958e83dd70846a4" /><Relationship Type="http://schemas.openxmlformats.org/officeDocument/2006/relationships/slide" Target="/ppt/slides/slide12.xml" Id="Rb00630fbd2124a03" /><Relationship Type="http://schemas.openxmlformats.org/officeDocument/2006/relationships/slide" Target="/ppt/slides/slide13.xml" Id="R1ef9cf3d9239414f" /><Relationship Type="http://schemas.openxmlformats.org/officeDocument/2006/relationships/slide" Target="/ppt/slides/slide14.xml" Id="Rb7393e01adac4dd8" /><Relationship Type="http://schemas.openxmlformats.org/officeDocument/2006/relationships/slide" Target="/ppt/slides/slide15.xml" Id="R05aab951bfd94d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0adc3849d2ae4a8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7a8b8d0350c4e71" /><Relationship Type="http://schemas.openxmlformats.org/officeDocument/2006/relationships/notesMaster" Target="/ppt/notesMasters/notesMaster1.xml" Id="Ra9d077e6be2e47c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a06f1b581fa4919" /><Relationship Type="http://schemas.openxmlformats.org/officeDocument/2006/relationships/notesMaster" Target="/ppt/notesMasters/notesMaster1.xml" Id="R62696f6a11ec4c4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ed34985482d4ed4" /><Relationship Type="http://schemas.openxmlformats.org/officeDocument/2006/relationships/notesMaster" Target="/ppt/notesMasters/notesMaster1.xml" Id="Rc875121de68f47e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399a50001b54967" /><Relationship Type="http://schemas.openxmlformats.org/officeDocument/2006/relationships/notesMaster" Target="/ppt/notesMasters/notesMaster1.xml" Id="R782986abd93d4bb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da6c8162c5f4805" /><Relationship Type="http://schemas.openxmlformats.org/officeDocument/2006/relationships/notesMaster" Target="/ppt/notesMasters/notesMaster1.xml" Id="R705c6d2629d24f5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970d5b5194c419d" /><Relationship Type="http://schemas.openxmlformats.org/officeDocument/2006/relationships/notesMaster" Target="/ppt/notesMasters/notesMaster1.xml" Id="R5bed658a9af0448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7a8e8964bd4471c" /><Relationship Type="http://schemas.openxmlformats.org/officeDocument/2006/relationships/notesMaster" Target="/ppt/notesMasters/notesMaster1.xml" Id="Rb3fabaded0d845b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8b5141910b24766" /><Relationship Type="http://schemas.openxmlformats.org/officeDocument/2006/relationships/notesMaster" Target="/ppt/notesMasters/notesMaster1.xml" Id="R86a106f89f7c4ca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231ec0669cf4546" /><Relationship Type="http://schemas.openxmlformats.org/officeDocument/2006/relationships/notesMaster" Target="/ppt/notesMasters/notesMaster1.xml" Id="Rd8ff72510f634e3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67a4eb79e5e4870" /><Relationship Type="http://schemas.openxmlformats.org/officeDocument/2006/relationships/notesMaster" Target="/ppt/notesMasters/notesMaster1.xml" Id="R3d2873e1e6d64a8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53020a55b4f446a" /><Relationship Type="http://schemas.openxmlformats.org/officeDocument/2006/relationships/notesMaster" Target="/ppt/notesMasters/notesMaster1.xml" Id="R4631d616309d419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dac31f6a64f44c8" /><Relationship Type="http://schemas.openxmlformats.org/officeDocument/2006/relationships/notesMaster" Target="/ppt/notesMasters/notesMaster1.xml" Id="R45ff2c2d43d7435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ce2690561a646f8" /><Relationship Type="http://schemas.openxmlformats.org/officeDocument/2006/relationships/notesMaster" Target="/ppt/notesMasters/notesMaster1.xml" Id="R9a96869785224b5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972dd3fdd13446e" /><Relationship Type="http://schemas.openxmlformats.org/officeDocument/2006/relationships/notesMaster" Target="/ppt/notesMasters/notesMaster1.xml" Id="R88d055e3ae7448a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4369c7470af4b67" /><Relationship Type="http://schemas.openxmlformats.org/officeDocument/2006/relationships/notesMaster" Target="/ppt/notesMasters/notesMaster1.xml" Id="Rea95acc59a54429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从教材印刷页19—21进入《平行线的判定与性质综合》。说明本课在第7章 相交线与平行线中的位置。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人教版《义务教育教科书·数学七年级下册》，印刷页19—21。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请学生默读目标，圈出“说出、说明、解决、检验”等可观察动词；课末按同一目标自评。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先让学生读图、读表或读题，不提前给结论。追问：对象是什么，条件是什么，要解决什么？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组织Q1独立作答。旧知只回顾本课真正需要的部分，出现条件缺失时用反例纠正。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布置Q2、Q3。教师巡视时只问现象、猜想和证据，给学生保留形成结论的过程。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形成第一个核心概念：判定与性质综合。要求学生标出对象、条件、表示和作用。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形成第二个核心概念或方法：几何语言与推理链。与前一概念对比，避免相近知识混淆。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把探究记录整理为完整的条件—方法—结论链，强调结论来自证据而不是直觉。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逐条辨析易错点。要求学生说出错误发生在哪个条件、步骤或使用方向。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呈现Q4，保留独立思考时间。题型对应教材印刷页19—21的例题或典型任务。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人教版《义务教育教科书·数学七年级下册》，印刷页19—21。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按审条件—选方法—规范表达—检验的顺序讲评Q4，评分时过程与依据同样计分。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完成Q5、Q6。Q5用于基础辨析，Q6要求改变条件后仍能解释方法为何适用。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展示一份变式答案，依据评价标准互评；重点检查是否照抄原结果。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Q7、Q8独立完成，不在本页呈现答案。教师记录共性错误，作为下节课反馈依据。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回扣学习目标，布置基础、提升和自拟任务；请学生填写学案自评并写一条仍需帮助的问题。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bf6ecec13c405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7d7bc4d2f94bb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6f997f290c441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c6ee47321e4ce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90e8c2b5824f8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7df668a101469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749b47276a4f8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4a535336124c9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26f09ffa60485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b4c7b617af409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5998db175c4ed8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732359457e4416d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9aa1e2bb7a4439d" /></Relationships>
</file>

<file path=ppt/slideLayouts/slideLayout1.xml><?xml version="1.0" encoding="utf-8"?>
<p:sldLayout xmlns:p="http://schemas.openxmlformats.org/presentationml/2006/main" matchingName="标题幻灯片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hape 30">
            <a:extLst xmlns:a="http://schemas.openxmlformats.org/drawingml/2006/main">
              <a:ext uri="{FF2B5EF4-FFF2-40B4-BE49-F238E27FC236}">
                <a16:creationId xmlns:a16="http://schemas.microsoft.com/office/drawing/2014/main" id="{81C558D3-089F-4C67-BC4D-83245CA7F86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43000" y="841772"/>
            <a:ext cx="6858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3" name="Shape 31">
            <a:extLst xmlns:a="http://schemas.openxmlformats.org/drawingml/2006/main">
              <a:ext uri="{FF2B5EF4-FFF2-40B4-BE49-F238E27FC236}">
                <a16:creationId xmlns:a16="http://schemas.microsoft.com/office/drawing/2014/main" id="{2FC5423C-F1D6-4FB3-ACFF-138CD859F36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2701528"/>
            <a:ext cx="6858000" cy="1241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14" name="Shape 32">
            <a:extLst xmlns:a="http://schemas.openxmlformats.org/drawingml/2006/main">
              <a:ext uri="{FF2B5EF4-FFF2-40B4-BE49-F238E27FC236}">
                <a16:creationId xmlns:a16="http://schemas.microsoft.com/office/drawing/2014/main" id="{76B33730-797A-4776-90B9-6A151FA98A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5" name="Shape 33">
            <a:extLst xmlns:a="http://schemas.openxmlformats.org/drawingml/2006/main">
              <a:ext uri="{FF2B5EF4-FFF2-40B4-BE49-F238E27FC236}">
                <a16:creationId xmlns:a16="http://schemas.microsoft.com/office/drawing/2014/main" id="{F24C44C0-5BF6-4705-ADDE-8B38C97512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6" name="Shape 34">
            <a:extLst xmlns:a="http://schemas.openxmlformats.org/drawingml/2006/main">
              <a:ext uri="{FF2B5EF4-FFF2-40B4-BE49-F238E27FC236}">
                <a16:creationId xmlns:a16="http://schemas.microsoft.com/office/drawing/2014/main" id="{AB060FA6-2CB7-45F7-AF4D-B82687E6FD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标题和内容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hape 54">
            <a:extLst xmlns:a="http://schemas.openxmlformats.org/drawingml/2006/main">
              <a:ext uri="{FF2B5EF4-FFF2-40B4-BE49-F238E27FC236}">
                <a16:creationId xmlns:a16="http://schemas.microsoft.com/office/drawing/2014/main" id="{773FCBA7-63BE-47A1-845F-68F5204E85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9" name="Shape 55">
            <a:extLst xmlns:a="http://schemas.openxmlformats.org/drawingml/2006/main">
              <a:ext uri="{FF2B5EF4-FFF2-40B4-BE49-F238E27FC236}">
                <a16:creationId xmlns:a16="http://schemas.microsoft.com/office/drawing/2014/main" id="{B934C16F-A719-4358-9B9E-8FFA2BFE42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0" name="Shape 56">
            <a:extLst xmlns:a="http://schemas.openxmlformats.org/drawingml/2006/main">
              <a:ext uri="{FF2B5EF4-FFF2-40B4-BE49-F238E27FC236}">
                <a16:creationId xmlns:a16="http://schemas.microsoft.com/office/drawing/2014/main" id="{48DAF2FE-6FF4-4231-BD01-663C3C4BBA5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1" name="Shape 57">
            <a:extLst xmlns:a="http://schemas.openxmlformats.org/drawingml/2006/main">
              <a:ext uri="{FF2B5EF4-FFF2-40B4-BE49-F238E27FC236}">
                <a16:creationId xmlns:a16="http://schemas.microsoft.com/office/drawing/2014/main" id="{5D87FF35-31AA-489B-A20D-09A919F371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Shape 58">
            <a:extLst xmlns:a="http://schemas.openxmlformats.org/drawingml/2006/main">
              <a:ext uri="{FF2B5EF4-FFF2-40B4-BE49-F238E27FC236}">
                <a16:creationId xmlns:a16="http://schemas.microsoft.com/office/drawing/2014/main" id="{A79BBCA7-91A0-4B46-A232-038E1FBDEF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节标题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hape 59">
            <a:extLst xmlns:a="http://schemas.openxmlformats.org/drawingml/2006/main">
              <a:ext uri="{FF2B5EF4-FFF2-40B4-BE49-F238E27FC236}">
                <a16:creationId xmlns:a16="http://schemas.microsoft.com/office/drawing/2014/main" id="{008BFF75-9404-495F-8F1D-F6FE81DE16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282304"/>
            <a:ext cx="7886700" cy="213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5" name="Shape 60">
            <a:extLst xmlns:a="http://schemas.openxmlformats.org/drawingml/2006/main">
              <a:ext uri="{FF2B5EF4-FFF2-40B4-BE49-F238E27FC236}">
                <a16:creationId xmlns:a16="http://schemas.microsoft.com/office/drawing/2014/main" id="{C7383DE6-9C1C-48CD-9192-7012A980F9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3442097"/>
            <a:ext cx="7886700" cy="1125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6" name="Shape 61">
            <a:extLst xmlns:a="http://schemas.openxmlformats.org/drawingml/2006/main">
              <a:ext uri="{FF2B5EF4-FFF2-40B4-BE49-F238E27FC236}">
                <a16:creationId xmlns:a16="http://schemas.microsoft.com/office/drawing/2014/main" id="{E19F9005-60C3-4F3E-A51E-921CF621365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Shape 62">
            <a:extLst xmlns:a="http://schemas.openxmlformats.org/drawingml/2006/main">
              <a:ext uri="{FF2B5EF4-FFF2-40B4-BE49-F238E27FC236}">
                <a16:creationId xmlns:a16="http://schemas.microsoft.com/office/drawing/2014/main" id="{6603DA38-B620-4779-8031-AD7FDCF81A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8" name="Shape 63">
            <a:extLst xmlns:a="http://schemas.openxmlformats.org/drawingml/2006/main">
              <a:ext uri="{FF2B5EF4-FFF2-40B4-BE49-F238E27FC236}">
                <a16:creationId xmlns:a16="http://schemas.microsoft.com/office/drawing/2014/main" id="{20E8057C-F4B8-4771-A75A-267A8C3161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两栏内容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hape 9">
            <a:extLst xmlns:a="http://schemas.openxmlformats.org/drawingml/2006/main">
              <a:ext uri="{FF2B5EF4-FFF2-40B4-BE49-F238E27FC236}">
                <a16:creationId xmlns:a16="http://schemas.microsoft.com/office/drawing/2014/main" id="{0586E73B-DF8D-44F0-AA98-A5251FFE85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1" name="Shape 10">
            <a:extLst xmlns:a="http://schemas.openxmlformats.org/drawingml/2006/main">
              <a:ext uri="{FF2B5EF4-FFF2-40B4-BE49-F238E27FC236}">
                <a16:creationId xmlns:a16="http://schemas.microsoft.com/office/drawing/2014/main" id="{6840B7D1-E1E0-426D-869F-F69122C75B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2" name="Shape 11">
            <a:extLst xmlns:a="http://schemas.openxmlformats.org/drawingml/2006/main">
              <a:ext uri="{FF2B5EF4-FFF2-40B4-BE49-F238E27FC236}">
                <a16:creationId xmlns:a16="http://schemas.microsoft.com/office/drawing/2014/main" id="{0A6FCEB4-5ECD-4129-9330-216F1B279B3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291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3" name="Shape 12">
            <a:extLst xmlns:a="http://schemas.openxmlformats.org/drawingml/2006/main">
              <a:ext uri="{FF2B5EF4-FFF2-40B4-BE49-F238E27FC236}">
                <a16:creationId xmlns:a16="http://schemas.microsoft.com/office/drawing/2014/main" id="{495E0562-DBAB-4D85-8168-1CCB0D86D6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4" name="Shape 13">
            <a:extLst xmlns:a="http://schemas.openxmlformats.org/drawingml/2006/main">
              <a:ext uri="{FF2B5EF4-FFF2-40B4-BE49-F238E27FC236}">
                <a16:creationId xmlns:a16="http://schemas.microsoft.com/office/drawing/2014/main" id="{DD9BE91A-E2DD-4BF1-9874-E1355ED08F4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5" name="Shape 14">
            <a:extLst xmlns:a="http://schemas.openxmlformats.org/drawingml/2006/main">
              <a:ext uri="{FF2B5EF4-FFF2-40B4-BE49-F238E27FC236}">
                <a16:creationId xmlns:a16="http://schemas.microsoft.com/office/drawing/2014/main" id="{BE454B15-4E7F-43D5-A4F7-1762D06737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比较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1775F871-F742-4728-99E8-30F0848A87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571F7621-952E-4D85-A163-75319DC953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260872"/>
            <a:ext cx="3868340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0630E83E-4235-42F8-B867-1BC303BCCC2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878806"/>
            <a:ext cx="3868340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C1D051A9-CD54-448B-8139-2EFF19C23C9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260872"/>
            <a:ext cx="3887391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C0194990-4325-4361-B3DF-A7B9B824B75B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29150" y="1878806"/>
            <a:ext cx="3887391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F5C01F63-66A3-4D8F-952D-A9B7567DCA0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EBA4A3B3-D6DC-442F-ACCF-36428D630A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29F271FA-3699-4374-A6F9-7E4F0812F5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仅标题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Shape 20">
            <a:extLst xmlns:a="http://schemas.openxmlformats.org/drawingml/2006/main">
              <a:ext uri="{FF2B5EF4-FFF2-40B4-BE49-F238E27FC236}">
                <a16:creationId xmlns:a16="http://schemas.microsoft.com/office/drawing/2014/main" id="{7C8D4694-40F1-4495-B0D4-22FD008497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7" name="Shape 21">
            <a:extLst xmlns:a="http://schemas.openxmlformats.org/drawingml/2006/main">
              <a:ext uri="{FF2B5EF4-FFF2-40B4-BE49-F238E27FC236}">
                <a16:creationId xmlns:a16="http://schemas.microsoft.com/office/drawing/2014/main" id="{76807FC3-A4D2-412A-AD46-124E4111BBB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8" name="Shape 22">
            <a:extLst xmlns:a="http://schemas.openxmlformats.org/drawingml/2006/main">
              <a:ext uri="{FF2B5EF4-FFF2-40B4-BE49-F238E27FC236}">
                <a16:creationId xmlns:a16="http://schemas.microsoft.com/office/drawing/2014/main" id="{5EC5AB90-AB3D-4352-A8C6-027DADB80A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9" name="Shape 23">
            <a:extLst xmlns:a="http://schemas.openxmlformats.org/drawingml/2006/main">
              <a:ext uri="{FF2B5EF4-FFF2-40B4-BE49-F238E27FC236}">
                <a16:creationId xmlns:a16="http://schemas.microsoft.com/office/drawing/2014/main" id="{2A46E61D-21E8-401F-B07E-7F59D2215D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空白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hape 6">
            <a:extLst xmlns:a="http://schemas.openxmlformats.org/drawingml/2006/main">
              <a:ext uri="{FF2B5EF4-FFF2-40B4-BE49-F238E27FC236}">
                <a16:creationId xmlns:a16="http://schemas.microsoft.com/office/drawing/2014/main" id="{88731147-58ED-49A0-AF62-503DBF4A44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2" name="Shape 7">
            <a:extLst xmlns:a="http://schemas.openxmlformats.org/drawingml/2006/main">
              <a:ext uri="{FF2B5EF4-FFF2-40B4-BE49-F238E27FC236}">
                <a16:creationId xmlns:a16="http://schemas.microsoft.com/office/drawing/2014/main" id="{88BB1B7F-E414-4351-9E2B-1F36EA1C93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3" name="Shape 8">
            <a:extLst xmlns:a="http://schemas.openxmlformats.org/drawingml/2006/main">
              <a:ext uri="{FF2B5EF4-FFF2-40B4-BE49-F238E27FC236}">
                <a16:creationId xmlns:a16="http://schemas.microsoft.com/office/drawing/2014/main" id="{C049B8E4-D95C-4D02-9D2A-9C534F8DEC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内容与标题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Shape 43">
            <a:extLst xmlns:a="http://schemas.openxmlformats.org/drawingml/2006/main">
              <a:ext uri="{FF2B5EF4-FFF2-40B4-BE49-F238E27FC236}">
                <a16:creationId xmlns:a16="http://schemas.microsoft.com/office/drawing/2014/main" id="{7981AEC1-A09C-43C1-9E30-56E7BFB6F0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6" name="Shape 44">
            <a:extLst xmlns:a="http://schemas.openxmlformats.org/drawingml/2006/main">
              <a:ext uri="{FF2B5EF4-FFF2-40B4-BE49-F238E27FC236}">
                <a16:creationId xmlns:a16="http://schemas.microsoft.com/office/drawing/2014/main" id="{A3517535-511E-43DD-9649-5126EF5316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 xmlns:a="http://schemas.openxmlformats.org/drawingml/2006/main"/>
        </p:txBody>
      </p:sp>
      <p:sp>
        <p:nvSpPr>
          <p:cNvPr id="57" name="Shape 45">
            <a:extLst xmlns:a="http://schemas.openxmlformats.org/drawingml/2006/main">
              <a:ext uri="{FF2B5EF4-FFF2-40B4-BE49-F238E27FC236}">
                <a16:creationId xmlns:a16="http://schemas.microsoft.com/office/drawing/2014/main" id="{CE5CCEF6-0694-41AB-9169-0081D48D987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58" name="Shape 46">
            <a:extLst xmlns:a="http://schemas.openxmlformats.org/drawingml/2006/main">
              <a:ext uri="{FF2B5EF4-FFF2-40B4-BE49-F238E27FC236}">
                <a16:creationId xmlns:a16="http://schemas.microsoft.com/office/drawing/2014/main" id="{BB9122C8-FCE1-4C1C-8121-19BFEE120A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Shape 47">
            <a:extLst xmlns:a="http://schemas.openxmlformats.org/drawingml/2006/main">
              <a:ext uri="{FF2B5EF4-FFF2-40B4-BE49-F238E27FC236}">
                <a16:creationId xmlns:a16="http://schemas.microsoft.com/office/drawing/2014/main" id="{296794B6-81AC-4303-977B-7269E4F2F3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0" name="Shape 48">
            <a:extLst xmlns:a="http://schemas.openxmlformats.org/drawingml/2006/main">
              <a:ext uri="{FF2B5EF4-FFF2-40B4-BE49-F238E27FC236}">
                <a16:creationId xmlns:a16="http://schemas.microsoft.com/office/drawing/2014/main" id="{5A4DAB6B-412D-45B3-9202-BED9F75BB1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图片与标题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Shape 24">
            <a:extLst xmlns:a="http://schemas.openxmlformats.org/drawingml/2006/main">
              <a:ext uri="{FF2B5EF4-FFF2-40B4-BE49-F238E27FC236}">
                <a16:creationId xmlns:a16="http://schemas.microsoft.com/office/drawing/2014/main" id="{4D4980F6-F398-44B5-992C-E6C6EB286C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3" name="Shape 25">
            <a:extLst xmlns:a="http://schemas.openxmlformats.org/drawingml/2006/main">
              <a:ext uri="{FF2B5EF4-FFF2-40B4-BE49-F238E27FC236}">
                <a16:creationId xmlns:a16="http://schemas.microsoft.com/office/drawing/2014/main" id="{93C32912-05D6-4C71-AFD0-FB2ADE3ACCEA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4" name="Shape 26">
            <a:extLst xmlns:a="http://schemas.openxmlformats.org/drawingml/2006/main">
              <a:ext uri="{FF2B5EF4-FFF2-40B4-BE49-F238E27FC236}">
                <a16:creationId xmlns:a16="http://schemas.microsoft.com/office/drawing/2014/main" id="{A242D9ED-3EAF-4AE7-8169-5A0ADE4101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65" name="Shape 27">
            <a:extLst xmlns:a="http://schemas.openxmlformats.org/drawingml/2006/main">
              <a:ext uri="{FF2B5EF4-FFF2-40B4-BE49-F238E27FC236}">
                <a16:creationId xmlns:a16="http://schemas.microsoft.com/office/drawing/2014/main" id="{C66DD68B-8397-4B49-A7C5-FDA5C38FEA5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6" name="Shape 28">
            <a:extLst xmlns:a="http://schemas.openxmlformats.org/drawingml/2006/main">
              <a:ext uri="{FF2B5EF4-FFF2-40B4-BE49-F238E27FC236}">
                <a16:creationId xmlns:a16="http://schemas.microsoft.com/office/drawing/2014/main" id="{3AF11104-4646-4D0C-B302-641707939CE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Shape 29">
            <a:extLst xmlns:a="http://schemas.openxmlformats.org/drawingml/2006/main">
              <a:ext uri="{FF2B5EF4-FFF2-40B4-BE49-F238E27FC236}">
                <a16:creationId xmlns:a16="http://schemas.microsoft.com/office/drawing/2014/main" id="{67B97825-AEEE-4A8E-A770-5C0290BBBA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标题和竖排文字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Shape 49">
            <a:extLst xmlns:a="http://schemas.openxmlformats.org/drawingml/2006/main">
              <a:ext uri="{FF2B5EF4-FFF2-40B4-BE49-F238E27FC236}">
                <a16:creationId xmlns:a16="http://schemas.microsoft.com/office/drawing/2014/main" id="{3B196173-78E1-4386-851B-DE0403C60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0" name="Shape 50">
            <a:extLst xmlns:a="http://schemas.openxmlformats.org/drawingml/2006/main">
              <a:ext uri="{FF2B5EF4-FFF2-40B4-BE49-F238E27FC236}">
                <a16:creationId xmlns:a16="http://schemas.microsoft.com/office/drawing/2014/main" id="{8A88F7C5-0C00-4326-B3FF-F455A2D838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940248" y="-942379"/>
            <a:ext cx="3263504" cy="788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1" name="Shape 51">
            <a:extLst xmlns:a="http://schemas.openxmlformats.org/drawingml/2006/main">
              <a:ext uri="{FF2B5EF4-FFF2-40B4-BE49-F238E27FC236}">
                <a16:creationId xmlns:a16="http://schemas.microsoft.com/office/drawing/2014/main" id="{C22A8F7B-7858-44F6-9F1E-D2DEAC7A467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2" name="Shape 52">
            <a:extLst xmlns:a="http://schemas.openxmlformats.org/drawingml/2006/main">
              <a:ext uri="{FF2B5EF4-FFF2-40B4-BE49-F238E27FC236}">
                <a16:creationId xmlns:a16="http://schemas.microsoft.com/office/drawing/2014/main" id="{916C9623-8B86-4E26-8024-EE8CBA92D1F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3" name="Shape 53">
            <a:extLst xmlns:a="http://schemas.openxmlformats.org/drawingml/2006/main">
              <a:ext uri="{FF2B5EF4-FFF2-40B4-BE49-F238E27FC236}">
                <a16:creationId xmlns:a16="http://schemas.microsoft.com/office/drawing/2014/main" id="{1D34C76F-2DAF-4A0C-9F87-FAB8D15A19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竖排标题与文本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Shape 15">
            <a:extLst xmlns:a="http://schemas.openxmlformats.org/drawingml/2006/main">
              <a:ext uri="{FF2B5EF4-FFF2-40B4-BE49-F238E27FC236}">
                <a16:creationId xmlns:a16="http://schemas.microsoft.com/office/drawing/2014/main" id="{A4BE78CF-2F89-4F43-BAD7-06A807E064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5350073" y="1467445"/>
            <a:ext cx="4358879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6" name="Shape 16">
            <a:extLst xmlns:a="http://schemas.openxmlformats.org/drawingml/2006/main">
              <a:ext uri="{FF2B5EF4-FFF2-40B4-BE49-F238E27FC236}">
                <a16:creationId xmlns:a16="http://schemas.microsoft.com/office/drawing/2014/main" id="{432C7FCB-8755-430C-9DC9-7F6F8A5BF6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349573" y="-447080"/>
            <a:ext cx="4358879" cy="580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7" name="Shape 17">
            <a:extLst xmlns:a="http://schemas.openxmlformats.org/drawingml/2006/main">
              <a:ext uri="{FF2B5EF4-FFF2-40B4-BE49-F238E27FC236}">
                <a16:creationId xmlns:a16="http://schemas.microsoft.com/office/drawing/2014/main" id="{CE20FF06-1C41-4406-B397-D561A2AAE2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8" name="Shape 18">
            <a:extLst xmlns:a="http://schemas.openxmlformats.org/drawingml/2006/main">
              <a:ext uri="{FF2B5EF4-FFF2-40B4-BE49-F238E27FC236}">
                <a16:creationId xmlns:a16="http://schemas.microsoft.com/office/drawing/2014/main" id="{BCD8D827-CDBC-4D70-82E1-223943514F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9" name="Shape 19">
            <a:extLst xmlns:a="http://schemas.openxmlformats.org/drawingml/2006/main">
              <a:ext uri="{FF2B5EF4-FFF2-40B4-BE49-F238E27FC236}">
                <a16:creationId xmlns:a16="http://schemas.microsoft.com/office/drawing/2014/main" id="{9FE0AD20-8B2C-4468-916F-730326919F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3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564427c9d7d40f9" /><Relationship Type="http://schemas.openxmlformats.org/officeDocument/2006/relationships/slideLayout" Target="/ppt/slideLayouts/slideLayout1.xml" Id="R8d575e4aa68f478b" /><Relationship Type="http://schemas.openxmlformats.org/officeDocument/2006/relationships/slideLayout" Target="/ppt/slideLayouts/slideLayout2.xml" Id="Rb13b4c3e30874a08" /><Relationship Type="http://schemas.openxmlformats.org/officeDocument/2006/relationships/slideLayout" Target="/ppt/slideLayouts/slideLayout3.xml" Id="Rf3994baa45b74e7f" /><Relationship Type="http://schemas.openxmlformats.org/officeDocument/2006/relationships/slideLayout" Target="/ppt/slideLayouts/slideLayout4.xml" Id="R5132196f0d26452b" /><Relationship Type="http://schemas.openxmlformats.org/officeDocument/2006/relationships/slideLayout" Target="/ppt/slideLayouts/slideLayout5.xml" Id="Rd5db304f927d44c0" /><Relationship Type="http://schemas.openxmlformats.org/officeDocument/2006/relationships/slideLayout" Target="/ppt/slideLayouts/slideLayout6.xml" Id="Rbcda1a074cdd429a" /><Relationship Type="http://schemas.openxmlformats.org/officeDocument/2006/relationships/slideLayout" Target="/ppt/slideLayouts/slideLayout7.xml" Id="R78d4e932026c4705" /><Relationship Type="http://schemas.openxmlformats.org/officeDocument/2006/relationships/slideLayout" Target="/ppt/slideLayouts/slideLayout8.xml" Id="Rd9ed097254264c7b" /><Relationship Type="http://schemas.openxmlformats.org/officeDocument/2006/relationships/slideLayout" Target="/ppt/slideLayouts/slideLayout9.xml" Id="R247c7c3cbe0546e4" /><Relationship Type="http://schemas.openxmlformats.org/officeDocument/2006/relationships/slideLayout" Target="/ppt/slideLayouts/slideLayout10.xml" Id="Rc4fa0af7773e46bc" /><Relationship Type="http://schemas.openxmlformats.org/officeDocument/2006/relationships/slideLayout" Target="/ppt/slideLayouts/slideLayout11.xml" Id="Rb44e861308414111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c2aa69ac95f54393" /><Relationship Type="http://schemas.openxmlformats.org/officeDocument/2006/relationships/slideLayout" Target="/ppt/slideLayouts/slideLayout12.xml" Id="R320cefff13af4643" /><Relationship Type="http://schemas.openxmlformats.org/officeDocument/2006/relationships/slideLayout" Target="/ppt/slideLayouts/slideLayout13.xml" Id="Ra3618667f4734bea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 1">
            <a:extLst xmlns:a="http://schemas.openxmlformats.org/drawingml/2006/main">
              <a:ext uri="{FF2B5EF4-FFF2-40B4-BE49-F238E27FC236}">
                <a16:creationId xmlns:a16="http://schemas.microsoft.com/office/drawing/2014/main" id="{C7C8B2E2-013E-40E1-BA27-71E182FB33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61920D55-8B08-4DEC-B9DF-099DFBBE18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marR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" name="Shape 3">
            <a:extLst xmlns:a="http://schemas.openxmlformats.org/drawingml/2006/main">
              <a:ext uri="{FF2B5EF4-FFF2-40B4-BE49-F238E27FC236}">
                <a16:creationId xmlns:a16="http://schemas.microsoft.com/office/drawing/2014/main" id="{2172879B-F520-40B5-89EF-B6B070E43EF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B12DB8F2-F668-42E1-A045-7B0901425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5704B2E6-4A19-4474-BE49-7AE322FF19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d575e4aa68f478b"/>
    <p:sldLayoutId xmlns:r="http://schemas.openxmlformats.org/officeDocument/2006/relationships" id="2147483650" r:id="Rb13b4c3e30874a08"/>
    <p:sldLayoutId xmlns:r="http://schemas.openxmlformats.org/officeDocument/2006/relationships" id="2147483651" r:id="Rf3994baa45b74e7f"/>
    <p:sldLayoutId xmlns:r="http://schemas.openxmlformats.org/officeDocument/2006/relationships" id="2147483652" r:id="R5132196f0d26452b"/>
    <p:sldLayoutId xmlns:r="http://schemas.openxmlformats.org/officeDocument/2006/relationships" id="2147483653" r:id="Rd5db304f927d44c0"/>
    <p:sldLayoutId xmlns:r="http://schemas.openxmlformats.org/officeDocument/2006/relationships" id="2147483654" r:id="Rbcda1a074cdd429a"/>
    <p:sldLayoutId xmlns:r="http://schemas.openxmlformats.org/officeDocument/2006/relationships" id="2147483655" r:id="R78d4e932026c4705"/>
    <p:sldLayoutId xmlns:r="http://schemas.openxmlformats.org/officeDocument/2006/relationships" id="2147483656" r:id="Rd9ed097254264c7b"/>
    <p:sldLayoutId xmlns:r="http://schemas.openxmlformats.org/officeDocument/2006/relationships" id="2147483657" r:id="R247c7c3cbe0546e4"/>
    <p:sldLayoutId xmlns:r="http://schemas.openxmlformats.org/officeDocument/2006/relationships" id="2147483658" r:id="Rc4fa0af7773e46bc"/>
    <p:sldLayoutId xmlns:r="http://schemas.openxmlformats.org/officeDocument/2006/relationships" id="2147483659" r:id="Rb44e861308414111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默认主题"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320cefff13af4643"/>
    <p:sldLayoutId xmlns:r="http://schemas.openxmlformats.org/officeDocument/2006/relationships" id="2147483662" r:id="Ra3618667f4734bea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79bcd03d1d34993" /><Relationship Type="http://schemas.openxmlformats.org/officeDocument/2006/relationships/image" Target="/ppt/media/image.jpeg" Id="R828fec6be5a1403d" /><Relationship Type="http://schemas.openxmlformats.org/officeDocument/2006/relationships/notesSlide" Target="/ppt/notesSlides/notesSlide1.xml" Id="R4a7922e51b4342d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3460b4ede1d4e84" /><Relationship Type="http://schemas.openxmlformats.org/officeDocument/2006/relationships/image" Target="/ppt/media/image2.jpeg" Id="R3b9aa7de0c32468f" /><Relationship Type="http://schemas.openxmlformats.org/officeDocument/2006/relationships/image" Target="/ppt/media/image.svg" Id="R214884d6ac534e94" /><Relationship Type="http://schemas.openxmlformats.org/officeDocument/2006/relationships/image" Target="/ppt/media/image.jpeg" Id="R2e0aa08fdcaf49b8" /><Relationship Type="http://schemas.openxmlformats.org/officeDocument/2006/relationships/image" Target="/ppt/media/image2.svg" Id="Rcebdc77864254056" /><Relationship Type="http://schemas.openxmlformats.org/officeDocument/2006/relationships/image" Target="/ppt/media/image3.jpeg" Id="Rf98faf18833e4ce4" /><Relationship Type="http://schemas.openxmlformats.org/officeDocument/2006/relationships/image" Target="/ppt/media/image3.svg" Id="R61e4cdc96011413b" /><Relationship Type="http://schemas.openxmlformats.org/officeDocument/2006/relationships/image" Target="/ppt/media/image4.jpeg" Id="Ref37d89287af474c" /><Relationship Type="http://schemas.openxmlformats.org/officeDocument/2006/relationships/image" Target="/ppt/media/image4.svg" Id="R4175819c6e974798" /><Relationship Type="http://schemas.openxmlformats.org/officeDocument/2006/relationships/notesSlide" Target="/ppt/notesSlides/notesSlide2.xml" Id="Rcecb061e20fe4a0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7fba2a07511444c" /><Relationship Type="http://schemas.openxmlformats.org/officeDocument/2006/relationships/image" Target="/ppt/media/image2.jpeg" Id="Rc0db758bbb1b491a" /><Relationship Type="http://schemas.openxmlformats.org/officeDocument/2006/relationships/notesSlide" Target="/ppt/notesSlides/notesSlide3.xml" Id="R09e038d69325461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338c86e853b41f0" /><Relationship Type="http://schemas.openxmlformats.org/officeDocument/2006/relationships/image" Target="/ppt/media/image2.jpeg" Id="R21192aad80ef48bb" /><Relationship Type="http://schemas.openxmlformats.org/officeDocument/2006/relationships/notesSlide" Target="/ppt/notesSlides/notesSlide4.xml" Id="Rbdfbe9f9de144ac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b543d2f08eb4699" /><Relationship Type="http://schemas.openxmlformats.org/officeDocument/2006/relationships/image" Target="/ppt/media/image2.jpeg" Id="Rf032f4936a3d46d3" /><Relationship Type="http://schemas.openxmlformats.org/officeDocument/2006/relationships/notesSlide" Target="/ppt/notesSlides/notesSlide5.xml" Id="Rbb3778f6b007425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c29130780ec46e9" /><Relationship Type="http://schemas.openxmlformats.org/officeDocument/2006/relationships/image" Target="/ppt/media/image2.jpeg" Id="Ra57b85ec06034b0f" /><Relationship Type="http://schemas.openxmlformats.org/officeDocument/2006/relationships/notesSlide" Target="/ppt/notesSlides/notesSlide6.xml" Id="R1c7d8828e23642d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cc343acca324710" /><Relationship Type="http://schemas.openxmlformats.org/officeDocument/2006/relationships/image" Target="/ppt/media/image2.jpeg" Id="Rbcf9826b086a4107" /><Relationship Type="http://schemas.openxmlformats.org/officeDocument/2006/relationships/notesSlide" Target="/ppt/notesSlides/notesSlide7.xml" Id="R97bb6b7c7abe4b1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76a42b8edbc4e6e" /><Relationship Type="http://schemas.openxmlformats.org/officeDocument/2006/relationships/image" Target="/ppt/media/image2.jpeg" Id="R1c7ee4c3b2344ec9" /><Relationship Type="http://schemas.openxmlformats.org/officeDocument/2006/relationships/notesSlide" Target="/ppt/notesSlides/notesSlide8.xml" Id="R75e87aa2253d4c9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eb546f5177b470c" /><Relationship Type="http://schemas.openxmlformats.org/officeDocument/2006/relationships/image" Target="/ppt/media/image2.jpeg" Id="R96bd4e19e35a42c0" /><Relationship Type="http://schemas.openxmlformats.org/officeDocument/2006/relationships/notesSlide" Target="/ppt/notesSlides/notesSlide9.xml" Id="Rfcf1a969fed34b4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b9fbede36604de0" /><Relationship Type="http://schemas.openxmlformats.org/officeDocument/2006/relationships/image" Target="/ppt/media/image2.jpeg" Id="Rb45e200c7af54924" /><Relationship Type="http://schemas.openxmlformats.org/officeDocument/2006/relationships/notesSlide" Target="/ppt/notesSlides/notesSlide10.xml" Id="R32e7e80662334b0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232dc05b7fe4fd7" /><Relationship Type="http://schemas.openxmlformats.org/officeDocument/2006/relationships/image" Target="/ppt/media/image2.jpeg" Id="R04719d3cd2af4907" /><Relationship Type="http://schemas.openxmlformats.org/officeDocument/2006/relationships/notesSlide" Target="/ppt/notesSlides/notesSlide11.xml" Id="Re6de9056e7c54d6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c3f080c9af144c8" /><Relationship Type="http://schemas.openxmlformats.org/officeDocument/2006/relationships/image" Target="/ppt/media/image2.jpeg" Id="Rc5a8d09cb90840d3" /><Relationship Type="http://schemas.openxmlformats.org/officeDocument/2006/relationships/notesSlide" Target="/ppt/notesSlides/notesSlide12.xml" Id="Rce50fcd5fb364d2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e7e303a220c4021" /><Relationship Type="http://schemas.openxmlformats.org/officeDocument/2006/relationships/image" Target="/ppt/media/image2.jpeg" Id="R58a3ef61d7744371" /><Relationship Type="http://schemas.openxmlformats.org/officeDocument/2006/relationships/notesSlide" Target="/ppt/notesSlides/notesSlide13.xml" Id="Rd3be64549cac42b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b8da22a23384fbd" /><Relationship Type="http://schemas.openxmlformats.org/officeDocument/2006/relationships/image" Target="/ppt/media/image2.jpeg" Id="Rba287863fe214d15" /><Relationship Type="http://schemas.openxmlformats.org/officeDocument/2006/relationships/notesSlide" Target="/ppt/notesSlides/notesSlide14.xml" Id="R112b44cb9906423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63add803684439a" /><Relationship Type="http://schemas.openxmlformats.org/officeDocument/2006/relationships/image" Target="/ppt/media/image5.jpeg" Id="Re74b1ea18fe842ec" /><Relationship Type="http://schemas.openxmlformats.org/officeDocument/2006/relationships/notesSlide" Target="/ppt/notesSlides/notesSlide15.xml" Id="Rfeebbeb7d2884243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28fec6be5a1403d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35F6A858-8CB4-4D1E-94EA-AB561E74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D5ED2F4-6542-490F-BF04-01CD441F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0" y="-254000"/>
            <a:ext cx="1016000" cy="101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5000"/>
            </a:srgbClr>
          </a:solidFill>
          <a:ln xmlns:a="http://schemas.openxmlformats.org/drawingml/2006/main" cmpd="sng">
            <a:solidFill>
              <a:srgbClr val="00A06B">
                <a:alpha val="15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203D89F-E79A-446B-93B6-72BD79DD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99999">
            <a:off x="10414000" y="508000"/>
            <a:ext cx="508000" cy="5080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B981">
              <a:alpha val="20000"/>
            </a:srgbClr>
          </a:solidFill>
          <a:ln xmlns:a="http://schemas.openxmlformats.org/drawingml/2006/main" cmpd="sng">
            <a:solidFill>
              <a:srgbClr val="00A06B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FBC18014-3A3F-4581-9B20-A10BE56A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286000"/>
            <a:ext cx="101600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48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7.2 平行线的判定与性质综合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3BAB2AED-20D4-406B-9FB0-F387D465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1143000" cy="76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cmpd="sng">
            <a:solidFill>
              <a:srgbClr val="00A06B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CD15C4FA-CAD4-4CF2-B86A-745EECB8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445000"/>
            <a:ext cx="1016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800" b="1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第7章 相交线与平行线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B88CC49F-6AAF-401D-BDE6-5C4E081C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5334000"/>
            <a:ext cx="10160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0" i="0" u="none">
                <a:solidFill>
                  <a:srgbClr val="334155">
                    <a:alpha val="70196"/>
                  </a:srgbClr>
                </a:solidFill>
                <a:latin typeface="Noto Sans SC"/>
                <a:ea typeface="Noto Sans SC"/>
                <a:cs typeface="Noto Sans SC"/>
              </a:rPr>
              <a:t>七年级数学下册 · 教材印刷页19—21 · 练习课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D96E9492-860B-46C0-8DA9-ED536024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08000" y="55880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cmpd="sng">
            <a:solidFill>
              <a:srgbClr val="00A06B">
                <a:alpha val="1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85441148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3b9aa7de0c32468f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C4E3A031-FBE4-4EEC-B6B2-46F47595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56AA863E-1555-4770-B596-C8BC6C8F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本节课，我们要解决什么？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AA2A1F0-6ACA-4BC7-B126-0C45D84E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6C29112B-6379-4B68-9FC7-0C5C65F4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2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0aa08fdcaf49b8">
            <a:extLst>
              <a:ext uri="{96DAC541-7B7A-43D3-8B79-37D633B846F1}">
                <asvg:svgBlip xmlns:asvg="http://schemas.microsoft.com/office/drawing/2016/SVG/main" r:embed="R214884d6ac534e9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7F4ECC6-B6DC-4158-92C1-67B1470D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认识对象：提取与表达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C5BE7A89-2EC6-47FB-B6C9-02C554DE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通过阅读、观察或操作，准确说出判定与性质综合、几何语言与推理链的含义、表示或基本步骤。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B309F7E3-40CE-4144-91F2-A1589639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DC149184-B258-46DC-B3DC-EDE2F508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7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9aa7de0c32468f">
            <a:extLst>
              <a:ext uri="{96DAC541-7B7A-43D3-8B79-37D633B846F1}">
                <asvg:svgBlip xmlns:asvg="http://schemas.microsoft.com/office/drawing/2016/SVG/main" r:embed="Rcebdc7786425405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1795C4A9-371D-4AAB-AB8C-72302438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探究规律：观察与验证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3F045A72-9BD9-4559-8F06-CC2DB136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在Q2—Q4中运用“按已知和所求选择依据”，能用完整语言、式子、图形或图表说明依据。</a:t>
            </a: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672FD612-A196-4735-9ABE-A3472DAB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A7E93C21-B853-4EC4-94D8-2EEFC575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2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8faf18833e4ce4">
            <a:extLst>
              <a:ext uri="{96DAC541-7B7A-43D3-8B79-37D633B846F1}">
                <asvg:svgBlip xmlns:asvg="http://schemas.microsoft.com/office/drawing/2016/SVG/main" r:embed="R61e4cdc96011413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06251E4B-1515-4ADB-826F-C285A2F0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规范应用：方法与检验</a:t>
            </a: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5C5041B0-1D9F-4E41-8FC7-75C6FD68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在基础与变式练习中运用“按已知和所求选择依据”解决同类问题，并对结果进行检验。</a:t>
            </a:r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E63A281B-0846-4AB0-96D6-41BC0F78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113E3ED2-3ED3-4BBD-878A-F8F82339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7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37d89287af474c">
            <a:extLst>
              <a:ext uri="{96DAC541-7B7A-43D3-8B79-37D633B846F1}">
                <asvg:svgBlip xmlns:asvg="http://schemas.microsoft.com/office/drawing/2016/SVG/main" r:embed="R4175819c6e97479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0F263855-5573-43DC-A006-C2061428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04 反思评价：表达与订正</a:t>
            </a:r>
          </a:p>
        </p:txBody>
      </p:sp>
      <p:sp>
        <p:nvSpPr>
          <p:cNvPr id="23" name="AutoShape 23">
            <a:extLst xmlns:a="http://schemas.openxmlformats.org/drawingml/2006/main">
              <a:ext uri="{FF2B5EF4-FFF2-40B4-BE49-F238E27FC236}">
                <a16:creationId xmlns:a16="http://schemas.microsoft.com/office/drawing/2014/main" id="{65B14B98-51A4-41F8-84DF-55E0F271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在合作探究和互评中形成先审条件、再选方法、规范表达、主动复核的学习习惯。</a:t>
            </a:r>
          </a:p>
        </p:txBody>
      </p:sp>
    </p:spTree>
    <p:extLst>
      <p:ext uri="{BB962C8B-B14F-4D97-AF65-F5344CB8AC3E}">
        <p14:creationId xmlns:p14="http://schemas.microsoft.com/office/powerpoint/2010/main" val="1761065254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c0db758bbb1b491a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C60B422-E6E2-4008-930A-A4247B5F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9DA9AE7C-ACB3-4B60-B00B-D4EC7B21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问题从哪里来？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EE52F2D-C9E2-4D18-86B2-1B0FA310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E9849650-CF9E-412F-9E80-D5D2EDB4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教材情境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对应印刷页19—21。先读图、读表或读题，圈出已知和所求。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EF41003C-D4E4-49E0-86CE-2FFAEA7A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A1432678-4521-40AB-AADE-3190628F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已有基础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调用学生已经学习平行线判定与性质，具备基本观察、计算、作图或整理数据的经验。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64B284B8-122E-4B84-BAB6-34175382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227C77E8-4C1D-489C-A574-120DDD7C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核心任务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聚焦判定与性质综合、几何语言与推理链、关键方法，不急于抄结论。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446D4A4-AC1A-4120-B7D8-9BFB9404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40F542E7-1CE9-41AE-A45C-063FAC2A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课堂路径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观察/阅读 → 自主记录 → 合作验证 → 例练检测。</a:t>
            </a:r>
          </a:p>
        </p:txBody>
      </p:sp>
      <p:sp>
        <p:nvSpPr>
          <p:cNvPr id="16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58DEF62D-03B6-44F4-AF20-6560BFC4D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C761D796-6074-4EB8-8E32-D20536CDC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976" y="239010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2ED3AB4C-0B46-40DE-8818-E4A14D27D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976" y="287778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1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6AFD90D6-426A-4431-9BDA-B33BF571F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602730" y="2115788"/>
            <a:ext cx="690869" cy="9753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334155"/>
            </a:solidFill>
            <a:prstDash val="solid"/>
          </a:ln>
        </p:spPr>
      </p:sp>
      <p:sp>
        <p:nvSpPr>
          <p:cNvPr id="20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C0F7E716-501D-495B-934E-D0CDCE718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CD155F42-5CC8-491A-B6A9-6883D4A13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697944" y="239010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22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44202A3-458E-46E5-ABD8-1CFA22B5B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697944" y="287778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23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2CF44A68-6909-449A-A174-FC8D04E84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063698" y="2115788"/>
            <a:ext cx="690869" cy="9753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334155"/>
            </a:solidFill>
            <a:prstDash val="solid"/>
          </a:ln>
        </p:spPr>
      </p:sp>
      <p:sp>
        <p:nvSpPr>
          <p:cNvPr id="2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5DB533AD-439D-4A0A-9D2D-BDB4F7048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9874E2A2-A614-402A-A331-D5A68B272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976" y="486660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2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C667D80F-9F3D-435C-9BBC-446438A29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976" y="535428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2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96734BE7-8B17-4D76-A295-8567FBED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602730" y="4592288"/>
            <a:ext cx="690869" cy="9753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334155"/>
            </a:solidFill>
            <a:prstDash val="solid"/>
          </a:ln>
        </p:spPr>
      </p:sp>
      <p:sp>
        <p:nvSpPr>
          <p:cNvPr id="28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A88A5E64-B6A4-4B93-AD10-C71B1085A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7D7009AD-651A-4BB9-838B-67B482A9C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697944" y="486660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3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C2C9824F-8CFA-4A7B-9B23-61FEFC838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697944" y="535428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3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2885BDE7-05E9-4B29-AB2E-AAB7C11AA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063698" y="4592288"/>
            <a:ext cx="690869" cy="9753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99333343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21192aad80ef48bb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旧知回顾：回顾“平行线判定与性质”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回忆规则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回顾“平行线判定与性质”：写出一条与本课有关的定义、性质或计算规则。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独立作答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先写定义、性质、式子、图形或数据关系，再与同桌核对。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连接新知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参考要点：正确表述“平行线判定与性质”的核心含义，并说明它与“判定与性质综合”的联系。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1DBEF2A3-4E1B-4E1A-BA1D-18358908D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9EFE27CD-7423-481B-B852-60D19FD3D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3379470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B8F77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4BED81E8-15C5-4592-A7E5-01F087A38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4690110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B8F77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33E0C3E2-69E5-4896-BAB9-3448A2098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193405" y="2642235"/>
            <a:ext cx="1570673" cy="26212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1CB15206-406C-4C59-A415-DB0A04976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8433" y="309372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B8F77"/>
                </a:solidFill>
              </a:defRPr>
            </a:pPr>
            <a:r>
              <a:rPr sz="1275" b="1">
                <a:solidFill>
                  <a:srgbClr val="1B8F77"/>
                </a:solidFill>
              </a:rPr>
              <a:t>a</a:t>
            </a:r>
          </a:p>
        </p:txBody>
      </p:sp>
      <p:sp>
        <p:nvSpPr>
          <p:cNvPr id="18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9ADA0422-DAC0-4302-9C73-2C3FD8969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8433" y="440436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B8F77"/>
                </a:solidFill>
              </a:defRPr>
            </a:pPr>
            <a:r>
              <a:rPr sz="1275" b="1">
                <a:solidFill>
                  <a:srgbClr val="1B8F77"/>
                </a:solidFill>
              </a:rPr>
              <a:t>b</a:t>
            </a:r>
          </a:p>
        </p:txBody>
      </p:sp>
      <p:sp>
        <p:nvSpPr>
          <p:cNvPr id="1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3034BE98-6998-44F2-9DB1-7E8ACD678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4888" y="343662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1</a:t>
            </a:r>
          </a:p>
        </p:txBody>
      </p:sp>
      <p:sp>
        <p:nvSpPr>
          <p:cNvPr id="20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85A7E92B-7ADE-4AB8-AEE1-628911CD5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8288" y="440436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f032f4936a3d46d3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自主探究：观察、猜想与验证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阅读与标记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阅读教材印刷页19—21，圈出“判定与性质综合、几何语言与推理链”，分别用一句话记录它们解决什么问题。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小组探究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小组探究：围绕“完整书写多步几何推理”设计一次观察、操作或推理，记录现象、猜想和验证依据。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记录证据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写清现象、猜想、验证方法和结论；暂不看参考答案。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图示：把条件、对象和关系组织在同一视图中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交流要求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围绕“按已知和所求选择依据”说明理由；同伴只追问条件和依据。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652A87A7-36D0-4112-B303-603736449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A98B045-D611-4B2A-9958-B6BE50931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4669155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4FE13404-F032-4EC3-8938-AACE6E936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5111115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DCED054-0D17-4D71-9B63-3E782F0E1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230755" y="4420553"/>
            <a:ext cx="1408748" cy="8839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a57b85ec06034b0f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概念一：判定与性质综合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教材表述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判定与性质综合：按教材明确其定义、条件、表示、性质或步骤。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成立条件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把定义中的对象、条件、表示和结论分开记录；缺少条件时不能直接使用。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规范表达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用数学符号、图形、式子、表格或完整语句表达，并标注单位和依据。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F4B317CD-D113-4064-AC4A-B78F458B6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9C9B49E4-FC1D-464F-9446-14514E4F6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3379470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B8F77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8A95C56-BAE3-4FB5-82F8-508832F0D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4690110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B8F77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A30495F5-F556-4A83-8716-FD887FE22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193405" y="2642235"/>
            <a:ext cx="1570673" cy="26212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43DC20DB-2D56-4161-AC51-5D097A60A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8433" y="309372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B8F77"/>
                </a:solidFill>
              </a:defRPr>
            </a:pPr>
            <a:r>
              <a:rPr sz="1275" b="1">
                <a:solidFill>
                  <a:srgbClr val="1B8F77"/>
                </a:solidFill>
              </a:rPr>
              <a:t>a</a:t>
            </a:r>
          </a:p>
        </p:txBody>
      </p:sp>
      <p:sp>
        <p:nvSpPr>
          <p:cNvPr id="18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9AF6FF4B-5BF8-49D0-8215-D240C1CC6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8433" y="440436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B8F77"/>
                </a:solidFill>
              </a:defRPr>
            </a:pPr>
            <a:r>
              <a:rPr sz="1275" b="1">
                <a:solidFill>
                  <a:srgbClr val="1B8F77"/>
                </a:solidFill>
              </a:rPr>
              <a:t>b</a:t>
            </a:r>
          </a:p>
        </p:txBody>
      </p:sp>
      <p:sp>
        <p:nvSpPr>
          <p:cNvPr id="1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4C891F7E-4E01-41F3-9AE0-1077E43ED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4888" y="343662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1</a:t>
            </a:r>
          </a:p>
        </p:txBody>
      </p:sp>
      <p:sp>
        <p:nvSpPr>
          <p:cNvPr id="20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04AD93FC-8A53-4A6A-A210-FC00F0513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8288" y="440436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cf9826b086a4107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概念二：几何语言与推理链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核心含义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几何语言与推理链：按教材明确其定义、条件、表示、性质或步骤。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与概念一的联系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先辨对象和条件，再比较两者的作用、方向或适用范围。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易错提醒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易错提醒：完整书写多步几何推理。先审条件，再使用结论。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20EF69F9-AE3B-4E76-A361-A0B100962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C30D40DA-F572-44D9-9542-B614FD059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3379470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B8F77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ED5B12B-6668-4E2E-8366-9C859E493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4690110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B8F77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9F22586C-6E20-403D-A50F-1892653F0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193405" y="2642235"/>
            <a:ext cx="1570673" cy="26212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3E72555A-C62C-4047-AA60-AD1D1683B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8433" y="309372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B8F77"/>
                </a:solidFill>
              </a:defRPr>
            </a:pPr>
            <a:r>
              <a:rPr sz="1275" b="1">
                <a:solidFill>
                  <a:srgbClr val="1B8F77"/>
                </a:solidFill>
              </a:rPr>
              <a:t>a</a:t>
            </a:r>
          </a:p>
        </p:txBody>
      </p:sp>
      <p:sp>
        <p:nvSpPr>
          <p:cNvPr id="18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1322B8C5-5DB2-4D1D-838B-1CDC00AD2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8433" y="440436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B8F77"/>
                </a:solidFill>
              </a:defRPr>
            </a:pPr>
            <a:r>
              <a:rPr sz="1275" b="1">
                <a:solidFill>
                  <a:srgbClr val="1B8F77"/>
                </a:solidFill>
              </a:rPr>
              <a:t>b</a:t>
            </a:r>
          </a:p>
        </p:txBody>
      </p:sp>
      <p:sp>
        <p:nvSpPr>
          <p:cNvPr id="1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2FF295F9-D975-4C13-B13A-7D3302BD0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4888" y="343662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1</a:t>
            </a:r>
          </a:p>
        </p:txBody>
      </p:sp>
      <p:sp>
        <p:nvSpPr>
          <p:cNvPr id="20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00ECD9AE-242D-4026-9CE9-9199630EB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8288" y="440436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1c7ee4c3b2344ec9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为什么这样做？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条件先行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小组探究：围绕“完整书写多步几何推理”设计一次观察、操作或推理，记录现象、猜想和验证依据。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已知与对象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逐项核对题目条件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方法与依据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选择定义、性质或步骤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结论与检验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回到题意复核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完成验证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参考思路：先明确条件，再围绕“按已知和所求选择依据”形成猜想，最后用定义、计算、图表或反例验证。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方法归纳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D82092F2-F154-4D4C-8C34-813F1B919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65C2773D-5F5D-4350-9CB0-C2319B2AD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744778" y="2905125"/>
            <a:ext cx="28460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B8F77"/>
            </a:solidFill>
            <a:prstDash val="solid"/>
          </a:ln>
        </p:spPr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42FB941C-7D87-4DCC-B8FF-7074D0D91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744778" y="3667125"/>
            <a:ext cx="28460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B8F77"/>
            </a:solidFill>
            <a:prstDash val="solid"/>
          </a:ln>
        </p:spPr>
      </p:sp>
      <p:sp>
        <p:nvSpPr>
          <p:cNvPr id="22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23A4068E-F5D9-4D36-9DE9-3601D9638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456295" y="2476500"/>
            <a:ext cx="1343978" cy="152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23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11A9645E-33FC-49B2-BE6B-5CC7DD35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4618" y="2619375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B8F77"/>
                </a:solidFill>
              </a:defRPr>
            </a:pPr>
            <a:r>
              <a:rPr sz="1275" b="1">
                <a:solidFill>
                  <a:srgbClr val="1B8F77"/>
                </a:solidFill>
              </a:rPr>
              <a:t>a</a:t>
            </a:r>
          </a:p>
        </p:txBody>
      </p:sp>
      <p:sp>
        <p:nvSpPr>
          <p:cNvPr id="24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69748715-93FC-4303-98FC-807721E59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4618" y="3381375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B8F77"/>
                </a:solidFill>
              </a:defRPr>
            </a:pPr>
            <a:r>
              <a:rPr sz="1275" b="1">
                <a:solidFill>
                  <a:srgbClr val="1B8F77"/>
                </a:solidFill>
              </a:rPr>
              <a:t>b</a:t>
            </a:r>
          </a:p>
        </p:txBody>
      </p:sp>
      <p:sp>
        <p:nvSpPr>
          <p:cNvPr id="25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A16B1119-EDDA-4BCB-90E1-18A87F639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7763" y="29622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1</a:t>
            </a:r>
          </a:p>
        </p:txBody>
      </p:sp>
      <p:sp>
        <p:nvSpPr>
          <p:cNvPr id="26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F579B9E5-36FD-41DD-ACAB-66055003C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33813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96bd4e19e35a42c0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4231154-1173-49AA-885D-6661E547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9F21351-F9A7-44B0-B281-B0142BCF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这些“陷阱”要避开！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3BE0D869-3E7A-481B-AE3C-425A3DF8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3A85DD8-4E75-4C88-9426-05D712CE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01 条件不完整</a:t>
            </a:r>
          </a:p>
        </p:txBody>
      </p:sp>
      <p:cxnSp>
        <p:nvCxnSpPr>
          <p:cNvPr id="41" name="Connector 6"/>
          <p:cNvCxnSpPr/>
          <p:nvPr/>
        </p:nvCxnSpPr>
        <p:spPr>
          <a:xfrm xmlns:a="http://schemas.openxmlformats.org/drawingml/2006/main" rot="-9046">
            <a:off x="9525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F0831D32-F590-4E23-AB46-1E3A85E6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只记“判定与性质综合”的结论，不检查适用条件。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回到定义逐项核对对象和条件。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745B3F9D-01B9-46F3-8B6D-A76E10CF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9C38A64-DE24-45B0-B73D-27BF48A2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02 相近概念混淆</a:t>
            </a:r>
          </a:p>
        </p:txBody>
      </p:sp>
      <p:cxnSp>
        <p:nvCxnSpPr>
          <p:cNvPr id="45" name="Connector 10"/>
          <p:cNvCxnSpPr/>
          <p:nvPr/>
        </p:nvCxnSpPr>
        <p:spPr>
          <a:xfrm xmlns:a="http://schemas.openxmlformats.org/drawingml/2006/main" rot="-9046">
            <a:off x="64770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88D98ADE-BA17-4CBB-8538-A869F437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把“按已知和所求选择依据”与相近概念或逆命题混淆。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比较条件、结论和使用方向。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059CBA47-C8CF-4445-8C86-3E351072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6D2AFE74-577B-43B4-BE03-E32F5D48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03 只写结果</a:t>
            </a:r>
          </a:p>
        </p:txBody>
      </p:sp>
      <p:cxnSp>
        <p:nvCxnSpPr>
          <p:cNvPr id="49" name="Connector 14"/>
          <p:cNvCxnSpPr/>
          <p:nvPr/>
        </p:nvCxnSpPr>
        <p:spPr>
          <a:xfrm xmlns:a="http://schemas.openxmlformats.org/drawingml/2006/main" rot="-9046">
            <a:off x="9525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17823634-06B4-4CC8-B01F-8362CB49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只写结果，不写过程、依据或检验。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补全过程、依据和必要单位。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748740E4-EC3D-4B6E-A197-D3D38362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2B130B84-92F9-49B2-BEA0-39FD7C51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04 不作检验</a:t>
            </a:r>
          </a:p>
        </p:txBody>
      </p:sp>
      <p:cxnSp>
        <p:nvCxnSpPr>
          <p:cNvPr id="53" name="Connector 18"/>
          <p:cNvCxnSpPr/>
          <p:nvPr/>
        </p:nvCxnSpPr>
        <p:spPr>
          <a:xfrm xmlns:a="http://schemas.openxmlformats.org/drawingml/2006/main" rot="-9046">
            <a:off x="64770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F6ABA36F-5119-4F25-92B0-24B0D3DC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只写结果，没有写过程、依据或检验。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代回、逆算、看图或用数据复核。</a:t>
            </a:r>
          </a:p>
        </p:txBody>
      </p:sp>
    </p:spTree>
    <p:extLst>
      <p:ext uri="{BB962C8B-B14F-4D97-AF65-F5344CB8AC3E}">
        <p14:creationId xmlns:p14="http://schemas.microsoft.com/office/powerpoint/2010/main" val="1561147634"/>
      </p:ext>
    </p:extLst>
  </p:cSld>
</p:sld>
</file>

<file path=ppt/slides/slide1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45e200c7af54924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教材例题：例题（对应教材7.2习题典型说理题）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题目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例题（对应教材7.2习题典型说理题）：已知∠1=∠2，可判定a∥b；又知∠3=72°且∠3与∠4是同旁内角，求∠4。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先独立完成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圈出条件和所求；选择方法；暂不显示完整答案。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思考顺序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1. 提取条件；2. 选用按已知和所求选择依据；3. 写依据并检验。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教材印刷页19—21：先思考，再对照规范解答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课堂约定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先写自己的第一步；同桌只检查条件和方法，不直接报答案。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58BF5D18-2061-4F5F-8A89-0B62E54C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5105D7E7-7A68-4F87-AB2D-5ED54A341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4669155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6E6CD347-AAD6-4BF0-A2C9-4D4492A0F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5111115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C40880BD-8768-484E-A9C0-648BED446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230755" y="4420553"/>
            <a:ext cx="1408748" cy="8839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4719d3cd2af4907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例题：规范解答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第一步：审条件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提取已知条件与所求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关系/规则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选择“按已知和所求选择依据”对应的方法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过程/表达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规范计算或说明并回到原题检验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结论/检验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结果必须满足全部条件并回到问题。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完整解答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先由同位角相等判定a∥b，再用平行线同旁内角互补，∠4=108°。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易错纠正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没有先确认“按已知和所求选择依据”的条件，或只写结果不写依据。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E9F42455-AF79-4447-BAC5-CBFFB480B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2A8BC602-2D72-40C1-B2D6-54CE69D2B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744778" y="2905125"/>
            <a:ext cx="28460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B8F77"/>
            </a:solidFill>
            <a:prstDash val="solid"/>
          </a:ln>
        </p:spPr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D54CA44-8344-420A-9E59-BB6DD0934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744778" y="3667125"/>
            <a:ext cx="28460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B8F77"/>
            </a:solidFill>
            <a:prstDash val="solid"/>
          </a:ln>
        </p:spPr>
      </p:sp>
      <p:sp>
        <p:nvSpPr>
          <p:cNvPr id="22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4C36A8A-FCB9-49AA-A035-8B0B7CCD6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456295" y="2476500"/>
            <a:ext cx="1343978" cy="152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23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8BBF07B3-AA9E-4C89-8348-CC5DAEFC2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4618" y="2619375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B8F77"/>
                </a:solidFill>
              </a:defRPr>
            </a:pPr>
            <a:r>
              <a:rPr sz="1275" b="1">
                <a:solidFill>
                  <a:srgbClr val="1B8F77"/>
                </a:solidFill>
              </a:rPr>
              <a:t>a</a:t>
            </a:r>
          </a:p>
        </p:txBody>
      </p:sp>
      <p:sp>
        <p:nvSpPr>
          <p:cNvPr id="24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CE67CE0B-F84A-41D5-9BC7-98B4BC3BD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4618" y="3381375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B8F77"/>
                </a:solidFill>
              </a:defRPr>
            </a:pPr>
            <a:r>
              <a:rPr sz="1275" b="1">
                <a:solidFill>
                  <a:srgbClr val="1B8F77"/>
                </a:solidFill>
              </a:rPr>
              <a:t>b</a:t>
            </a:r>
          </a:p>
        </p:txBody>
      </p:sp>
      <p:sp>
        <p:nvSpPr>
          <p:cNvPr id="25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ACBAE556-1998-49BB-8D98-65F0A3B83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7763" y="29622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1</a:t>
            </a:r>
          </a:p>
        </p:txBody>
      </p:sp>
      <p:sp>
        <p:nvSpPr>
          <p:cNvPr id="26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D77C76EE-D4F7-4573-A4AB-9F30F8FA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33813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1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c5a8d09cb90840d3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分层练习：基础与变式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Q5 · 基础辨析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基础辨析：判断“使用‘判定与性质综合’时不需要检查条件，只要结论看起来合理即可”，并说明理由。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Q6 · 变式练习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变式练习：把Q4的一个条件、数据或表示方式作合理改变，仍用“按已知和所求选择依据”解决，并写出检验。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同桌互查 · 说清依据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条件是否完整；② 方法是否匹配；③ 过程是否规范；④ 是否检验。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CAEBA20D-8E5A-40C4-81E2-D2C719C91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400BD2D2-619D-4992-AC19-4DF9376F5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4943" y="4987290"/>
            <a:ext cx="27774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335CCDC2-D1B6-4B93-B963-541FB09B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4943" y="5398770"/>
            <a:ext cx="27774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3D81BA77-4C5A-49C4-9742-78775080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139315" y="4755833"/>
            <a:ext cx="1311593" cy="8229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58a3ef61d7744371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变式提升：迁移方法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改变条件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变式练习：把Q4的一个条件、数据或表示方式作合理改变，仍用“按已知和所求选择依据”解决，并写出检验。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保持方法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说明改变后为什么仍能使用原方法，不能只照抄原结果。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评价标准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答案不唯一。评价要点：改变后的条件完整；方法仍属于“按已知和所求选择依据”；过程正确；检验与新条件一致。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图示：把新条件与原方法逐项对应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方法迁移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445A87A3-4AB1-4D0B-910E-B2B0282E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26E0377F-497E-4010-80BC-35C12BF29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4669155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4F0A36B-F7EC-4B2A-A03B-092C9A51D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5111115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4706DC5-B487-479C-924D-2A01AC34F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230755" y="4420553"/>
            <a:ext cx="1408748" cy="8839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a287863fe214d15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当堂检测：独立完成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Q7 · 纠错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纠错：“研究平行线的判定与性质综合时，只记结论，不必区分条件、过程和依据。”这句话对吗？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Q8 · 检测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当堂检测：完成几何推理时，怎样判断应该用“判定”还是“性质”？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自我检查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条件对象是否找全？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② 方法与依据是否匹配？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③ 结果是否检验？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④ 书写和单位是否规范？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33BF7C38-1FDB-4D11-8A6A-591922E8F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9DDCE554-1D3E-42AA-8CD2-A50434467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4943" y="4987290"/>
            <a:ext cx="27774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2A27370-6D7E-4106-9967-8F7D5133A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4943" y="5398770"/>
            <a:ext cx="27774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99C36A23-A5D0-4D25-999C-5942D3414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139315" y="4755833"/>
            <a:ext cx="1311593" cy="8229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e74b1ea18fe842ec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B8B25486-05ED-464E-B78C-65A73EF1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DD7D9C9-EED2-40F9-85CB-3E806CA8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课堂小结与分层作业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F98A90FC-C7B2-42DD-ADC0-B34CD999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968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4893008-7C6A-404C-B71F-2ED32934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1841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课堂小结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C1F41DEA-4E6B-4FED-A889-43C984E4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3114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小结参考：本课围绕“平行线的判定与性质综合”，掌握判定与性质综合、几何语言与推理链，并能运用按已知和所求选择依据。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5564938-2BB8-427A-97F0-660CAD8C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73500"/>
            <a:ext cx="5334000" cy="2349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31AA8B2B-395F-4BAC-8BB5-D1E9B16F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分层作业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F19059F7-3EE3-41D2-96D5-E0872D81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533900"/>
            <a:ext cx="4826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基础：完成教材7.2习题第1—13题中的基础题并订正Q5、Q7 提升：当堂检测：完成几何推理时，怎样判断应该用“判定”还是“性质”？ 自拟：围绕本课编一道题并交换解答。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D220E1E6-1EA6-424A-AE34-3C0F78CD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54500"/>
            <a:ext cx="5080000" cy="1841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CEE388D-60C1-41A8-83EE-82D30086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45000"/>
            <a:ext cx="4699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课后自评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我能否：①准确表达判定与性质综合；②运用按已知和所求选择依据；③写清依据并检验？选择“会 / 需复习 / 需帮助”。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959E12C9-8909-400B-A424-43B84F551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33625"/>
            <a:ext cx="433387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CC220C7E-F504-4F89-844E-C6EC615DB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417118" y="2796540"/>
            <a:ext cx="31203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26D1D49F-1E0A-4D5B-A925-CE7679C99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417118" y="3208020"/>
            <a:ext cx="31203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43527281-0F0E-4B08-9702-9768CD53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197215" y="2565083"/>
            <a:ext cx="1473518" cy="8229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102124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2026-08-02T18:13:18.1540000Z</dcterms:created>
  <dcterms:modified xsi:type="dcterms:W3CDTF">2026-08-02T18:13:18.1540000Z</dcterms:modified>
</coreProperties>
</file>