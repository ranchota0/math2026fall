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fcce9d4a6404af5" /><Relationship Type="http://schemas.openxmlformats.org/officeDocument/2006/relationships/extended-properties" Target="/docProps/app.xml" Id="Re994b32046294807" /><Relationship Type="http://schemas.openxmlformats.org/officeDocument/2006/relationships/officeDocument" Target="/ppt/presentation.xml" Id="Rd52392c1dd8942e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4bfd6fe1bd44e98"/>
    <p:sldMasterId xmlns:r="http://schemas.openxmlformats.org/officeDocument/2006/relationships" id="2147483660" r:id="R5d17a5c1114343cb"/>
  </p:sldMasterIdLst>
  <p:notesMasterIdLst>
    <p:notesMasterId xmlns:r="http://schemas.openxmlformats.org/officeDocument/2006/relationships" r:id="R8e56630fa45b4986"/>
  </p:notesMasterIdLst>
  <p:sldIdLst>
    <p:sldId xmlns:r="http://schemas.openxmlformats.org/officeDocument/2006/relationships" id="256" r:id="R0196719c78e6446e"/>
    <p:sldId xmlns:r="http://schemas.openxmlformats.org/officeDocument/2006/relationships" id="257" r:id="Rb0c5ea6e4e924e68"/>
    <p:sldId xmlns:r="http://schemas.openxmlformats.org/officeDocument/2006/relationships" id="258" r:id="R97819547ead44f64"/>
    <p:sldId xmlns:r="http://schemas.openxmlformats.org/officeDocument/2006/relationships" id="259" r:id="R9657b3dd264b41a3"/>
    <p:sldId xmlns:r="http://schemas.openxmlformats.org/officeDocument/2006/relationships" id="260" r:id="Rb21e7b99fea0425e"/>
    <p:sldId xmlns:r="http://schemas.openxmlformats.org/officeDocument/2006/relationships" id="261" r:id="R67b5aac3ab2b4ffa"/>
    <p:sldId xmlns:r="http://schemas.openxmlformats.org/officeDocument/2006/relationships" id="262" r:id="Ra52d763591ab4c34"/>
    <p:sldId xmlns:r="http://schemas.openxmlformats.org/officeDocument/2006/relationships" id="263" r:id="R1319c1ca5f314a4f"/>
    <p:sldId xmlns:r="http://schemas.openxmlformats.org/officeDocument/2006/relationships" id="264" r:id="R9af3698ed0114870"/>
    <p:sldId xmlns:r="http://schemas.openxmlformats.org/officeDocument/2006/relationships" id="265" r:id="R3df4d9f8d084451b"/>
    <p:sldId xmlns:r="http://schemas.openxmlformats.org/officeDocument/2006/relationships" id="266" r:id="Rb794f49b499a47bd"/>
    <p:sldId xmlns:r="http://schemas.openxmlformats.org/officeDocument/2006/relationships" id="267" r:id="Rfd1c9dd6a11840fe"/>
    <p:sldId xmlns:r="http://schemas.openxmlformats.org/officeDocument/2006/relationships" id="268" r:id="R4395f1e93bb141be"/>
    <p:sldId xmlns:r="http://schemas.openxmlformats.org/officeDocument/2006/relationships" id="269" r:id="R6ba31cf13f9b4433"/>
    <p:sldId xmlns:r="http://schemas.openxmlformats.org/officeDocument/2006/relationships" id="270" r:id="R15c1ea26758740f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dd1a325a3714a31" /><Relationship Type="http://schemas.openxmlformats.org/officeDocument/2006/relationships/slideMaster" Target="/ppt/slideMasters/slideMaster1.xml" Id="R84bfd6fe1bd44e98" /><Relationship Type="http://schemas.openxmlformats.org/officeDocument/2006/relationships/slideMaster" Target="/ppt/slideMasters/slideMaster2.xml" Id="R5d17a5c1114343cb" /><Relationship Type="http://schemas.openxmlformats.org/officeDocument/2006/relationships/notesMaster" Target="/ppt/notesMasters/notesMaster1.xml" Id="R8e56630fa45b4986" /><Relationship Type="http://schemas.openxmlformats.org/officeDocument/2006/relationships/presProps" Target="/ppt/presProps.xml" Id="R8f38f7328b5c4898" /><Relationship Type="http://schemas.openxmlformats.org/officeDocument/2006/relationships/viewProps" Target="/ppt/viewProps.xml" Id="R1d3429051b634dbd" /><Relationship Type="http://schemas.openxmlformats.org/officeDocument/2006/relationships/tableStyles" Target="/ppt/tableStyles.xml" Id="Rc098ba363d7340af" /><Relationship Type="http://schemas.openxmlformats.org/officeDocument/2006/relationships/slide" Target="/ppt/slides/slide1.xml" Id="R0196719c78e6446e" /><Relationship Type="http://schemas.openxmlformats.org/officeDocument/2006/relationships/slide" Target="/ppt/slides/slide2.xml" Id="Rb0c5ea6e4e924e68" /><Relationship Type="http://schemas.openxmlformats.org/officeDocument/2006/relationships/slide" Target="/ppt/slides/slide3.xml" Id="R97819547ead44f64" /><Relationship Type="http://schemas.openxmlformats.org/officeDocument/2006/relationships/slide" Target="/ppt/slides/slide4.xml" Id="R9657b3dd264b41a3" /><Relationship Type="http://schemas.openxmlformats.org/officeDocument/2006/relationships/slide" Target="/ppt/slides/slide5.xml" Id="Rb21e7b99fea0425e" /><Relationship Type="http://schemas.openxmlformats.org/officeDocument/2006/relationships/slide" Target="/ppt/slides/slide6.xml" Id="R67b5aac3ab2b4ffa" /><Relationship Type="http://schemas.openxmlformats.org/officeDocument/2006/relationships/slide" Target="/ppt/slides/slide7.xml" Id="Ra52d763591ab4c34" /><Relationship Type="http://schemas.openxmlformats.org/officeDocument/2006/relationships/slide" Target="/ppt/slides/slide8.xml" Id="R1319c1ca5f314a4f" /><Relationship Type="http://schemas.openxmlformats.org/officeDocument/2006/relationships/slide" Target="/ppt/slides/slide9.xml" Id="R9af3698ed0114870" /><Relationship Type="http://schemas.openxmlformats.org/officeDocument/2006/relationships/slide" Target="/ppt/slides/slide10.xml" Id="R3df4d9f8d084451b" /><Relationship Type="http://schemas.openxmlformats.org/officeDocument/2006/relationships/slide" Target="/ppt/slides/slide11.xml" Id="Rb794f49b499a47bd" /><Relationship Type="http://schemas.openxmlformats.org/officeDocument/2006/relationships/slide" Target="/ppt/slides/slide12.xml" Id="Rfd1c9dd6a11840fe" /><Relationship Type="http://schemas.openxmlformats.org/officeDocument/2006/relationships/slide" Target="/ppt/slides/slide13.xml" Id="R4395f1e93bb141be" /><Relationship Type="http://schemas.openxmlformats.org/officeDocument/2006/relationships/slide" Target="/ppt/slides/slide14.xml" Id="R6ba31cf13f9b4433" /><Relationship Type="http://schemas.openxmlformats.org/officeDocument/2006/relationships/slide" Target="/ppt/slides/slide15.xml" Id="R15c1ea26758740f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b16923fee9524c3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b12acb7fadb4c8a" /><Relationship Type="http://schemas.openxmlformats.org/officeDocument/2006/relationships/notesMaster" Target="/ppt/notesMasters/notesMaster1.xml" Id="R5790844e72d246c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1155f3c56da4dfc" /><Relationship Type="http://schemas.openxmlformats.org/officeDocument/2006/relationships/notesMaster" Target="/ppt/notesMasters/notesMaster1.xml" Id="R7b73dc6e27554ea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4d15b2797a9487a" /><Relationship Type="http://schemas.openxmlformats.org/officeDocument/2006/relationships/notesMaster" Target="/ppt/notesMasters/notesMaster1.xml" Id="Rb04a506ff7d8448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26eadd5680f477f" /><Relationship Type="http://schemas.openxmlformats.org/officeDocument/2006/relationships/notesMaster" Target="/ppt/notesMasters/notesMaster1.xml" Id="R171d16ee57ec479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3f2b6fd00014081" /><Relationship Type="http://schemas.openxmlformats.org/officeDocument/2006/relationships/notesMaster" Target="/ppt/notesMasters/notesMaster1.xml" Id="R28ed3144fc2f40c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fd26ac3316e42ab" /><Relationship Type="http://schemas.openxmlformats.org/officeDocument/2006/relationships/notesMaster" Target="/ppt/notesMasters/notesMaster1.xml" Id="R2fac1a4f3405449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896e6fa037846a3" /><Relationship Type="http://schemas.openxmlformats.org/officeDocument/2006/relationships/notesMaster" Target="/ppt/notesMasters/notesMaster1.xml" Id="Rc7cdb0919674459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58188469dd14706" /><Relationship Type="http://schemas.openxmlformats.org/officeDocument/2006/relationships/notesMaster" Target="/ppt/notesMasters/notesMaster1.xml" Id="R3fc576b5a1454c5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bf57d9f4fd249b1" /><Relationship Type="http://schemas.openxmlformats.org/officeDocument/2006/relationships/notesMaster" Target="/ppt/notesMasters/notesMaster1.xml" Id="R11544854ce83438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b8a8e518c66425a" /><Relationship Type="http://schemas.openxmlformats.org/officeDocument/2006/relationships/notesMaster" Target="/ppt/notesMasters/notesMaster1.xml" Id="Rd5a023f6e64f410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b9ac7ddb36340ea" /><Relationship Type="http://schemas.openxmlformats.org/officeDocument/2006/relationships/notesMaster" Target="/ppt/notesMasters/notesMaster1.xml" Id="Rfa494783a5b8413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ded8c01d970420e" /><Relationship Type="http://schemas.openxmlformats.org/officeDocument/2006/relationships/notesMaster" Target="/ppt/notesMasters/notesMaster1.xml" Id="Rb93d91dc0215426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b4edad3b47d4698" /><Relationship Type="http://schemas.openxmlformats.org/officeDocument/2006/relationships/notesMaster" Target="/ppt/notesMasters/notesMaster1.xml" Id="R8451850e7cb4473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5771f4240084977" /><Relationship Type="http://schemas.openxmlformats.org/officeDocument/2006/relationships/notesMaster" Target="/ppt/notesMasters/notesMaster1.xml" Id="R7de18cd9dc33432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caf7c5f90944053" /><Relationship Type="http://schemas.openxmlformats.org/officeDocument/2006/relationships/notesMaster" Target="/ppt/notesMasters/notesMaster1.xml" Id="Rf879c7ee5d96496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从教材印刷页117—119进入《二元一次方程组章末复习》。说明本课在第10章 二元一次方程组中的位置。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人教版《义务教育教科书·数学七年级下册》，印刷页117—119。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请学生默读目标，圈出“说出、说明、解决、检验”等可观察动词；课末按同一目标自评。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先让学生读图、读表或读题，不提前给结论。追问：对象是什么，条件是什么，要解决什么？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组织Q1独立作答。旧知只回顾本课真正需要的部分，出现条件缺失时用反例纠正。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布置Q2、Q3。教师巡视时只问现象、猜想和证据，给学生保留形成结论的过程。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形成第一个核心概念：方程组概念。要求学生标出对象、条件、表示和作用。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形成第二个核心概念或方法：代入与加减消元。与前一概念对比，避免相近知识混淆。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把探究记录整理为完整的条件—方法—结论链，强调结论来自证据而不是直觉。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逐条辨析易错点。要求学生说出错误发生在哪个条件、步骤或使用方向。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呈现Q4，保留独立思考时间。题型对应教材印刷页117—119的例题或典型任务。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人教版《义务教育教科书·数学七年级下册》，印刷页117—119。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按审条件—选方法—规范表达—检验的顺序讲评Q4，评分时过程与依据同样计分。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完成Q5、Q6。Q5用于基础辨析，Q6要求改变条件后仍能解释方法为何适用。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展示一份变式答案，依据评价标准互评；重点检查是否照抄原结果。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Q7、Q8独立完成，不在本页呈现答案。教师记录共性错误，作为下节课反馈依据。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回扣学习目标，布置基础、提升和自拟任务；请学生填写学案自评并写一条仍需帮助的问题。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28ab76b1414bc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4fae5f675f464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4e383e6b8b42d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2c814fae44413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0621dfb625493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292582a43846c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cf6962451e482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037165cde341c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ff9e08d05e410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5b7751f7544f89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0e0130e328456a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bc9d56b05a0493a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c4c17855f0e4a8d" /></Relationships>
</file>

<file path=ppt/slideLayouts/slideLayout1.xml><?xml version="1.0" encoding="utf-8"?>
<p:sldLayout xmlns:p="http://schemas.openxmlformats.org/presentationml/2006/main" matchingName="标题幻灯片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hape 30">
            <a:extLst xmlns:a="http://schemas.openxmlformats.org/drawingml/2006/main">
              <a:ext uri="{FF2B5EF4-FFF2-40B4-BE49-F238E27FC236}">
                <a16:creationId xmlns:a16="http://schemas.microsoft.com/office/drawing/2014/main" id="{81C558D3-089F-4C67-BC4D-83245CA7F86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43000" y="841772"/>
            <a:ext cx="6858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3" name="Shape 31">
            <a:extLst xmlns:a="http://schemas.openxmlformats.org/drawingml/2006/main">
              <a:ext uri="{FF2B5EF4-FFF2-40B4-BE49-F238E27FC236}">
                <a16:creationId xmlns:a16="http://schemas.microsoft.com/office/drawing/2014/main" id="{2FC5423C-F1D6-4FB3-ACFF-138CD859F36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2701528"/>
            <a:ext cx="6858000" cy="1241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14" name="Shape 32">
            <a:extLst xmlns:a="http://schemas.openxmlformats.org/drawingml/2006/main">
              <a:ext uri="{FF2B5EF4-FFF2-40B4-BE49-F238E27FC236}">
                <a16:creationId xmlns:a16="http://schemas.microsoft.com/office/drawing/2014/main" id="{76B33730-797A-4776-90B9-6A151FA98AB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5" name="Shape 33">
            <a:extLst xmlns:a="http://schemas.openxmlformats.org/drawingml/2006/main">
              <a:ext uri="{FF2B5EF4-FFF2-40B4-BE49-F238E27FC236}">
                <a16:creationId xmlns:a16="http://schemas.microsoft.com/office/drawing/2014/main" id="{F24C44C0-5BF6-4705-ADDE-8B38C975121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6" name="Shape 34">
            <a:extLst xmlns:a="http://schemas.openxmlformats.org/drawingml/2006/main">
              <a:ext uri="{FF2B5EF4-FFF2-40B4-BE49-F238E27FC236}">
                <a16:creationId xmlns:a16="http://schemas.microsoft.com/office/drawing/2014/main" id="{AB060FA6-2CB7-45F7-AF4D-B82687E6FD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标题和内容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hape 54">
            <a:extLst xmlns:a="http://schemas.openxmlformats.org/drawingml/2006/main">
              <a:ext uri="{FF2B5EF4-FFF2-40B4-BE49-F238E27FC236}">
                <a16:creationId xmlns:a16="http://schemas.microsoft.com/office/drawing/2014/main" id="{773FCBA7-63BE-47A1-845F-68F5204E85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9" name="Shape 55">
            <a:extLst xmlns:a="http://schemas.openxmlformats.org/drawingml/2006/main">
              <a:ext uri="{FF2B5EF4-FFF2-40B4-BE49-F238E27FC236}">
                <a16:creationId xmlns:a16="http://schemas.microsoft.com/office/drawing/2014/main" id="{B934C16F-A719-4358-9B9E-8FFA2BFE42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0" name="Shape 56">
            <a:extLst xmlns:a="http://schemas.openxmlformats.org/drawingml/2006/main">
              <a:ext uri="{FF2B5EF4-FFF2-40B4-BE49-F238E27FC236}">
                <a16:creationId xmlns:a16="http://schemas.microsoft.com/office/drawing/2014/main" id="{48DAF2FE-6FF4-4231-BD01-663C3C4BBA5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1" name="Shape 57">
            <a:extLst xmlns:a="http://schemas.openxmlformats.org/drawingml/2006/main">
              <a:ext uri="{FF2B5EF4-FFF2-40B4-BE49-F238E27FC236}">
                <a16:creationId xmlns:a16="http://schemas.microsoft.com/office/drawing/2014/main" id="{5D87FF35-31AA-489B-A20D-09A919F371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Shape 58">
            <a:extLst xmlns:a="http://schemas.openxmlformats.org/drawingml/2006/main">
              <a:ext uri="{FF2B5EF4-FFF2-40B4-BE49-F238E27FC236}">
                <a16:creationId xmlns:a16="http://schemas.microsoft.com/office/drawing/2014/main" id="{A79BBCA7-91A0-4B46-A232-038E1FBDEF9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节标题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hape 59">
            <a:extLst xmlns:a="http://schemas.openxmlformats.org/drawingml/2006/main">
              <a:ext uri="{FF2B5EF4-FFF2-40B4-BE49-F238E27FC236}">
                <a16:creationId xmlns:a16="http://schemas.microsoft.com/office/drawing/2014/main" id="{008BFF75-9404-495F-8F1D-F6FE81DE16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282304"/>
            <a:ext cx="7886700" cy="213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5" name="Shape 60">
            <a:extLst xmlns:a="http://schemas.openxmlformats.org/drawingml/2006/main">
              <a:ext uri="{FF2B5EF4-FFF2-40B4-BE49-F238E27FC236}">
                <a16:creationId xmlns:a16="http://schemas.microsoft.com/office/drawing/2014/main" id="{C7383DE6-9C1C-48CD-9192-7012A980F9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3442097"/>
            <a:ext cx="7886700" cy="1125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6" name="Shape 61">
            <a:extLst xmlns:a="http://schemas.openxmlformats.org/drawingml/2006/main">
              <a:ext uri="{FF2B5EF4-FFF2-40B4-BE49-F238E27FC236}">
                <a16:creationId xmlns:a16="http://schemas.microsoft.com/office/drawing/2014/main" id="{E19F9005-60C3-4F3E-A51E-921CF621365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Shape 62">
            <a:extLst xmlns:a="http://schemas.openxmlformats.org/drawingml/2006/main">
              <a:ext uri="{FF2B5EF4-FFF2-40B4-BE49-F238E27FC236}">
                <a16:creationId xmlns:a16="http://schemas.microsoft.com/office/drawing/2014/main" id="{6603DA38-B620-4779-8031-AD7FDCF81A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8" name="Shape 63">
            <a:extLst xmlns:a="http://schemas.openxmlformats.org/drawingml/2006/main">
              <a:ext uri="{FF2B5EF4-FFF2-40B4-BE49-F238E27FC236}">
                <a16:creationId xmlns:a16="http://schemas.microsoft.com/office/drawing/2014/main" id="{20E8057C-F4B8-4771-A75A-267A8C3161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两栏内容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hape 9">
            <a:extLst xmlns:a="http://schemas.openxmlformats.org/drawingml/2006/main">
              <a:ext uri="{FF2B5EF4-FFF2-40B4-BE49-F238E27FC236}">
                <a16:creationId xmlns:a16="http://schemas.microsoft.com/office/drawing/2014/main" id="{0586E73B-DF8D-44F0-AA98-A5251FFE85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1" name="Shape 10">
            <a:extLst xmlns:a="http://schemas.openxmlformats.org/drawingml/2006/main">
              <a:ext uri="{FF2B5EF4-FFF2-40B4-BE49-F238E27FC236}">
                <a16:creationId xmlns:a16="http://schemas.microsoft.com/office/drawing/2014/main" id="{6840B7D1-E1E0-426D-869F-F69122C75B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2" name="Shape 11">
            <a:extLst xmlns:a="http://schemas.openxmlformats.org/drawingml/2006/main">
              <a:ext uri="{FF2B5EF4-FFF2-40B4-BE49-F238E27FC236}">
                <a16:creationId xmlns:a16="http://schemas.microsoft.com/office/drawing/2014/main" id="{0A6FCEB4-5ECD-4129-9330-216F1B279B3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291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3" name="Shape 12">
            <a:extLst xmlns:a="http://schemas.openxmlformats.org/drawingml/2006/main">
              <a:ext uri="{FF2B5EF4-FFF2-40B4-BE49-F238E27FC236}">
                <a16:creationId xmlns:a16="http://schemas.microsoft.com/office/drawing/2014/main" id="{495E0562-DBAB-4D85-8168-1CCB0D86D6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4" name="Shape 13">
            <a:extLst xmlns:a="http://schemas.openxmlformats.org/drawingml/2006/main">
              <a:ext uri="{FF2B5EF4-FFF2-40B4-BE49-F238E27FC236}">
                <a16:creationId xmlns:a16="http://schemas.microsoft.com/office/drawing/2014/main" id="{DD9BE91A-E2DD-4BF1-9874-E1355ED08F4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5" name="Shape 14">
            <a:extLst xmlns:a="http://schemas.openxmlformats.org/drawingml/2006/main">
              <a:ext uri="{FF2B5EF4-FFF2-40B4-BE49-F238E27FC236}">
                <a16:creationId xmlns:a16="http://schemas.microsoft.com/office/drawing/2014/main" id="{BE454B15-4E7F-43D5-A4F7-1762D06737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比较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1775F871-F742-4728-99E8-30F0848A87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571F7621-952E-4D85-A163-75319DC953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260872"/>
            <a:ext cx="3868340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0630E83E-4235-42F8-B867-1BC303BCCC2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878806"/>
            <a:ext cx="3868340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C1D051A9-CD54-448B-8139-2EFF19C23C9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260872"/>
            <a:ext cx="3887391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C0194990-4325-4361-B3DF-A7B9B824B75B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29150" y="1878806"/>
            <a:ext cx="3887391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F5C01F63-66A3-4D8F-952D-A9B7567DCA0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EBA4A3B3-D6DC-442F-ACCF-36428D630A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29F271FA-3699-4374-A6F9-7E4F0812F5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仅标题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Shape 20">
            <a:extLst xmlns:a="http://schemas.openxmlformats.org/drawingml/2006/main">
              <a:ext uri="{FF2B5EF4-FFF2-40B4-BE49-F238E27FC236}">
                <a16:creationId xmlns:a16="http://schemas.microsoft.com/office/drawing/2014/main" id="{7C8D4694-40F1-4495-B0D4-22FD008497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7" name="Shape 21">
            <a:extLst xmlns:a="http://schemas.openxmlformats.org/drawingml/2006/main">
              <a:ext uri="{FF2B5EF4-FFF2-40B4-BE49-F238E27FC236}">
                <a16:creationId xmlns:a16="http://schemas.microsoft.com/office/drawing/2014/main" id="{76807FC3-A4D2-412A-AD46-124E4111BBB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8" name="Shape 22">
            <a:extLst xmlns:a="http://schemas.openxmlformats.org/drawingml/2006/main">
              <a:ext uri="{FF2B5EF4-FFF2-40B4-BE49-F238E27FC236}">
                <a16:creationId xmlns:a16="http://schemas.microsoft.com/office/drawing/2014/main" id="{5EC5AB90-AB3D-4352-A8C6-027DADB80A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9" name="Shape 23">
            <a:extLst xmlns:a="http://schemas.openxmlformats.org/drawingml/2006/main">
              <a:ext uri="{FF2B5EF4-FFF2-40B4-BE49-F238E27FC236}">
                <a16:creationId xmlns:a16="http://schemas.microsoft.com/office/drawing/2014/main" id="{2A46E61D-21E8-401F-B07E-7F59D2215D6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空白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Shape 6">
            <a:extLst xmlns:a="http://schemas.openxmlformats.org/drawingml/2006/main">
              <a:ext uri="{FF2B5EF4-FFF2-40B4-BE49-F238E27FC236}">
                <a16:creationId xmlns:a16="http://schemas.microsoft.com/office/drawing/2014/main" id="{88731147-58ED-49A0-AF62-503DBF4A44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2" name="Shape 7">
            <a:extLst xmlns:a="http://schemas.openxmlformats.org/drawingml/2006/main">
              <a:ext uri="{FF2B5EF4-FFF2-40B4-BE49-F238E27FC236}">
                <a16:creationId xmlns:a16="http://schemas.microsoft.com/office/drawing/2014/main" id="{88BB1B7F-E414-4351-9E2B-1F36EA1C93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3" name="Shape 8">
            <a:extLst xmlns:a="http://schemas.openxmlformats.org/drawingml/2006/main">
              <a:ext uri="{FF2B5EF4-FFF2-40B4-BE49-F238E27FC236}">
                <a16:creationId xmlns:a16="http://schemas.microsoft.com/office/drawing/2014/main" id="{C049B8E4-D95C-4D02-9D2A-9C534F8DEC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内容与标题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Shape 43">
            <a:extLst xmlns:a="http://schemas.openxmlformats.org/drawingml/2006/main">
              <a:ext uri="{FF2B5EF4-FFF2-40B4-BE49-F238E27FC236}">
                <a16:creationId xmlns:a16="http://schemas.microsoft.com/office/drawing/2014/main" id="{7981AEC1-A09C-43C1-9E30-56E7BFB6F0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6" name="Shape 44">
            <a:extLst xmlns:a="http://schemas.openxmlformats.org/drawingml/2006/main">
              <a:ext uri="{FF2B5EF4-FFF2-40B4-BE49-F238E27FC236}">
                <a16:creationId xmlns:a16="http://schemas.microsoft.com/office/drawing/2014/main" id="{A3517535-511E-43DD-9649-5126EF5316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 xmlns:a="http://schemas.openxmlformats.org/drawingml/2006/main"/>
        </p:txBody>
      </p:sp>
      <p:sp>
        <p:nvSpPr>
          <p:cNvPr id="57" name="Shape 45">
            <a:extLst xmlns:a="http://schemas.openxmlformats.org/drawingml/2006/main">
              <a:ext uri="{FF2B5EF4-FFF2-40B4-BE49-F238E27FC236}">
                <a16:creationId xmlns:a16="http://schemas.microsoft.com/office/drawing/2014/main" id="{CE5CCEF6-0694-41AB-9169-0081D48D987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58" name="Shape 46">
            <a:extLst xmlns:a="http://schemas.openxmlformats.org/drawingml/2006/main">
              <a:ext uri="{FF2B5EF4-FFF2-40B4-BE49-F238E27FC236}">
                <a16:creationId xmlns:a16="http://schemas.microsoft.com/office/drawing/2014/main" id="{BB9122C8-FCE1-4C1C-8121-19BFEE120A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Shape 47">
            <a:extLst xmlns:a="http://schemas.openxmlformats.org/drawingml/2006/main">
              <a:ext uri="{FF2B5EF4-FFF2-40B4-BE49-F238E27FC236}">
                <a16:creationId xmlns:a16="http://schemas.microsoft.com/office/drawing/2014/main" id="{296794B6-81AC-4303-977B-7269E4F2F3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0" name="Shape 48">
            <a:extLst xmlns:a="http://schemas.openxmlformats.org/drawingml/2006/main">
              <a:ext uri="{FF2B5EF4-FFF2-40B4-BE49-F238E27FC236}">
                <a16:creationId xmlns:a16="http://schemas.microsoft.com/office/drawing/2014/main" id="{5A4DAB6B-412D-45B3-9202-BED9F75BB1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图片与标题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Shape 24">
            <a:extLst xmlns:a="http://schemas.openxmlformats.org/drawingml/2006/main">
              <a:ext uri="{FF2B5EF4-FFF2-40B4-BE49-F238E27FC236}">
                <a16:creationId xmlns:a16="http://schemas.microsoft.com/office/drawing/2014/main" id="{4D4980F6-F398-44B5-992C-E6C6EB286C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3" name="Shape 25">
            <a:extLst xmlns:a="http://schemas.openxmlformats.org/drawingml/2006/main">
              <a:ext uri="{FF2B5EF4-FFF2-40B4-BE49-F238E27FC236}">
                <a16:creationId xmlns:a16="http://schemas.microsoft.com/office/drawing/2014/main" id="{93C32912-05D6-4C71-AFD0-FB2ADE3ACCEA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4" name="Shape 26">
            <a:extLst xmlns:a="http://schemas.openxmlformats.org/drawingml/2006/main">
              <a:ext uri="{FF2B5EF4-FFF2-40B4-BE49-F238E27FC236}">
                <a16:creationId xmlns:a16="http://schemas.microsoft.com/office/drawing/2014/main" id="{A242D9ED-3EAF-4AE7-8169-5A0ADE4101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65" name="Shape 27">
            <a:extLst xmlns:a="http://schemas.openxmlformats.org/drawingml/2006/main">
              <a:ext uri="{FF2B5EF4-FFF2-40B4-BE49-F238E27FC236}">
                <a16:creationId xmlns:a16="http://schemas.microsoft.com/office/drawing/2014/main" id="{C66DD68B-8397-4B49-A7C5-FDA5C38FEA5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6" name="Shape 28">
            <a:extLst xmlns:a="http://schemas.openxmlformats.org/drawingml/2006/main">
              <a:ext uri="{FF2B5EF4-FFF2-40B4-BE49-F238E27FC236}">
                <a16:creationId xmlns:a16="http://schemas.microsoft.com/office/drawing/2014/main" id="{3AF11104-4646-4D0C-B302-641707939CE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Shape 29">
            <a:extLst xmlns:a="http://schemas.openxmlformats.org/drawingml/2006/main">
              <a:ext uri="{FF2B5EF4-FFF2-40B4-BE49-F238E27FC236}">
                <a16:creationId xmlns:a16="http://schemas.microsoft.com/office/drawing/2014/main" id="{67B97825-AEEE-4A8E-A770-5C0290BBBA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标题和竖排文字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Shape 49">
            <a:extLst xmlns:a="http://schemas.openxmlformats.org/drawingml/2006/main">
              <a:ext uri="{FF2B5EF4-FFF2-40B4-BE49-F238E27FC236}">
                <a16:creationId xmlns:a16="http://schemas.microsoft.com/office/drawing/2014/main" id="{3B196173-78E1-4386-851B-DE0403C60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0" name="Shape 50">
            <a:extLst xmlns:a="http://schemas.openxmlformats.org/drawingml/2006/main">
              <a:ext uri="{FF2B5EF4-FFF2-40B4-BE49-F238E27FC236}">
                <a16:creationId xmlns:a16="http://schemas.microsoft.com/office/drawing/2014/main" id="{8A88F7C5-0C00-4326-B3FF-F455A2D838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940248" y="-942379"/>
            <a:ext cx="3263504" cy="788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1" name="Shape 51">
            <a:extLst xmlns:a="http://schemas.openxmlformats.org/drawingml/2006/main">
              <a:ext uri="{FF2B5EF4-FFF2-40B4-BE49-F238E27FC236}">
                <a16:creationId xmlns:a16="http://schemas.microsoft.com/office/drawing/2014/main" id="{C22A8F7B-7858-44F6-9F1E-D2DEAC7A467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2" name="Shape 52">
            <a:extLst xmlns:a="http://schemas.openxmlformats.org/drawingml/2006/main">
              <a:ext uri="{FF2B5EF4-FFF2-40B4-BE49-F238E27FC236}">
                <a16:creationId xmlns:a16="http://schemas.microsoft.com/office/drawing/2014/main" id="{916C9623-8B86-4E26-8024-EE8CBA92D1F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3" name="Shape 53">
            <a:extLst xmlns:a="http://schemas.openxmlformats.org/drawingml/2006/main">
              <a:ext uri="{FF2B5EF4-FFF2-40B4-BE49-F238E27FC236}">
                <a16:creationId xmlns:a16="http://schemas.microsoft.com/office/drawing/2014/main" id="{1D34C76F-2DAF-4A0C-9F87-FAB8D15A199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竖排标题与文本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Shape 15">
            <a:extLst xmlns:a="http://schemas.openxmlformats.org/drawingml/2006/main">
              <a:ext uri="{FF2B5EF4-FFF2-40B4-BE49-F238E27FC236}">
                <a16:creationId xmlns:a16="http://schemas.microsoft.com/office/drawing/2014/main" id="{A4BE78CF-2F89-4F43-BAD7-06A807E064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5350073" y="1467445"/>
            <a:ext cx="4358879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6" name="Shape 16">
            <a:extLst xmlns:a="http://schemas.openxmlformats.org/drawingml/2006/main">
              <a:ext uri="{FF2B5EF4-FFF2-40B4-BE49-F238E27FC236}">
                <a16:creationId xmlns:a16="http://schemas.microsoft.com/office/drawing/2014/main" id="{432C7FCB-8755-430C-9DC9-7F6F8A5BF6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349573" y="-447080"/>
            <a:ext cx="4358879" cy="580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7" name="Shape 17">
            <a:extLst xmlns:a="http://schemas.openxmlformats.org/drawingml/2006/main">
              <a:ext uri="{FF2B5EF4-FFF2-40B4-BE49-F238E27FC236}">
                <a16:creationId xmlns:a16="http://schemas.microsoft.com/office/drawing/2014/main" id="{CE20FF06-1C41-4406-B397-D561A2AAE2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8" name="Shape 18">
            <a:extLst xmlns:a="http://schemas.openxmlformats.org/drawingml/2006/main">
              <a:ext uri="{FF2B5EF4-FFF2-40B4-BE49-F238E27FC236}">
                <a16:creationId xmlns:a16="http://schemas.microsoft.com/office/drawing/2014/main" id="{BCD8D827-CDBC-4D70-82E1-223943514F5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9" name="Shape 19">
            <a:extLst xmlns:a="http://schemas.openxmlformats.org/drawingml/2006/main">
              <a:ext uri="{FF2B5EF4-FFF2-40B4-BE49-F238E27FC236}">
                <a16:creationId xmlns:a16="http://schemas.microsoft.com/office/drawing/2014/main" id="{9FE0AD20-8B2C-4468-916F-730326919F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3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d0b68a1a4004921" /><Relationship Type="http://schemas.openxmlformats.org/officeDocument/2006/relationships/slideLayout" Target="/ppt/slideLayouts/slideLayout1.xml" Id="Rb5a52c02bef4466f" /><Relationship Type="http://schemas.openxmlformats.org/officeDocument/2006/relationships/slideLayout" Target="/ppt/slideLayouts/slideLayout2.xml" Id="R5819222d57264063" /><Relationship Type="http://schemas.openxmlformats.org/officeDocument/2006/relationships/slideLayout" Target="/ppt/slideLayouts/slideLayout3.xml" Id="Re5911ce3b2af4f69" /><Relationship Type="http://schemas.openxmlformats.org/officeDocument/2006/relationships/slideLayout" Target="/ppt/slideLayouts/slideLayout4.xml" Id="R4c680e628db545dc" /><Relationship Type="http://schemas.openxmlformats.org/officeDocument/2006/relationships/slideLayout" Target="/ppt/slideLayouts/slideLayout5.xml" Id="Ra1833a2bb9484618" /><Relationship Type="http://schemas.openxmlformats.org/officeDocument/2006/relationships/slideLayout" Target="/ppt/slideLayouts/slideLayout6.xml" Id="R70833489ed224765" /><Relationship Type="http://schemas.openxmlformats.org/officeDocument/2006/relationships/slideLayout" Target="/ppt/slideLayouts/slideLayout7.xml" Id="R93525f722e5b4e69" /><Relationship Type="http://schemas.openxmlformats.org/officeDocument/2006/relationships/slideLayout" Target="/ppt/slideLayouts/slideLayout8.xml" Id="R17950cdb54e14180" /><Relationship Type="http://schemas.openxmlformats.org/officeDocument/2006/relationships/slideLayout" Target="/ppt/slideLayouts/slideLayout9.xml" Id="R87d31b89ebc74146" /><Relationship Type="http://schemas.openxmlformats.org/officeDocument/2006/relationships/slideLayout" Target="/ppt/slideLayouts/slideLayout10.xml" Id="Rf258450ebaf24b8f" /><Relationship Type="http://schemas.openxmlformats.org/officeDocument/2006/relationships/slideLayout" Target="/ppt/slideLayouts/slideLayout11.xml" Id="R0c3486a37bf447ca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a4d534378868477e" /><Relationship Type="http://schemas.openxmlformats.org/officeDocument/2006/relationships/slideLayout" Target="/ppt/slideLayouts/slideLayout12.xml" Id="Reb9a4a04b4c94ad0" /><Relationship Type="http://schemas.openxmlformats.org/officeDocument/2006/relationships/slideLayout" Target="/ppt/slideLayouts/slideLayout13.xml" Id="Rb2d9b8f987b24a90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hape 1">
            <a:extLst xmlns:a="http://schemas.openxmlformats.org/drawingml/2006/main">
              <a:ext uri="{FF2B5EF4-FFF2-40B4-BE49-F238E27FC236}">
                <a16:creationId xmlns:a16="http://schemas.microsoft.com/office/drawing/2014/main" id="{C7C8B2E2-013E-40E1-BA27-71E182FB33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61920D55-8B08-4DEC-B9DF-099DFBBE18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marR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8" name="Shape 3">
            <a:extLst xmlns:a="http://schemas.openxmlformats.org/drawingml/2006/main">
              <a:ext uri="{FF2B5EF4-FFF2-40B4-BE49-F238E27FC236}">
                <a16:creationId xmlns:a16="http://schemas.microsoft.com/office/drawing/2014/main" id="{2172879B-F520-40B5-89EF-B6B070E43EF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9" name="Shape 4">
            <a:extLst xmlns:a="http://schemas.openxmlformats.org/drawingml/2006/main">
              <a:ext uri="{FF2B5EF4-FFF2-40B4-BE49-F238E27FC236}">
                <a16:creationId xmlns:a16="http://schemas.microsoft.com/office/drawing/2014/main" id="{B12DB8F2-F668-42E1-A045-7B09014259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5704B2E6-4A19-4474-BE49-7AE322FF19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5a52c02bef4466f"/>
    <p:sldLayoutId xmlns:r="http://schemas.openxmlformats.org/officeDocument/2006/relationships" id="2147483650" r:id="R5819222d57264063"/>
    <p:sldLayoutId xmlns:r="http://schemas.openxmlformats.org/officeDocument/2006/relationships" id="2147483651" r:id="Re5911ce3b2af4f69"/>
    <p:sldLayoutId xmlns:r="http://schemas.openxmlformats.org/officeDocument/2006/relationships" id="2147483652" r:id="R4c680e628db545dc"/>
    <p:sldLayoutId xmlns:r="http://schemas.openxmlformats.org/officeDocument/2006/relationships" id="2147483653" r:id="Ra1833a2bb9484618"/>
    <p:sldLayoutId xmlns:r="http://schemas.openxmlformats.org/officeDocument/2006/relationships" id="2147483654" r:id="R70833489ed224765"/>
    <p:sldLayoutId xmlns:r="http://schemas.openxmlformats.org/officeDocument/2006/relationships" id="2147483655" r:id="R93525f722e5b4e69"/>
    <p:sldLayoutId xmlns:r="http://schemas.openxmlformats.org/officeDocument/2006/relationships" id="2147483656" r:id="R17950cdb54e14180"/>
    <p:sldLayoutId xmlns:r="http://schemas.openxmlformats.org/officeDocument/2006/relationships" id="2147483657" r:id="R87d31b89ebc74146"/>
    <p:sldLayoutId xmlns:r="http://schemas.openxmlformats.org/officeDocument/2006/relationships" id="2147483658" r:id="Rf258450ebaf24b8f"/>
    <p:sldLayoutId xmlns:r="http://schemas.openxmlformats.org/officeDocument/2006/relationships" id="2147483659" r:id="R0c3486a37bf447ca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默认主题"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eb9a4a04b4c94ad0"/>
    <p:sldLayoutId xmlns:r="http://schemas.openxmlformats.org/officeDocument/2006/relationships" id="2147483662" r:id="Rb2d9b8f987b24a90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85296c86fa94fd6" /><Relationship Type="http://schemas.openxmlformats.org/officeDocument/2006/relationships/image" Target="/ppt/media/image.jpeg" Id="Rdc89d7a099c14955" /><Relationship Type="http://schemas.openxmlformats.org/officeDocument/2006/relationships/notesSlide" Target="/ppt/notesSlides/notesSlide1.xml" Id="R492496a8b8c14eb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23444ec0d0948e5" /><Relationship Type="http://schemas.openxmlformats.org/officeDocument/2006/relationships/image" Target="/ppt/media/image2.jpeg" Id="Rca48e31cde8045ed" /><Relationship Type="http://schemas.openxmlformats.org/officeDocument/2006/relationships/image" Target="/ppt/media/image.svg" Id="Rf327d51285a546a7" /><Relationship Type="http://schemas.openxmlformats.org/officeDocument/2006/relationships/image" Target="/ppt/media/image.jpeg" Id="Ra0b761bc0c6f4ef9" /><Relationship Type="http://schemas.openxmlformats.org/officeDocument/2006/relationships/image" Target="/ppt/media/image2.svg" Id="Rdee028a2ae434248" /><Relationship Type="http://schemas.openxmlformats.org/officeDocument/2006/relationships/image" Target="/ppt/media/image3.jpeg" Id="Rd99826251e3342eb" /><Relationship Type="http://schemas.openxmlformats.org/officeDocument/2006/relationships/image" Target="/ppt/media/image3.svg" Id="Rf2637e155bdb4084" /><Relationship Type="http://schemas.openxmlformats.org/officeDocument/2006/relationships/image" Target="/ppt/media/image4.jpeg" Id="Rde20bfd78ad4436d" /><Relationship Type="http://schemas.openxmlformats.org/officeDocument/2006/relationships/image" Target="/ppt/media/image4.svg" Id="Rd1fdd7af3bff4407" /><Relationship Type="http://schemas.openxmlformats.org/officeDocument/2006/relationships/notesSlide" Target="/ppt/notesSlides/notesSlide2.xml" Id="R0710537828f94fe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2987691e05a427e" /><Relationship Type="http://schemas.openxmlformats.org/officeDocument/2006/relationships/image" Target="/ppt/media/image2.jpeg" Id="R271394ef4dc4450b" /><Relationship Type="http://schemas.openxmlformats.org/officeDocument/2006/relationships/notesSlide" Target="/ppt/notesSlides/notesSlide3.xml" Id="R992d1d3d0a2d4b1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fe25f7693a64d34" /><Relationship Type="http://schemas.openxmlformats.org/officeDocument/2006/relationships/image" Target="/ppt/media/image2.jpeg" Id="Rd3d70bde57534d5b" /><Relationship Type="http://schemas.openxmlformats.org/officeDocument/2006/relationships/notesSlide" Target="/ppt/notesSlides/notesSlide4.xml" Id="Rc6a87477455641d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9166e5268d84221" /><Relationship Type="http://schemas.openxmlformats.org/officeDocument/2006/relationships/image" Target="/ppt/media/image2.jpeg" Id="R2d3964b9cfd84279" /><Relationship Type="http://schemas.openxmlformats.org/officeDocument/2006/relationships/notesSlide" Target="/ppt/notesSlides/notesSlide5.xml" Id="R5fa70d03438c493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adf96fc2c544679" /><Relationship Type="http://schemas.openxmlformats.org/officeDocument/2006/relationships/image" Target="/ppt/media/image2.jpeg" Id="Rdf8d8557ec8d48d9" /><Relationship Type="http://schemas.openxmlformats.org/officeDocument/2006/relationships/notesSlide" Target="/ppt/notesSlides/notesSlide6.xml" Id="R47d76fc58ff2416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26b0d34bc7b495d" /><Relationship Type="http://schemas.openxmlformats.org/officeDocument/2006/relationships/image" Target="/ppt/media/image2.jpeg" Id="Rd709399ac5154376" /><Relationship Type="http://schemas.openxmlformats.org/officeDocument/2006/relationships/notesSlide" Target="/ppt/notesSlides/notesSlide7.xml" Id="R3bbcec1c249c4ac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bea5f87e8584498" /><Relationship Type="http://schemas.openxmlformats.org/officeDocument/2006/relationships/image" Target="/ppt/media/image2.jpeg" Id="R00e5e301b9f24000" /><Relationship Type="http://schemas.openxmlformats.org/officeDocument/2006/relationships/notesSlide" Target="/ppt/notesSlides/notesSlide8.xml" Id="Rcbb18ba9b8ba402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3c151e2beb84080" /><Relationship Type="http://schemas.openxmlformats.org/officeDocument/2006/relationships/image" Target="/ppt/media/image2.jpeg" Id="R4b9aae4cd9ae4aa7" /><Relationship Type="http://schemas.openxmlformats.org/officeDocument/2006/relationships/notesSlide" Target="/ppt/notesSlides/notesSlide9.xml" Id="R95e658d2f9024d1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2a15e9bce5841ad" /><Relationship Type="http://schemas.openxmlformats.org/officeDocument/2006/relationships/image" Target="/ppt/media/image2.jpeg" Id="R3b2675d53dea48c6" /><Relationship Type="http://schemas.openxmlformats.org/officeDocument/2006/relationships/notesSlide" Target="/ppt/notesSlides/notesSlide10.xml" Id="R8ca8c43cde724fa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ff2bc517b8e4539" /><Relationship Type="http://schemas.openxmlformats.org/officeDocument/2006/relationships/image" Target="/ppt/media/image2.jpeg" Id="Rd058ecdb48c64d84" /><Relationship Type="http://schemas.openxmlformats.org/officeDocument/2006/relationships/notesSlide" Target="/ppt/notesSlides/notesSlide11.xml" Id="R292d752cddd4461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2f1daaf9b5d4ced" /><Relationship Type="http://schemas.openxmlformats.org/officeDocument/2006/relationships/image" Target="/ppt/media/image2.jpeg" Id="R5e2e3e415d2e4a3f" /><Relationship Type="http://schemas.openxmlformats.org/officeDocument/2006/relationships/notesSlide" Target="/ppt/notesSlides/notesSlide12.xml" Id="Rada1b0e6ae2f486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8b5c58483a14856" /><Relationship Type="http://schemas.openxmlformats.org/officeDocument/2006/relationships/image" Target="/ppt/media/image2.jpeg" Id="Raf969b9b2256442c" /><Relationship Type="http://schemas.openxmlformats.org/officeDocument/2006/relationships/notesSlide" Target="/ppt/notesSlides/notesSlide13.xml" Id="Ra616fd07565744b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ec1e31c9fb14cdc" /><Relationship Type="http://schemas.openxmlformats.org/officeDocument/2006/relationships/image" Target="/ppt/media/image2.jpeg" Id="R38ce08abdd114fc6" /><Relationship Type="http://schemas.openxmlformats.org/officeDocument/2006/relationships/notesSlide" Target="/ppt/notesSlides/notesSlide14.xml" Id="R81dfb269f5e2479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256817150fd4e70" /><Relationship Type="http://schemas.openxmlformats.org/officeDocument/2006/relationships/image" Target="/ppt/media/image5.jpeg" Id="Rabbed165bf104415" /><Relationship Type="http://schemas.openxmlformats.org/officeDocument/2006/relationships/notesSlide" Target="/ppt/notesSlides/notesSlide15.xml" Id="Ra49a3da573a044ea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dc89d7a099c14955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35F6A858-8CB4-4D1E-94EA-AB561E74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D5ED2F4-6542-490F-BF04-01CD441F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0" y="-254000"/>
            <a:ext cx="1016000" cy="101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5000"/>
            </a:srgbClr>
          </a:solidFill>
          <a:ln xmlns:a="http://schemas.openxmlformats.org/drawingml/2006/main" cmpd="sng">
            <a:solidFill>
              <a:srgbClr val="00A06B">
                <a:alpha val="15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203D89F-E79A-446B-93B6-72BD79DD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99999">
            <a:off x="10414000" y="508000"/>
            <a:ext cx="508000" cy="5080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B981">
              <a:alpha val="20000"/>
            </a:srgbClr>
          </a:solidFill>
          <a:ln xmlns:a="http://schemas.openxmlformats.org/drawingml/2006/main" cmpd="sng">
            <a:solidFill>
              <a:srgbClr val="00A06B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FBC18014-3A3F-4581-9B20-A10BE56A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286000"/>
            <a:ext cx="101600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48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小结与复习题10 二元一次方程组章末复习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3BAB2AED-20D4-406B-9FB0-F387D465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1143000" cy="76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cmpd="sng">
            <a:solidFill>
              <a:srgbClr val="00A06B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CD15C4FA-CAD4-4CF2-B86A-745EECB8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445000"/>
            <a:ext cx="1016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800" b="1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第10章 二元一次方程组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B88CC49F-6AAF-401D-BDE6-5C4E081C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5334000"/>
            <a:ext cx="10160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0" i="0" u="none">
                <a:solidFill>
                  <a:srgbClr val="334155">
                    <a:alpha val="70196"/>
                  </a:srgbClr>
                </a:solidFill>
                <a:latin typeface="Noto Sans SC"/>
                <a:ea typeface="Noto Sans SC"/>
                <a:cs typeface="Noto Sans SC"/>
              </a:rPr>
              <a:t>七年级数学下册 · 教材印刷页117—119 · 复习课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D96E9492-860B-46C0-8DA9-ED536024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08000" y="55880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cmpd="sng">
            <a:solidFill>
              <a:srgbClr val="00A06B">
                <a:alpha val="1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385441148"/>
      </p:ext>
    </p:extLst>
  </p:cSld>
</p:sld>
</file>

<file path=ppt/slides/slide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ca48e31cde8045ed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C4E3A031-FBE4-4EEC-B6B2-46F47595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56AA863E-1555-4770-B596-C8BC6C8F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本节课，我们要解决什么？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AA2A1F0-6ACA-4BC7-B126-0C45D84E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6C29112B-6379-4B68-9FC7-0C5C65F4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2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b761bc0c6f4ef9">
            <a:extLst>
              <a:ext uri="{96DAC541-7B7A-43D3-8B79-37D633B846F1}">
                <asvg:svgBlip xmlns:asvg="http://schemas.microsoft.com/office/drawing/2016/SVG/main" r:embed="Rf327d51285a546a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7F4ECC6-B6DC-4158-92C1-67B1470D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认识对象：提取与表达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C5BE7A89-2EC6-47FB-B6C9-02C554DE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通过阅读、观察或操作，准确说出方程组概念、代入与加减消元、实际应用、三元方程组的含义、表示或基本步骤。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B309F7E3-40CE-4144-91F2-A1589639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DC149184-B258-46DC-B3DC-EDE2F508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7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48e31cde8045ed">
            <a:extLst>
              <a:ext uri="{96DAC541-7B7A-43D3-8B79-37D633B846F1}">
                <asvg:svgBlip xmlns:asvg="http://schemas.microsoft.com/office/drawing/2016/SVG/main" r:embed="Rdee028a2ae43424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1795C4A9-371D-4AAB-AB8C-72302438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探究规律：观察与验证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3F045A72-9BD9-4559-8F06-CC2DB136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在Q2—Q4中运用“构建“建模—消元—求解—检验”流程”，能用完整语言、式子、图形或图表说明依据。</a:t>
            </a: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672FD612-A196-4735-9ABE-A3472DAB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A7E93C21-B853-4EC4-94D8-2EEFC575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2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9826251e3342eb">
            <a:extLst>
              <a:ext uri="{96DAC541-7B7A-43D3-8B79-37D633B846F1}">
                <asvg:svgBlip xmlns:asvg="http://schemas.microsoft.com/office/drawing/2016/SVG/main" r:embed="Rf2637e155bdb408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06251E4B-1515-4ADB-826F-C285A2F0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规范应用：方法与检验</a:t>
            </a: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5C5041B0-1D9F-4E41-8FC7-75C6FD68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在基础与变式练习中运用“构建“建模—消元—求解—检验”流程”解决同类问题，并对结果进行检验。</a:t>
            </a:r>
          </a:p>
        </p:txBody>
      </p: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E63A281B-0846-4AB0-96D6-41BC0F78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113E3ED2-3ED3-4BBD-878A-F8F82339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7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20bfd78ad4436d">
            <a:extLst>
              <a:ext uri="{96DAC541-7B7A-43D3-8B79-37D633B846F1}">
                <asvg:svgBlip xmlns:asvg="http://schemas.microsoft.com/office/drawing/2016/SVG/main" r:embed="Rd1fdd7af3bff440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0F263855-5573-43DC-A006-C2061428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04 反思评价：表达与订正</a:t>
            </a:r>
          </a:p>
        </p:txBody>
      </p:sp>
      <p:sp>
        <p:nvSpPr>
          <p:cNvPr id="23" name="AutoShape 23">
            <a:extLst xmlns:a="http://schemas.openxmlformats.org/drawingml/2006/main">
              <a:ext uri="{FF2B5EF4-FFF2-40B4-BE49-F238E27FC236}">
                <a16:creationId xmlns:a16="http://schemas.microsoft.com/office/drawing/2014/main" id="{65B14B98-51A4-41F8-84DF-55E0F271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在合作探究和互评中形成先审条件、再选方法、规范表达、主动复核的学习习惯。</a:t>
            </a:r>
          </a:p>
        </p:txBody>
      </p:sp>
    </p:spTree>
    <p:extLst>
      <p:ext uri="{BB962C8B-B14F-4D97-AF65-F5344CB8AC3E}">
        <p14:creationId xmlns:p14="http://schemas.microsoft.com/office/powerpoint/2010/main" val="1761065254"/>
      </p:ext>
    </p:extLst>
  </p:cSld>
</p:sld>
</file>

<file path=ppt/slides/slide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271394ef4dc4450b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C60B422-E6E2-4008-930A-A4247B5F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9DA9AE7C-ACB3-4B60-B00B-D4EC7B21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问题从哪里来？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EE52F2D-C9E2-4D18-86B2-1B0FA310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E9849650-CF9E-412F-9E80-D5D2EDB4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教材情境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对应印刷页117—119。先读图、读表或读题，圈出已知和所求。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EF41003C-D4E4-49E0-86CE-2FFAEA7A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A1432678-4521-40AB-AADE-3190628F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已有基础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调用学生已经学习第十章全部内容，具备基本观察、计算、作图或整理数据的经验。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64B284B8-122E-4B84-BAB6-34175382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227C77E8-4C1D-489C-A574-120DDD7C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核心任务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聚焦方程组概念、代入与加减消元、实际应用、三元方程组，不急于抄结论。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446D4A4-AC1A-4120-B7D8-9BFB9404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40F542E7-1CE9-41AE-A45C-063FAC2A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课堂路径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观察/阅读 → 自主记录 → 合作验证 → 例练检测。</a:t>
            </a:r>
          </a:p>
        </p:txBody>
      </p:sp>
      <p:sp>
        <p:nvSpPr>
          <p:cNvPr id="16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88FC9FC1-C95A-4AF3-A67C-5D5129623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4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7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962E378A-FBF9-4C35-BACD-47E36B9E4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57" y="2268188"/>
            <a:ext cx="670550" cy="70104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①</a:t>
            </a:r>
          </a:p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②</a:t>
            </a:r>
          </a:p>
        </p:txBody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413881A-9981-45DE-923C-8917F56E6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866886" y="2603468"/>
            <a:ext cx="36575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  <p:sp>
        <p:nvSpPr>
          <p:cNvPr id="1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1A96806E-64F1-486C-8159-5D5F78795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525" y="2359628"/>
            <a:ext cx="32511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20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F41816CE-8299-4747-A6E4-F02135DAA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3599" y="2359628"/>
            <a:ext cx="507992" cy="51816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一元</a:t>
            </a:r>
          </a:p>
        </p:txBody>
      </p:sp>
      <p:sp>
        <p:nvSpPr>
          <p:cNvPr id="21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855E2312-474F-4D3F-874F-D87142475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468" y="18414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2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CD065FD7-091A-44CA-816B-2D93C6F75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6026" y="2268188"/>
            <a:ext cx="670550" cy="70104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①</a:t>
            </a:r>
          </a:p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②</a:t>
            </a:r>
          </a:p>
        </p:txBody>
      </p:sp>
      <p:sp>
        <p:nvSpPr>
          <p:cNvPr id="23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F33D89B0-2968-4407-995B-3A2CBDC69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27854" y="2603468"/>
            <a:ext cx="36575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  <p:sp>
        <p:nvSpPr>
          <p:cNvPr id="24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9063B6E0-CF76-4BEC-973F-C9EC26DA3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8493" y="2359628"/>
            <a:ext cx="32511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25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1A3FB93B-A212-4098-8316-68D09B62A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567" y="2359628"/>
            <a:ext cx="507992" cy="51816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一元</a:t>
            </a:r>
          </a:p>
        </p:txBody>
      </p:sp>
      <p:sp>
        <p:nvSpPr>
          <p:cNvPr id="26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217DD364-D992-4264-9102-CD27B62A1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79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7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D3648FFA-DB39-4917-8748-7AED33041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57" y="4744688"/>
            <a:ext cx="670550" cy="70104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①</a:t>
            </a:r>
          </a:p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②</a:t>
            </a:r>
          </a:p>
        </p:txBody>
      </p:sp>
      <p:sp>
        <p:nvSpPr>
          <p:cNvPr id="2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54185B24-410F-4819-B85F-16EAFD1FD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866886" y="5079968"/>
            <a:ext cx="36575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  <p:sp>
        <p:nvSpPr>
          <p:cNvPr id="2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6AB5651E-16C8-488E-BF3E-AFD9762F8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525" y="4836128"/>
            <a:ext cx="32511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30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FC72E9F9-41B2-4C5A-9A43-CF57ACB8A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3599" y="4836128"/>
            <a:ext cx="507992" cy="51816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一元</a:t>
            </a:r>
          </a:p>
        </p:txBody>
      </p:sp>
      <p:sp>
        <p:nvSpPr>
          <p:cNvPr id="31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3A55D518-F96A-4C75-A942-EB764735B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468" y="43179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32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FC5BF6C0-EB84-4AE2-95BB-AFE31B4EF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6026" y="4744688"/>
            <a:ext cx="670550" cy="70104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①</a:t>
            </a:r>
          </a:p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②</a:t>
            </a:r>
          </a:p>
        </p:txBody>
      </p:sp>
      <p:sp>
        <p:nvSpPr>
          <p:cNvPr id="33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ED5A1D18-B96A-43EA-920B-F4D1BEE96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27854" y="5079968"/>
            <a:ext cx="36575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  <p:sp>
        <p:nvSpPr>
          <p:cNvPr id="34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01584E9F-B1BE-40BE-9115-B2ED4D0D5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8493" y="4836128"/>
            <a:ext cx="32511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35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AB641151-AD4E-436C-91E6-5B313AD73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567" y="4836128"/>
            <a:ext cx="507992" cy="51816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299333343"/>
      </p:ext>
    </p:extLst>
  </p:cSld>
</p:sld>
</file>

<file path=ppt/slides/slide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d3d70bde57534d5b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旧知回顾：回顾“第十章全部内容”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回忆规则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回顾“第十章全部内容”：写出一条与本课有关的定义、性质或计算规则。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独立作答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先写定义、性质、式子、图形或数据关系，再与同桌核对。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连接新知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参考要点：正确表述“第十章全部内容”的核心含义，并说明它与“方程组概念”的联系。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2192B1BA-00B3-4C34-9E16-B0DADBA26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D96F81D5-5B66-49F6-A171-40F33296D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4695" y="3051810"/>
            <a:ext cx="1524476" cy="1884045"/>
          </a:xfrm>
          <a:prstGeom xmlns:a="http://schemas.openxmlformats.org/drawingml/2006/main" prst="roundRect">
            <a:avLst>
              <a:gd name="adj" fmla="val 49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34155"/>
                </a:solidFill>
              </a:defRPr>
            </a:pPr>
            <a:r>
              <a:rPr sz="1425" b="1">
                <a:solidFill>
                  <a:srgbClr val="334155"/>
                </a:solidFill>
              </a:rPr>
              <a:t>方程①</a:t>
            </a:r>
          </a:p>
          <a:p xmlns:a="http://schemas.openxmlformats.org/drawingml/2006/main">
            <a:pPr>
              <a:defRPr sz="1425" b="1">
                <a:solidFill>
                  <a:srgbClr val="334155"/>
                </a:solidFill>
              </a:defRPr>
            </a:pPr>
            <a:r>
              <a:rPr sz="1425" b="1">
                <a:solidFill>
                  <a:srgbClr val="334155"/>
                </a:solidFill>
              </a:rPr>
              <a:t>方程②</a:t>
            </a:r>
          </a:p>
        </p:txBody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A4A88A17-9C7E-4BF4-A538-F90F657BD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793956" y="3952875"/>
            <a:ext cx="83153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4793B"/>
            </a:solidFill>
            <a:prstDash val="solid"/>
          </a:ln>
        </p:spPr>
      </p:sp>
      <p:sp>
        <p:nvSpPr>
          <p:cNvPr id="16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5E2A2960-6981-455F-8390-B14ECF19B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349" y="3297555"/>
            <a:ext cx="73914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17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5E29649D-BB2A-4770-A95A-E84EF0070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4078" y="3297555"/>
            <a:ext cx="1154906" cy="1392555"/>
          </a:xfrm>
          <a:prstGeom xmlns:a="http://schemas.openxmlformats.org/drawingml/2006/main" prst="roundRect">
            <a:avLst>
              <a:gd name="adj" fmla="val 6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B8F77"/>
                </a:solidFill>
              </a:defRPr>
            </a:pPr>
            <a:r>
              <a:rPr sz="1425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2d3964b9cfd84279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自主探究：观察、猜想与验证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阅读与标记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阅读教材印刷页117—119，圈出“方程组概念、代入与加减消元、实际应用、三元方程组”，分别用一句话记录它们解决什么问题。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小组探究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小组探究：围绕“综合选择解法并解释实际结果”设计一次观察、操作或推理，记录现象、猜想和验证依据。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记录证据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写清现象、猜想、验证方法和结论；暂不看参考答案。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图示：把条件、对象和关系组织在同一视图中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交流要求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围绕“构建“建模—消元—求解—检验”流程”说明理由；同伴只追问条件和依据。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679B776D-4F0F-4120-B787-DBCB6680A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5524484C-2084-4A01-BE47-6B38E355A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4558665"/>
            <a:ext cx="1367314" cy="635318"/>
          </a:xfrm>
          <a:prstGeom xmlns:a="http://schemas.openxmlformats.org/drawingml/2006/main" prst="roundRect">
            <a:avLst>
              <a:gd name="adj" fmla="val 119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①</a:t>
            </a:r>
          </a:p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②</a:t>
            </a:r>
          </a:p>
        </p:txBody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52215431-34DE-47DA-AD38-19C26AD24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769394" y="4862513"/>
            <a:ext cx="7458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169879C0-FCF7-44B1-8BEB-2D714729C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261" y="4641533"/>
            <a:ext cx="66294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18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93345675-7E7D-4C6C-A217-397D2F0EA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503" y="4641533"/>
            <a:ext cx="1035844" cy="469583"/>
          </a:xfrm>
          <a:prstGeom xmlns:a="http://schemas.openxmlformats.org/drawingml/2006/main" prst="roundRect">
            <a:avLst>
              <a:gd name="adj" fmla="val 162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6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df8d8557ec8d48d9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概念一：方程组概念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教材表述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方程组概念：按教材明确其定义、条件、表示、性质或步骤。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成立条件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把定义中的对象、条件、表示和结论分开记录；缺少条件时不能直接使用。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规范表达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用数学符号、图形、式子、表格或完整语句表达，并标注单位和依据。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0F24ECFE-63BD-4E46-AB12-315DF2F7A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9028B59F-1410-4663-8D55-D86CA1088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4695" y="3051810"/>
            <a:ext cx="1524476" cy="1884045"/>
          </a:xfrm>
          <a:prstGeom xmlns:a="http://schemas.openxmlformats.org/drawingml/2006/main" prst="roundRect">
            <a:avLst>
              <a:gd name="adj" fmla="val 49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34155"/>
                </a:solidFill>
              </a:defRPr>
            </a:pPr>
            <a:r>
              <a:rPr sz="1425" b="1">
                <a:solidFill>
                  <a:srgbClr val="334155"/>
                </a:solidFill>
              </a:rPr>
              <a:t>方程①</a:t>
            </a:r>
          </a:p>
          <a:p xmlns:a="http://schemas.openxmlformats.org/drawingml/2006/main">
            <a:pPr>
              <a:defRPr sz="1425" b="1">
                <a:solidFill>
                  <a:srgbClr val="334155"/>
                </a:solidFill>
              </a:defRPr>
            </a:pPr>
            <a:r>
              <a:rPr sz="1425" b="1">
                <a:solidFill>
                  <a:srgbClr val="334155"/>
                </a:solidFill>
              </a:rPr>
              <a:t>方程②</a:t>
            </a:r>
          </a:p>
        </p:txBody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C3BAC464-6889-468F-9E38-66BE60C06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793956" y="3952875"/>
            <a:ext cx="83153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4793B"/>
            </a:solidFill>
            <a:prstDash val="solid"/>
          </a:ln>
        </p:spPr>
      </p:sp>
      <p:sp>
        <p:nvSpPr>
          <p:cNvPr id="16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274C95BD-AB6C-4739-971D-55C3CD622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349" y="3297555"/>
            <a:ext cx="73914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17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ADF7EEA5-54DA-4051-B0AD-692C625BF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4078" y="3297555"/>
            <a:ext cx="1154906" cy="1392555"/>
          </a:xfrm>
          <a:prstGeom xmlns:a="http://schemas.openxmlformats.org/drawingml/2006/main" prst="roundRect">
            <a:avLst>
              <a:gd name="adj" fmla="val 6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B8F77"/>
                </a:solidFill>
              </a:defRPr>
            </a:pPr>
            <a:r>
              <a:rPr sz="1425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d709399ac5154376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概念二：代入与加减消元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核心含义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代入与加减消元：按教材明确其定义、条件、表示、性质或步骤。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与概念一的联系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先辨对象和条件，再比较两者的作用、方向或适用范围。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易错提醒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易错提醒：综合选择解法并解释实际结果。先审条件，再使用结论。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C7CF7011-0BE3-4592-8F6C-91F3FC789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C09E3A98-88D3-44A0-9963-63FA84270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4695" y="3051810"/>
            <a:ext cx="1524476" cy="1884045"/>
          </a:xfrm>
          <a:prstGeom xmlns:a="http://schemas.openxmlformats.org/drawingml/2006/main" prst="roundRect">
            <a:avLst>
              <a:gd name="adj" fmla="val 49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34155"/>
                </a:solidFill>
              </a:defRPr>
            </a:pPr>
            <a:r>
              <a:rPr sz="1425" b="1">
                <a:solidFill>
                  <a:srgbClr val="334155"/>
                </a:solidFill>
              </a:rPr>
              <a:t>方程①</a:t>
            </a:r>
          </a:p>
          <a:p xmlns:a="http://schemas.openxmlformats.org/drawingml/2006/main">
            <a:pPr>
              <a:defRPr sz="1425" b="1">
                <a:solidFill>
                  <a:srgbClr val="334155"/>
                </a:solidFill>
              </a:defRPr>
            </a:pPr>
            <a:r>
              <a:rPr sz="1425" b="1">
                <a:solidFill>
                  <a:srgbClr val="334155"/>
                </a:solidFill>
              </a:rPr>
              <a:t>方程②</a:t>
            </a:r>
          </a:p>
        </p:txBody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48B13A31-81F4-417F-BB96-05A121DD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793956" y="3952875"/>
            <a:ext cx="83153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4793B"/>
            </a:solidFill>
            <a:prstDash val="solid"/>
          </a:ln>
        </p:spPr>
      </p:sp>
      <p:sp>
        <p:nvSpPr>
          <p:cNvPr id="16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3DAD94AA-E7AF-4A31-9B75-1B746DF9F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349" y="3297555"/>
            <a:ext cx="73914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17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62308DA5-C452-4911-95BA-559FC82A4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4078" y="3297555"/>
            <a:ext cx="1154906" cy="1392555"/>
          </a:xfrm>
          <a:prstGeom xmlns:a="http://schemas.openxmlformats.org/drawingml/2006/main" prst="roundRect">
            <a:avLst>
              <a:gd name="adj" fmla="val 6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B8F77"/>
                </a:solidFill>
              </a:defRPr>
            </a:pPr>
            <a:r>
              <a:rPr sz="1425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00e5e301b9f24000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为什么这样做？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条件先行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小组探究：围绕“综合选择解法并解释实际结果”设计一次观察、操作或推理，记录现象、猜想和验证依据。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已知与对象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逐项核对题目条件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方法与依据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选择定义、性质或步骤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结论与检验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回到题意复核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完成验证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参考思路：先明确条件，再围绕“构建“建模—消元—求解—检验”流程”形成猜想，最后用定义、计算、图表或反例验证。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方法归纳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提取条件 → 选择概念或方法 → 规范求解/作图/整理 → 写出依据 → 回到题意检验。</a:t>
            </a:r>
          </a:p>
        </p:txBody>
      </p:sp>
      <p:sp>
        <p:nvSpPr>
          <p:cNvPr id="19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5015A3DD-FF96-4B7B-B2CC-303504274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F553C7A6-CBA7-424F-B661-E7F5A595E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605" y="2714625"/>
            <a:ext cx="1304449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34155"/>
                </a:solidFill>
              </a:defRPr>
            </a:pPr>
            <a:r>
              <a:rPr sz="1425" b="1">
                <a:solidFill>
                  <a:srgbClr val="334155"/>
                </a:solidFill>
              </a:rPr>
              <a:t>方程①</a:t>
            </a:r>
          </a:p>
          <a:p xmlns:a="http://schemas.openxmlformats.org/drawingml/2006/main">
            <a:pPr>
              <a:defRPr sz="1425" b="1">
                <a:solidFill>
                  <a:srgbClr val="334155"/>
                </a:solidFill>
              </a:defRPr>
            </a:pPr>
            <a:r>
              <a:rPr sz="1425" b="1">
                <a:solidFill>
                  <a:srgbClr val="334155"/>
                </a:solidFill>
              </a:rPr>
              <a:t>方程②</a:t>
            </a:r>
          </a:p>
        </p:txBody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4C63315F-C6BF-4F7D-8D7D-EDFFB5AEA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970169" y="3238500"/>
            <a:ext cx="71151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4793B"/>
            </a:solidFill>
            <a:prstDash val="solid"/>
          </a:ln>
        </p:spPr>
      </p:sp>
      <p:sp>
        <p:nvSpPr>
          <p:cNvPr id="22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225F6023-FEBF-42A0-8B16-8DF5BF00E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9226" y="2857500"/>
            <a:ext cx="63246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23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31142112-B415-41BE-BB41-E492DFC0F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0273" y="2857500"/>
            <a:ext cx="988219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B8F77"/>
                </a:solidFill>
              </a:defRPr>
            </a:pPr>
            <a:r>
              <a:rPr sz="1425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4b9aae4cd9ae4aa7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4231154-1173-49AA-885D-6661E547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9F21351-F9A7-44B0-B281-B0142BCF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这些“陷阱”要避开！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3BE0D869-3E7A-481B-AE3C-425A3DF8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3A85DD8-4E75-4C88-9426-05D712CE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01 条件不完整</a:t>
            </a:r>
          </a:p>
        </p:txBody>
      </p:sp>
      <p:cxnSp>
        <p:nvCxnSpPr>
          <p:cNvPr id="41" name="Connector 6"/>
          <p:cNvCxnSpPr/>
          <p:nvPr/>
        </p:nvCxnSpPr>
        <p:spPr>
          <a:xfrm xmlns:a="http://schemas.openxmlformats.org/drawingml/2006/main" rot="-9046">
            <a:off x="9525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F0831D32-F590-4E23-AB46-1E3A85E6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只记“方程组概念”的结论，不检查适用条件。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回到定义逐项核对对象和条件。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745B3F9D-01B9-46F3-8B6D-A76E10CF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9C38A64-DE24-45B0-B73D-27BF48A2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02 相近概念混淆</a:t>
            </a:r>
          </a:p>
        </p:txBody>
      </p:sp>
      <p:cxnSp>
        <p:nvCxnSpPr>
          <p:cNvPr id="45" name="Connector 10"/>
          <p:cNvCxnSpPr/>
          <p:nvPr/>
        </p:nvCxnSpPr>
        <p:spPr>
          <a:xfrm xmlns:a="http://schemas.openxmlformats.org/drawingml/2006/main" rot="-9046">
            <a:off x="64770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88D98ADE-BA17-4CBB-8538-A869F437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把“构建“建模—消元—求解—检验”流程”与相近概念或逆命题混淆。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比较条件、结论和使用方向。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059CBA47-C8CF-4445-8C86-3E351072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6D2AFE74-577B-43B4-BE03-E32F5D48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03 只写结果</a:t>
            </a:r>
          </a:p>
        </p:txBody>
      </p:sp>
      <p:cxnSp>
        <p:nvCxnSpPr>
          <p:cNvPr id="49" name="Connector 14"/>
          <p:cNvCxnSpPr/>
          <p:nvPr/>
        </p:nvCxnSpPr>
        <p:spPr>
          <a:xfrm xmlns:a="http://schemas.openxmlformats.org/drawingml/2006/main" rot="-9046">
            <a:off x="9525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17823634-06B4-4CC8-B01F-8362CB49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只写结果，不写过程、依据或检验。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补全过程、依据和必要单位。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748740E4-EC3D-4B6E-A197-D3D38362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2B130B84-92F9-49B2-BEA0-39FD7C51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04 不作检验</a:t>
            </a:r>
          </a:p>
        </p:txBody>
      </p:sp>
      <p:cxnSp>
        <p:nvCxnSpPr>
          <p:cNvPr id="53" name="Connector 18"/>
          <p:cNvCxnSpPr/>
          <p:nvPr/>
        </p:nvCxnSpPr>
        <p:spPr>
          <a:xfrm xmlns:a="http://schemas.openxmlformats.org/drawingml/2006/main" rot="-9046">
            <a:off x="64770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F6ABA36F-5119-4F25-92B0-24B0D3DC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只写结果，没有写过程、依据或检验。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代回、逆算、看图或用数据复核。</a:t>
            </a:r>
          </a:p>
        </p:txBody>
      </p:sp>
    </p:spTree>
    <p:extLst>
      <p:ext uri="{BB962C8B-B14F-4D97-AF65-F5344CB8AC3E}">
        <p14:creationId xmlns:p14="http://schemas.microsoft.com/office/powerpoint/2010/main" val="1561147634"/>
      </p:ext>
    </p:extLst>
  </p:cSld>
</p:sld>
</file>

<file path=ppt/slides/slide10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3b2675d53dea48c6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教材例题：例题（对应教材小结典型问题）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题目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例题（对应教材小结典型问题）：分别用代入法或加减法解y=x+1，2x+y=7。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先独立完成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圈出条件和所求；选择方法；暂不显示完整答案。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思考顺序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1. 提取条件；2. 选用构建“建模—消元—求解—检验”流程；3. 写依据并检验。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教材印刷页117—119：先思考，再对照规范解答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课堂约定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先写自己的第一步；同桌只检查条件和方法，不直接报答案。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2D69D396-9359-4221-9B7F-CA630F641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3F2B4603-8DBE-4805-8E56-1206CAE1C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4558665"/>
            <a:ext cx="1367314" cy="635318"/>
          </a:xfrm>
          <a:prstGeom xmlns:a="http://schemas.openxmlformats.org/drawingml/2006/main" prst="roundRect">
            <a:avLst>
              <a:gd name="adj" fmla="val 119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①</a:t>
            </a:r>
          </a:p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②</a:t>
            </a:r>
          </a:p>
        </p:txBody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90784C26-3BEB-4A1F-8A3C-CC6F4A0D9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769394" y="4862513"/>
            <a:ext cx="7458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C1D5FF64-DFD5-4A43-AC49-5645DA614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261" y="4641533"/>
            <a:ext cx="66294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18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78A45BE0-1F38-425F-A9EF-AE901BC96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503" y="4641533"/>
            <a:ext cx="1035844" cy="469583"/>
          </a:xfrm>
          <a:prstGeom xmlns:a="http://schemas.openxmlformats.org/drawingml/2006/main" prst="roundRect">
            <a:avLst>
              <a:gd name="adj" fmla="val 162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d058ecdb48c64d84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例题：规范解答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第一步：审条件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提取已知条件与所求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关系/规则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选择“构建“建模—消元—求解—检验”流程”对应的方法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过程/表达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规范计算或说明并回到原题检验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结论/检验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结果必须满足全部条件并回到问题。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完整解答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代入得2x+x+1=7，x=2，y=3。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易错纠正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没有先确认“构建“建模—消元—求解—检验”流程”的条件，或只写结果不写依据。</a:t>
            </a:r>
          </a:p>
        </p:txBody>
      </p:sp>
      <p:sp>
        <p:nvSpPr>
          <p:cNvPr id="19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EBD2D8EC-F7FC-42CC-BBAC-363E0F9A9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03EEB476-7149-4F4F-B016-8335E1AF9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605" y="2714625"/>
            <a:ext cx="1304449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34155"/>
                </a:solidFill>
              </a:defRPr>
            </a:pPr>
            <a:r>
              <a:rPr sz="1425" b="1">
                <a:solidFill>
                  <a:srgbClr val="334155"/>
                </a:solidFill>
              </a:rPr>
              <a:t>方程①</a:t>
            </a:r>
          </a:p>
          <a:p xmlns:a="http://schemas.openxmlformats.org/drawingml/2006/main">
            <a:pPr>
              <a:defRPr sz="1425" b="1">
                <a:solidFill>
                  <a:srgbClr val="334155"/>
                </a:solidFill>
              </a:defRPr>
            </a:pPr>
            <a:r>
              <a:rPr sz="1425" b="1">
                <a:solidFill>
                  <a:srgbClr val="334155"/>
                </a:solidFill>
              </a:rPr>
              <a:t>方程②</a:t>
            </a:r>
          </a:p>
        </p:txBody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690E287D-F918-4FB5-A494-CCE601F08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970169" y="3238500"/>
            <a:ext cx="71151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4793B"/>
            </a:solidFill>
            <a:prstDash val="solid"/>
          </a:ln>
        </p:spPr>
      </p:sp>
      <p:sp>
        <p:nvSpPr>
          <p:cNvPr id="22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B95D3F03-0C93-447E-A95F-40C921328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9226" y="2857500"/>
            <a:ext cx="63246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23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6D4FCCDA-F0BC-4614-9E19-291F6AA46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0273" y="2857500"/>
            <a:ext cx="988219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B8F77"/>
                </a:solidFill>
              </a:defRPr>
            </a:pPr>
            <a:r>
              <a:rPr sz="1425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1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5e2e3e415d2e4a3f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分层练习：基础与变式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Q5 · 基础辨析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基础辨析：判断“使用‘方程组概念’时不需要检查条件，只要结论看起来合理即可”，并说明理由。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Q6 · 变式练习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变式练习：把Q4的一个条件、数据或表示方式作合理改变，仍用“构建“建模—消元—求解—检验”流程”解决，并写出检验。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同桌互查 · 说清依据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条件是否完整；② 方法是否匹配；③ 过程是否规范；④ 是否检验。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A339ECFB-07CE-4995-B0D9-CF958AB9A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29119F24-B1D0-411E-9F9C-75E495983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" y="4884420"/>
            <a:ext cx="1273016" cy="591503"/>
          </a:xfrm>
          <a:prstGeom xmlns:a="http://schemas.openxmlformats.org/drawingml/2006/main" prst="roundRect">
            <a:avLst>
              <a:gd name="adj" fmla="val 12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①</a:t>
            </a:r>
          </a:p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②</a:t>
            </a:r>
          </a:p>
        </p:txBody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1CE11F8D-3459-47A3-834B-3B65E64A3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40806" y="5167313"/>
            <a:ext cx="6943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EC2032E2-9D38-4F77-97F9-E84CCC799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7959" y="4961573"/>
            <a:ext cx="6172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18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EA4D7AE8-93F2-4514-A860-AAE9AEDA8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0908" y="4961573"/>
            <a:ext cx="964406" cy="437198"/>
          </a:xfrm>
          <a:prstGeom xmlns:a="http://schemas.openxmlformats.org/drawingml/2006/main" prst="roundRect">
            <a:avLst>
              <a:gd name="adj" fmla="val 17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af969b9b2256442c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变式提升：迁移方法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改变条件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变式练习：把Q4的一个条件、数据或表示方式作合理改变，仍用“构建“建模—消元—求解—检验”流程”解决，并写出检验。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保持方法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说明改变后为什么仍能使用原方法，不能只照抄原结果。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评价标准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答案不唯一。评价要点：改变后的条件完整；方法仍属于“构建“建模—消元—求解—检验”流程”；过程正确；检验与新条件一致。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图示：把新条件与原方法逐项对应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方法迁移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提取条件 → 选择概念或方法 → 规范求解/作图/整理 → 写出依据 → 回到题意检验。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354ECDC6-5717-4E9A-B84E-C4E7921D0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862F79F2-06DF-43B0-9E38-B015F9BB7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4558665"/>
            <a:ext cx="1367314" cy="635318"/>
          </a:xfrm>
          <a:prstGeom xmlns:a="http://schemas.openxmlformats.org/drawingml/2006/main" prst="roundRect">
            <a:avLst>
              <a:gd name="adj" fmla="val 119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①</a:t>
            </a:r>
          </a:p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②</a:t>
            </a:r>
          </a:p>
        </p:txBody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E8219ECB-C9F1-481F-A7AD-5C13ED077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769394" y="4862513"/>
            <a:ext cx="7458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DF37AE95-40C8-44B2-9250-FA0500D6B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261" y="4641533"/>
            <a:ext cx="66294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18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9A4447A4-65EE-4439-8A8A-D54C5E69F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503" y="4641533"/>
            <a:ext cx="1035844" cy="469583"/>
          </a:xfrm>
          <a:prstGeom xmlns:a="http://schemas.openxmlformats.org/drawingml/2006/main" prst="roundRect">
            <a:avLst>
              <a:gd name="adj" fmla="val 162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38ce08abdd114fc6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当堂检测：独立完成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Q7 · 纠错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纠错：“研究二元一次方程组章末复习时，只记结论，不必区分条件、过程和依据。”这句话对吗？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Q8 · 检测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当堂检测：章末复习时怎样选择消元方法？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自我检查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条件对象是否找全？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② 方法与依据是否匹配？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③ 结果是否检验？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④ 书写和单位是否规范？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91E886E2-AE88-41B6-A645-F7F8B6C1A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5B7FDC7A-0F43-468B-AB05-FA651FDB1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" y="4884420"/>
            <a:ext cx="1273016" cy="591503"/>
          </a:xfrm>
          <a:prstGeom xmlns:a="http://schemas.openxmlformats.org/drawingml/2006/main" prst="roundRect">
            <a:avLst>
              <a:gd name="adj" fmla="val 12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①</a:t>
            </a:r>
          </a:p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②</a:t>
            </a:r>
          </a:p>
        </p:txBody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CF397F4-FB11-48A0-898A-7DDDFECA5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40806" y="5167313"/>
            <a:ext cx="6943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BE5CB723-FA31-4166-B04D-B99E8388C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7959" y="4961573"/>
            <a:ext cx="6172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18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59A7468F-2D18-4D0D-868D-C08533329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0908" y="4961573"/>
            <a:ext cx="964406" cy="437198"/>
          </a:xfrm>
          <a:prstGeom xmlns:a="http://schemas.openxmlformats.org/drawingml/2006/main" prst="roundRect">
            <a:avLst>
              <a:gd name="adj" fmla="val 17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abbed165bf104415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B8B25486-05ED-464E-B78C-65A73EF1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DD7D9C9-EED2-40F9-85CB-3E806CA8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课堂小结与分层作业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F98A90FC-C7B2-42DD-ADC0-B34CD999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968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4893008-7C6A-404C-B71F-2ED32934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1841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课堂小结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C1F41DEA-4E6B-4FED-A889-43C984E4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3114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小结参考：本课围绕“二元一次方程组章末复习”，掌握方程组概念、代入与加减消元、实际应用、三元方程组，并能运用构建“建模—消元—求解—检验”流程。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5564938-2BB8-427A-97F0-660CAD8C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73500"/>
            <a:ext cx="5334000" cy="2349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31AA8B2B-395F-4BAC-8BB5-D1E9B16F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分层作业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F19059F7-3EE3-41D2-96D5-E0872D81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533900"/>
            <a:ext cx="4826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基础：完成教材复习题10中的基础题并订正Q5、Q7 提升：当堂检测：章末复习时怎样选择消元方法？ 自拟：围绕本课编一道题并交换解答。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D220E1E6-1EA6-424A-AE34-3C0F78CD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54500"/>
            <a:ext cx="5080000" cy="1841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CEE388D-60C1-41A8-83EE-82D30086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45000"/>
            <a:ext cx="4699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课后自评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我能否：①准确表达方程组概念；②运用构建“建模—消元—求解—检验”流程；③写清依据并检验？选择“会 / 需复习 / 需帮助”。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485FBE5B-05CC-444C-88D8-F21D987CC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33625"/>
            <a:ext cx="433387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53D0C91E-D967-45F3-A201-0E8172627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7085" y="2693670"/>
            <a:ext cx="1430179" cy="591503"/>
          </a:xfrm>
          <a:prstGeom xmlns:a="http://schemas.openxmlformats.org/drawingml/2006/main" prst="roundRect">
            <a:avLst>
              <a:gd name="adj" fmla="val 12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①</a:t>
            </a:r>
          </a:p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②</a:t>
            </a:r>
          </a:p>
        </p:txBody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E9EED137-BA2A-45B5-9F42-B56966FE0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760619" y="2976563"/>
            <a:ext cx="78009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  <p:sp>
        <p:nvSpPr>
          <p:cNvPr id="16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B3E3357B-4A06-4F39-8F09-C19032701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7296" y="2770823"/>
            <a:ext cx="6934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17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836A27D6-84F2-4E48-9620-035BA0A52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0733" y="2770823"/>
            <a:ext cx="1083469" cy="437198"/>
          </a:xfrm>
          <a:prstGeom xmlns:a="http://schemas.openxmlformats.org/drawingml/2006/main" prst="roundRect">
            <a:avLst>
              <a:gd name="adj" fmla="val 17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1581102124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2026-08-02T17:54:27.5300000Z</dcterms:created>
  <dcterms:modified xsi:type="dcterms:W3CDTF">2026-08-02T17:54:27.5300000Z</dcterms:modified>
</coreProperties>
</file>