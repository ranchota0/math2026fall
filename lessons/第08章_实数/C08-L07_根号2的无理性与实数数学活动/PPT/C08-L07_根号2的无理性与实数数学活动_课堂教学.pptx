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eb8e6f1abbe4f56" /><Relationship Type="http://schemas.openxmlformats.org/officeDocument/2006/relationships/extended-properties" Target="/docProps/app.xml" Id="R2f5e618e1ccc4421" /><Relationship Type="http://schemas.openxmlformats.org/officeDocument/2006/relationships/officeDocument" Target="/ppt/presentation.xml" Id="Ra72637c7cab444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d26f00e73647b8"/>
    <p:sldMasterId xmlns:r="http://schemas.openxmlformats.org/officeDocument/2006/relationships" id="2147483660" r:id="R9ce1944f0bcf4460"/>
  </p:sldMasterIdLst>
  <p:notesMasterIdLst>
    <p:notesMasterId xmlns:r="http://schemas.openxmlformats.org/officeDocument/2006/relationships" r:id="R14ad5294502a437d"/>
  </p:notesMasterIdLst>
  <p:sldIdLst>
    <p:sldId xmlns:r="http://schemas.openxmlformats.org/officeDocument/2006/relationships" id="256" r:id="R82625ea091ae481c"/>
    <p:sldId xmlns:r="http://schemas.openxmlformats.org/officeDocument/2006/relationships" id="257" r:id="R6ca6a9856fc84d1c"/>
    <p:sldId xmlns:r="http://schemas.openxmlformats.org/officeDocument/2006/relationships" id="258" r:id="R7dc70ecb68d04ef9"/>
    <p:sldId xmlns:r="http://schemas.openxmlformats.org/officeDocument/2006/relationships" id="259" r:id="R9535bd3ce7d24944"/>
    <p:sldId xmlns:r="http://schemas.openxmlformats.org/officeDocument/2006/relationships" id="260" r:id="Rb917360db78c4e48"/>
    <p:sldId xmlns:r="http://schemas.openxmlformats.org/officeDocument/2006/relationships" id="261" r:id="Rd3aea11f288143be"/>
    <p:sldId xmlns:r="http://schemas.openxmlformats.org/officeDocument/2006/relationships" id="262" r:id="R7c005825e73144d0"/>
    <p:sldId xmlns:r="http://schemas.openxmlformats.org/officeDocument/2006/relationships" id="263" r:id="Rf82470fbb24b428d"/>
    <p:sldId xmlns:r="http://schemas.openxmlformats.org/officeDocument/2006/relationships" id="264" r:id="Rdf21e23d2c884586"/>
    <p:sldId xmlns:r="http://schemas.openxmlformats.org/officeDocument/2006/relationships" id="265" r:id="Rb6adbf9b012644f6"/>
    <p:sldId xmlns:r="http://schemas.openxmlformats.org/officeDocument/2006/relationships" id="266" r:id="R5c8cf6c9cfa3471d"/>
    <p:sldId xmlns:r="http://schemas.openxmlformats.org/officeDocument/2006/relationships" id="267" r:id="R6e3fa629234d4573"/>
    <p:sldId xmlns:r="http://schemas.openxmlformats.org/officeDocument/2006/relationships" id="268" r:id="R11ff406af0a24f32"/>
    <p:sldId xmlns:r="http://schemas.openxmlformats.org/officeDocument/2006/relationships" id="269" r:id="R9f90aec08e5a46c4"/>
    <p:sldId xmlns:r="http://schemas.openxmlformats.org/officeDocument/2006/relationships" id="270" r:id="R47c331f121734d5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414381c69474a3a" /><Relationship Type="http://schemas.openxmlformats.org/officeDocument/2006/relationships/slideMaster" Target="/ppt/slideMasters/slideMaster1.xml" Id="Recd26f00e73647b8" /><Relationship Type="http://schemas.openxmlformats.org/officeDocument/2006/relationships/slideMaster" Target="/ppt/slideMasters/slideMaster2.xml" Id="R9ce1944f0bcf4460" /><Relationship Type="http://schemas.openxmlformats.org/officeDocument/2006/relationships/notesMaster" Target="/ppt/notesMasters/notesMaster1.xml" Id="R14ad5294502a437d" /><Relationship Type="http://schemas.openxmlformats.org/officeDocument/2006/relationships/presProps" Target="/ppt/presProps.xml" Id="Read02e66a995481a" /><Relationship Type="http://schemas.openxmlformats.org/officeDocument/2006/relationships/viewProps" Target="/ppt/viewProps.xml" Id="R367469feb9d54fea" /><Relationship Type="http://schemas.openxmlformats.org/officeDocument/2006/relationships/tableStyles" Target="/ppt/tableStyles.xml" Id="Rb8762d96ae524056" /><Relationship Type="http://schemas.openxmlformats.org/officeDocument/2006/relationships/slide" Target="/ppt/slides/slide1.xml" Id="R82625ea091ae481c" /><Relationship Type="http://schemas.openxmlformats.org/officeDocument/2006/relationships/slide" Target="/ppt/slides/slide2.xml" Id="R6ca6a9856fc84d1c" /><Relationship Type="http://schemas.openxmlformats.org/officeDocument/2006/relationships/slide" Target="/ppt/slides/slide3.xml" Id="R7dc70ecb68d04ef9" /><Relationship Type="http://schemas.openxmlformats.org/officeDocument/2006/relationships/slide" Target="/ppt/slides/slide4.xml" Id="R9535bd3ce7d24944" /><Relationship Type="http://schemas.openxmlformats.org/officeDocument/2006/relationships/slide" Target="/ppt/slides/slide5.xml" Id="Rb917360db78c4e48" /><Relationship Type="http://schemas.openxmlformats.org/officeDocument/2006/relationships/slide" Target="/ppt/slides/slide6.xml" Id="Rd3aea11f288143be" /><Relationship Type="http://schemas.openxmlformats.org/officeDocument/2006/relationships/slide" Target="/ppt/slides/slide7.xml" Id="R7c005825e73144d0" /><Relationship Type="http://schemas.openxmlformats.org/officeDocument/2006/relationships/slide" Target="/ppt/slides/slide8.xml" Id="Rf82470fbb24b428d" /><Relationship Type="http://schemas.openxmlformats.org/officeDocument/2006/relationships/slide" Target="/ppt/slides/slide9.xml" Id="Rdf21e23d2c884586" /><Relationship Type="http://schemas.openxmlformats.org/officeDocument/2006/relationships/slide" Target="/ppt/slides/slide10.xml" Id="Rb6adbf9b012644f6" /><Relationship Type="http://schemas.openxmlformats.org/officeDocument/2006/relationships/slide" Target="/ppt/slides/slide11.xml" Id="R5c8cf6c9cfa3471d" /><Relationship Type="http://schemas.openxmlformats.org/officeDocument/2006/relationships/slide" Target="/ppt/slides/slide12.xml" Id="R6e3fa629234d4573" /><Relationship Type="http://schemas.openxmlformats.org/officeDocument/2006/relationships/slide" Target="/ppt/slides/slide13.xml" Id="R11ff406af0a24f32" /><Relationship Type="http://schemas.openxmlformats.org/officeDocument/2006/relationships/slide" Target="/ppt/slides/slide14.xml" Id="R9f90aec08e5a46c4" /><Relationship Type="http://schemas.openxmlformats.org/officeDocument/2006/relationships/slide" Target="/ppt/slides/slide15.xml" Id="R47c331f121734d5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6c8ee38cb09c4db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63f0ba231a44e7" /><Relationship Type="http://schemas.openxmlformats.org/officeDocument/2006/relationships/notesMaster" Target="/ppt/notesMasters/notesMaster1.xml" Id="R8efd78458bb9470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52feb0a9adc4b02" /><Relationship Type="http://schemas.openxmlformats.org/officeDocument/2006/relationships/notesMaster" Target="/ppt/notesMasters/notesMaster1.xml" Id="R79dd08208e7f49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2a1c19fbaba40fa" /><Relationship Type="http://schemas.openxmlformats.org/officeDocument/2006/relationships/notesMaster" Target="/ppt/notesMasters/notesMaster1.xml" Id="R18dae51659ad4a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349a6d25cd4f37" /><Relationship Type="http://schemas.openxmlformats.org/officeDocument/2006/relationships/notesMaster" Target="/ppt/notesMasters/notesMaster1.xml" Id="R21d0509c46b8442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985e717a694065" /><Relationship Type="http://schemas.openxmlformats.org/officeDocument/2006/relationships/notesMaster" Target="/ppt/notesMasters/notesMaster1.xml" Id="R7724b0cc566b402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c1db8920bf1467e" /><Relationship Type="http://schemas.openxmlformats.org/officeDocument/2006/relationships/notesMaster" Target="/ppt/notesMasters/notesMaster1.xml" Id="Rd65ff69ba86541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5bebdcc087449c8" /><Relationship Type="http://schemas.openxmlformats.org/officeDocument/2006/relationships/notesMaster" Target="/ppt/notesMasters/notesMaster1.xml" Id="R05496162981f4c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689e37048941a2" /><Relationship Type="http://schemas.openxmlformats.org/officeDocument/2006/relationships/notesMaster" Target="/ppt/notesMasters/notesMaster1.xml" Id="R4634fda04913464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9fcbc03dd1c4260" /><Relationship Type="http://schemas.openxmlformats.org/officeDocument/2006/relationships/notesMaster" Target="/ppt/notesMasters/notesMaster1.xml" Id="R35f9601b586941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0c58d0a4c24217" /><Relationship Type="http://schemas.openxmlformats.org/officeDocument/2006/relationships/notesMaster" Target="/ppt/notesMasters/notesMaster1.xml" Id="R1270d7648576413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49fcfd674c143ec" /><Relationship Type="http://schemas.openxmlformats.org/officeDocument/2006/relationships/notesMaster" Target="/ppt/notesMasters/notesMaster1.xml" Id="R7aa81abef8c84d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1f1db1c590a4eaa" /><Relationship Type="http://schemas.openxmlformats.org/officeDocument/2006/relationships/notesMaster" Target="/ppt/notesMasters/notesMaster1.xml" Id="R60172a6d18424be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ca3d70846304991" /><Relationship Type="http://schemas.openxmlformats.org/officeDocument/2006/relationships/notesMaster" Target="/ppt/notesMasters/notesMaster1.xml" Id="R9b7a37ccb56549d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13788531c947f2" /><Relationship Type="http://schemas.openxmlformats.org/officeDocument/2006/relationships/notesMaster" Target="/ppt/notesMasters/notesMaster1.xml" Id="Ra8b0fa43af7b44d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77451003134e5a" /><Relationship Type="http://schemas.openxmlformats.org/officeDocument/2006/relationships/notesMaster" Target="/ppt/notesMasters/notesMaster1.xml" Id="Rf951f54cfcaa44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从教材印刷页58—59进入《根号2的无理性与实数数学活动》。说明本课在第8章 实数中的位置。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人教版《义务教育教科书·数学七年级下册》，印刷页58—59。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请学生默读目标，圈出“说出、说明、解决、检验”等可观察动词；课末按同一目标自评。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先让学生读图、读表或读题，不提前给结论。追问：对象是什么，条件是什么，要解决什么？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组织Q1独立作答。旧知只回顾本课真正需要的部分，出现条件缺失时用反例纠正。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布置Q2、Q3。教师巡视时只问现象、猜想和证据，给学生保留形成结论的过程。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形成第一个核心概念：反证思想直观。要求学生标出对象、条件、表示和作用。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形成第二个核心概念或方法：无理数认识。与前一概念对比，避免相近知识混淆。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把探究记录整理为完整的条件—方法—结论链，强调结论来自证据而不是直觉。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逐条辨析易错点。要求学生说出错误发生在哪个条件、步骤或使用方向。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呈现Q4，保留独立思考时间。题型对应教材印刷页58—59的例题或典型任务。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[Sources]</a:t>
            </a:r>
          </a:p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- 人教版《义务教育教科书·数学七年级下册》，印刷页58—59。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按审条件—选方法—规范表达—检验的顺序讲评Q4，评分时过程与依据同样计分。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完成Q5、Q6。Q5用于基础辨析，Q6要求改变条件后仍能解释方法为何适用。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展示一份变式答案，依据评价标准互评；重点检查是否照抄原结果。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Q7、Q8独立完成，不在本页呈现答案。教师记录共性错误，作为下节课反馈依据。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400" b="0" i="0" u="none">
                <a:solidFill>
                  <a:srgbClr val="000000"/>
                </a:solidFill>
              </a:rPr>
              <a:t>回扣学习目标，布置基础、提升和自拟任务；请学生填写学案自评并写一条仍需帮助的问题。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9a55850e284b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2983b72e61423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e4b49f1bf745b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26d615819463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1259453db043f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73afca25c48d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cd6c5dddc4aa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e37de983c947a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3a92d085ba4a1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10cd655681493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3dcdfb292a4ec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2912f1ed1046a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c9298ea0924b06" /></Relationships>
</file>

<file path=ppt/slideLayouts/slideLayout1.xml><?xml version="1.0" encoding="utf-8"?>
<p:sldLayout xmlns:p="http://schemas.openxmlformats.org/presentationml/2006/main" matchingName="标题幻灯片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hape 30">
            <a:extLst xmlns:a="http://schemas.openxmlformats.org/drawingml/2006/main">
              <a:ext uri="{FF2B5EF4-FFF2-40B4-BE49-F238E27FC236}">
                <a16:creationId xmlns:a16="http://schemas.microsoft.com/office/drawing/2014/main" id="{81C558D3-089F-4C67-BC4D-83245CA7F86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43000" y="841772"/>
            <a:ext cx="68580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Shape 31">
            <a:extLst xmlns:a="http://schemas.openxmlformats.org/drawingml/2006/main">
              <a:ext uri="{FF2B5EF4-FFF2-40B4-BE49-F238E27FC236}">
                <a16:creationId xmlns:a16="http://schemas.microsoft.com/office/drawing/2014/main" id="{2FC5423C-F1D6-4FB3-ACFF-138CD859F3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2701528"/>
            <a:ext cx="6858000" cy="12418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 xmlns:a="http://schemas.openxmlformats.org/drawingml/2006/main"/>
        </p:txBody>
      </p:sp>
      <p:sp>
        <p:nvSpPr>
          <p:cNvPr id="14" name="Shape 32">
            <a:extLst xmlns:a="http://schemas.openxmlformats.org/drawingml/2006/main">
              <a:ext uri="{FF2B5EF4-FFF2-40B4-BE49-F238E27FC236}">
                <a16:creationId xmlns:a16="http://schemas.microsoft.com/office/drawing/2014/main" id="{76B33730-797A-4776-90B9-6A151FA98AB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5" name="Shape 33">
            <a:extLst xmlns:a="http://schemas.openxmlformats.org/drawingml/2006/main">
              <a:ext uri="{FF2B5EF4-FFF2-40B4-BE49-F238E27FC236}">
                <a16:creationId xmlns:a16="http://schemas.microsoft.com/office/drawing/2014/main" id="{F24C44C0-5BF6-4705-ADDE-8B38C97512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6" name="Shape 34">
            <a:extLst xmlns:a="http://schemas.openxmlformats.org/drawingml/2006/main">
              <a:ext uri="{FF2B5EF4-FFF2-40B4-BE49-F238E27FC236}">
                <a16:creationId xmlns:a16="http://schemas.microsoft.com/office/drawing/2014/main" id="{AB060FA6-2CB7-45F7-AF4D-B82687E6FD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标题和内容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hape 54">
            <a:extLst xmlns:a="http://schemas.openxmlformats.org/drawingml/2006/main">
              <a:ext uri="{FF2B5EF4-FFF2-40B4-BE49-F238E27FC236}">
                <a16:creationId xmlns:a16="http://schemas.microsoft.com/office/drawing/2014/main" id="{773FCBA7-63BE-47A1-845F-68F5204E85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Shape 55">
            <a:extLst xmlns:a="http://schemas.openxmlformats.org/drawingml/2006/main">
              <a:ext uri="{FF2B5EF4-FFF2-40B4-BE49-F238E27FC236}">
                <a16:creationId xmlns:a16="http://schemas.microsoft.com/office/drawing/2014/main" id="{B934C16F-A719-4358-9B9E-8FFA2BFE42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0" name="Shape 56">
            <a:extLst xmlns:a="http://schemas.openxmlformats.org/drawingml/2006/main">
              <a:ext uri="{FF2B5EF4-FFF2-40B4-BE49-F238E27FC236}">
                <a16:creationId xmlns:a16="http://schemas.microsoft.com/office/drawing/2014/main" id="{48DAF2FE-6FF4-4231-BD01-663C3C4BBA5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1" name="Shape 57">
            <a:extLst xmlns:a="http://schemas.openxmlformats.org/drawingml/2006/main">
              <a:ext uri="{FF2B5EF4-FFF2-40B4-BE49-F238E27FC236}">
                <a16:creationId xmlns:a16="http://schemas.microsoft.com/office/drawing/2014/main" id="{5D87FF35-31AA-489B-A20D-09A919F371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2" name="Shape 58">
            <a:extLst xmlns:a="http://schemas.openxmlformats.org/drawingml/2006/main">
              <a:ext uri="{FF2B5EF4-FFF2-40B4-BE49-F238E27FC236}">
                <a16:creationId xmlns:a16="http://schemas.microsoft.com/office/drawing/2014/main" id="{A79BBCA7-91A0-4B46-A232-038E1FBDEF9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节标题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hape 59">
            <a:extLst xmlns:a="http://schemas.openxmlformats.org/drawingml/2006/main">
              <a:ext uri="{FF2B5EF4-FFF2-40B4-BE49-F238E27FC236}">
                <a16:creationId xmlns:a16="http://schemas.microsoft.com/office/drawing/2014/main" id="{008BFF75-9404-495F-8F1D-F6FE81DE16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282304"/>
            <a:ext cx="7886700" cy="21395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Shape 60">
            <a:extLst xmlns:a="http://schemas.openxmlformats.org/drawingml/2006/main">
              <a:ext uri="{FF2B5EF4-FFF2-40B4-BE49-F238E27FC236}">
                <a16:creationId xmlns:a16="http://schemas.microsoft.com/office/drawing/2014/main" id="{C7383DE6-9C1C-48CD-9192-7012A980F9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3442097"/>
            <a:ext cx="7886700" cy="11251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26" name="Shape 61">
            <a:extLst xmlns:a="http://schemas.openxmlformats.org/drawingml/2006/main">
              <a:ext uri="{FF2B5EF4-FFF2-40B4-BE49-F238E27FC236}">
                <a16:creationId xmlns:a16="http://schemas.microsoft.com/office/drawing/2014/main" id="{E19F9005-60C3-4F3E-A51E-921CF62136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7" name="Shape 62">
            <a:extLst xmlns:a="http://schemas.openxmlformats.org/drawingml/2006/main">
              <a:ext uri="{FF2B5EF4-FFF2-40B4-BE49-F238E27FC236}">
                <a16:creationId xmlns:a16="http://schemas.microsoft.com/office/drawing/2014/main" id="{6603DA38-B620-4779-8031-AD7FDCF81A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28" name="Shape 63">
            <a:extLst xmlns:a="http://schemas.openxmlformats.org/drawingml/2006/main">
              <a:ext uri="{FF2B5EF4-FFF2-40B4-BE49-F238E27FC236}">
                <a16:creationId xmlns:a16="http://schemas.microsoft.com/office/drawing/2014/main" id="{20E8057C-F4B8-4771-A75A-267A8C3161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两栏内容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hape 9">
            <a:extLst xmlns:a="http://schemas.openxmlformats.org/drawingml/2006/main">
              <a:ext uri="{FF2B5EF4-FFF2-40B4-BE49-F238E27FC236}">
                <a16:creationId xmlns:a16="http://schemas.microsoft.com/office/drawing/2014/main" id="{0586E73B-DF8D-44F0-AA98-A5251FFE8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Shape 10">
            <a:extLst xmlns:a="http://schemas.openxmlformats.org/drawingml/2006/main">
              <a:ext uri="{FF2B5EF4-FFF2-40B4-BE49-F238E27FC236}">
                <a16:creationId xmlns:a16="http://schemas.microsoft.com/office/drawing/2014/main" id="{6840B7D1-E1E0-426D-869F-F69122C75B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2" name="Shape 11">
            <a:extLst xmlns:a="http://schemas.openxmlformats.org/drawingml/2006/main">
              <a:ext uri="{FF2B5EF4-FFF2-40B4-BE49-F238E27FC236}">
                <a16:creationId xmlns:a16="http://schemas.microsoft.com/office/drawing/2014/main" id="{0A6FCEB4-5ECD-4129-9330-216F1B279B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29150" y="1369219"/>
            <a:ext cx="38862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3" name="Shape 12">
            <a:extLst xmlns:a="http://schemas.openxmlformats.org/drawingml/2006/main">
              <a:ext uri="{FF2B5EF4-FFF2-40B4-BE49-F238E27FC236}">
                <a16:creationId xmlns:a16="http://schemas.microsoft.com/office/drawing/2014/main" id="{495E0562-DBAB-4D85-8168-1CCB0D86D6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4" name="Shape 13">
            <a:extLst xmlns:a="http://schemas.openxmlformats.org/drawingml/2006/main">
              <a:ext uri="{FF2B5EF4-FFF2-40B4-BE49-F238E27FC236}">
                <a16:creationId xmlns:a16="http://schemas.microsoft.com/office/drawing/2014/main" id="{DD9BE91A-E2DD-4BF1-9874-E1355ED08F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Shape 14">
            <a:extLst xmlns:a="http://schemas.openxmlformats.org/drawingml/2006/main">
              <a:ext uri="{FF2B5EF4-FFF2-40B4-BE49-F238E27FC236}">
                <a16:creationId xmlns:a16="http://schemas.microsoft.com/office/drawing/2014/main" id="{BE454B15-4E7F-43D5-A4F7-1762D06737B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比较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1775F871-F742-4728-99E8-30F0848A87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71F7621-952E-4D85-A163-75319DC953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260872"/>
            <a:ext cx="3868340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39" name="Shape 37">
            <a:extLst xmlns:a="http://schemas.openxmlformats.org/drawingml/2006/main">
              <a:ext uri="{FF2B5EF4-FFF2-40B4-BE49-F238E27FC236}">
                <a16:creationId xmlns:a16="http://schemas.microsoft.com/office/drawing/2014/main" id="{0630E83E-4235-42F8-B867-1BC303BCCC2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878806"/>
            <a:ext cx="3868340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C1D051A9-CD54-448B-8139-2EFF19C23C9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260872"/>
            <a:ext cx="3887391" cy="6179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C0194990-4325-4361-B3DF-A7B9B824B75B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29150" y="1878806"/>
            <a:ext cx="3887391" cy="27634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2" name="Shape 40">
            <a:extLst xmlns:a="http://schemas.openxmlformats.org/drawingml/2006/main">
              <a:ext uri="{FF2B5EF4-FFF2-40B4-BE49-F238E27FC236}">
                <a16:creationId xmlns:a16="http://schemas.microsoft.com/office/drawing/2014/main" id="{F5C01F63-66A3-4D8F-952D-A9B7567DCA0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3" name="Shape 41">
            <a:extLst xmlns:a="http://schemas.openxmlformats.org/drawingml/2006/main">
              <a:ext uri="{FF2B5EF4-FFF2-40B4-BE49-F238E27FC236}">
                <a16:creationId xmlns:a16="http://schemas.microsoft.com/office/drawing/2014/main" id="{EBA4A3B3-D6DC-442F-ACCF-36428D630A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29F271FA-3699-4374-A6F9-7E4F0812F56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仅标题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Shape 20">
            <a:extLst xmlns:a="http://schemas.openxmlformats.org/drawingml/2006/main">
              <a:ext uri="{FF2B5EF4-FFF2-40B4-BE49-F238E27FC236}">
                <a16:creationId xmlns:a16="http://schemas.microsoft.com/office/drawing/2014/main" id="{7C8D4694-40F1-4495-B0D4-22FD008497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Shape 21">
            <a:extLst xmlns:a="http://schemas.openxmlformats.org/drawingml/2006/main">
              <a:ext uri="{FF2B5EF4-FFF2-40B4-BE49-F238E27FC236}">
                <a16:creationId xmlns:a16="http://schemas.microsoft.com/office/drawing/2014/main" id="{76807FC3-A4D2-412A-AD46-124E4111BB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Shape 22">
            <a:extLst xmlns:a="http://schemas.openxmlformats.org/drawingml/2006/main">
              <a:ext uri="{FF2B5EF4-FFF2-40B4-BE49-F238E27FC236}">
                <a16:creationId xmlns:a16="http://schemas.microsoft.com/office/drawing/2014/main" id="{5EC5AB90-AB3D-4352-A8C6-027DADB80A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49" name="Shape 23">
            <a:extLst xmlns:a="http://schemas.openxmlformats.org/drawingml/2006/main">
              <a:ext uri="{FF2B5EF4-FFF2-40B4-BE49-F238E27FC236}">
                <a16:creationId xmlns:a16="http://schemas.microsoft.com/office/drawing/2014/main" id="{2A46E61D-21E8-401F-B07E-7F59D2215D6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空白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Shape 6">
            <a:extLst xmlns:a="http://schemas.openxmlformats.org/drawingml/2006/main">
              <a:ext uri="{FF2B5EF4-FFF2-40B4-BE49-F238E27FC236}">
                <a16:creationId xmlns:a16="http://schemas.microsoft.com/office/drawing/2014/main" id="{88731147-58ED-49A0-AF62-503DBF4A44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Shape 7">
            <a:extLst xmlns:a="http://schemas.openxmlformats.org/drawingml/2006/main">
              <a:ext uri="{FF2B5EF4-FFF2-40B4-BE49-F238E27FC236}">
                <a16:creationId xmlns:a16="http://schemas.microsoft.com/office/drawing/2014/main" id="{88BB1B7F-E414-4351-9E2B-1F36EA1C9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Shape 8">
            <a:extLst xmlns:a="http://schemas.openxmlformats.org/drawingml/2006/main">
              <a:ext uri="{FF2B5EF4-FFF2-40B4-BE49-F238E27FC236}">
                <a16:creationId xmlns:a16="http://schemas.microsoft.com/office/drawing/2014/main" id="{C049B8E4-D95C-4D02-9D2A-9C534F8DEC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内容与标题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Shape 43">
            <a:extLst xmlns:a="http://schemas.openxmlformats.org/drawingml/2006/main">
              <a:ext uri="{FF2B5EF4-FFF2-40B4-BE49-F238E27FC236}">
                <a16:creationId xmlns:a16="http://schemas.microsoft.com/office/drawing/2014/main" id="{7981AEC1-A09C-43C1-9E30-56E7BFB6F0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Shape 44">
            <a:extLst xmlns:a="http://schemas.openxmlformats.org/drawingml/2006/main">
              <a:ext uri="{FF2B5EF4-FFF2-40B4-BE49-F238E27FC236}">
                <a16:creationId xmlns:a16="http://schemas.microsoft.com/office/drawing/2014/main" id="{A3517535-511E-43DD-9649-5126EF53162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 xmlns:a="http://schemas.openxmlformats.org/drawingml/2006/main"/>
        </p:txBody>
      </p:sp>
      <p:sp>
        <p:nvSpPr>
          <p:cNvPr id="57" name="Shape 45">
            <a:extLst xmlns:a="http://schemas.openxmlformats.org/drawingml/2006/main">
              <a:ext uri="{FF2B5EF4-FFF2-40B4-BE49-F238E27FC236}">
                <a16:creationId xmlns:a16="http://schemas.microsoft.com/office/drawing/2014/main" id="{CE5CCEF6-0694-41AB-9169-0081D48D987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58" name="Shape 46">
            <a:extLst xmlns:a="http://schemas.openxmlformats.org/drawingml/2006/main">
              <a:ext uri="{FF2B5EF4-FFF2-40B4-BE49-F238E27FC236}">
                <a16:creationId xmlns:a16="http://schemas.microsoft.com/office/drawing/2014/main" id="{BB9122C8-FCE1-4C1C-8121-19BFEE120A1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Shape 47">
            <a:extLst xmlns:a="http://schemas.openxmlformats.org/drawingml/2006/main">
              <a:ext uri="{FF2B5EF4-FFF2-40B4-BE49-F238E27FC236}">
                <a16:creationId xmlns:a16="http://schemas.microsoft.com/office/drawing/2014/main" id="{296794B6-81AC-4303-977B-7269E4F2F3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Shape 48">
            <a:extLst xmlns:a="http://schemas.openxmlformats.org/drawingml/2006/main">
              <a:ext uri="{FF2B5EF4-FFF2-40B4-BE49-F238E27FC236}">
                <a16:creationId xmlns:a16="http://schemas.microsoft.com/office/drawing/2014/main" id="{5A4DAB6B-412D-45B3-9202-BED9F75BB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图片与标题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Shape 24">
            <a:extLst xmlns:a="http://schemas.openxmlformats.org/drawingml/2006/main">
              <a:ext uri="{FF2B5EF4-FFF2-40B4-BE49-F238E27FC236}">
                <a16:creationId xmlns:a16="http://schemas.microsoft.com/office/drawing/2014/main" id="{4D4980F6-F398-44B5-992C-E6C6EB286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42900"/>
            <a:ext cx="2949178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Shape 25">
            <a:extLst xmlns:a="http://schemas.openxmlformats.org/drawingml/2006/main">
              <a:ext uri="{FF2B5EF4-FFF2-40B4-BE49-F238E27FC236}">
                <a16:creationId xmlns:a16="http://schemas.microsoft.com/office/drawing/2014/main" id="{93C32912-05D6-4C71-AFD0-FB2ADE3ACCE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887391" y="740569"/>
            <a:ext cx="4629150" cy="365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Shape 26">
            <a:extLst xmlns:a="http://schemas.openxmlformats.org/drawingml/2006/main">
              <a:ext uri="{FF2B5EF4-FFF2-40B4-BE49-F238E27FC236}">
                <a16:creationId xmlns:a16="http://schemas.microsoft.com/office/drawing/2014/main" id="{A242D9ED-3EAF-4AE7-8169-5A0ADE41019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1" y="1543050"/>
            <a:ext cx="2949178" cy="2858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/>
        </p:txBody>
      </p:sp>
      <p:sp>
        <p:nvSpPr>
          <p:cNvPr id="65" name="Shape 27">
            <a:extLst xmlns:a="http://schemas.openxmlformats.org/drawingml/2006/main">
              <a:ext uri="{FF2B5EF4-FFF2-40B4-BE49-F238E27FC236}">
                <a16:creationId xmlns:a16="http://schemas.microsoft.com/office/drawing/2014/main" id="{C66DD68B-8397-4B49-A7C5-FDA5C38FEA5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Shape 28">
            <a:extLst xmlns:a="http://schemas.openxmlformats.org/drawingml/2006/main">
              <a:ext uri="{FF2B5EF4-FFF2-40B4-BE49-F238E27FC236}">
                <a16:creationId xmlns:a16="http://schemas.microsoft.com/office/drawing/2014/main" id="{3AF11104-4646-4D0C-B302-641707939CE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Shape 29">
            <a:extLst xmlns:a="http://schemas.openxmlformats.org/drawingml/2006/main">
              <a:ext uri="{FF2B5EF4-FFF2-40B4-BE49-F238E27FC236}">
                <a16:creationId xmlns:a16="http://schemas.microsoft.com/office/drawing/2014/main" id="{67B97825-AEEE-4A8E-A770-5C0290BBB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标题和竖排文字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Shape 49">
            <a:extLst xmlns:a="http://schemas.openxmlformats.org/drawingml/2006/main">
              <a:ext uri="{FF2B5EF4-FFF2-40B4-BE49-F238E27FC236}">
                <a16:creationId xmlns:a16="http://schemas.microsoft.com/office/drawing/2014/main" id="{3B196173-78E1-4386-851B-DE0403C60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Shape 50">
            <a:extLst xmlns:a="http://schemas.openxmlformats.org/drawingml/2006/main">
              <a:ext uri="{FF2B5EF4-FFF2-40B4-BE49-F238E27FC236}">
                <a16:creationId xmlns:a16="http://schemas.microsoft.com/office/drawing/2014/main" id="{8A88F7C5-0C00-4326-B3FF-F455A2D838B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940248" y="-942379"/>
            <a:ext cx="3263504" cy="788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Shape 51">
            <a:extLst xmlns:a="http://schemas.openxmlformats.org/drawingml/2006/main">
              <a:ext uri="{FF2B5EF4-FFF2-40B4-BE49-F238E27FC236}">
                <a16:creationId xmlns:a16="http://schemas.microsoft.com/office/drawing/2014/main" id="{C22A8F7B-7858-44F6-9F1E-D2DEAC7A46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Shape 52">
            <a:extLst xmlns:a="http://schemas.openxmlformats.org/drawingml/2006/main">
              <a:ext uri="{FF2B5EF4-FFF2-40B4-BE49-F238E27FC236}">
                <a16:creationId xmlns:a16="http://schemas.microsoft.com/office/drawing/2014/main" id="{916C9623-8B86-4E26-8024-EE8CBA92D1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Shape 53">
            <a:extLst xmlns:a="http://schemas.openxmlformats.org/drawingml/2006/main">
              <a:ext uri="{FF2B5EF4-FFF2-40B4-BE49-F238E27FC236}">
                <a16:creationId xmlns:a16="http://schemas.microsoft.com/office/drawing/2014/main" id="{1D34C76F-2DAF-4A0C-9F87-FAB8D15A19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竖排标题与文本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Shape 15">
            <a:extLst xmlns:a="http://schemas.openxmlformats.org/drawingml/2006/main">
              <a:ext uri="{FF2B5EF4-FFF2-40B4-BE49-F238E27FC236}">
                <a16:creationId xmlns:a16="http://schemas.microsoft.com/office/drawing/2014/main" id="{A4BE78CF-2F89-4F43-BAD7-06A807E0644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5350073" y="1467445"/>
            <a:ext cx="4358879" cy="1971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Shape 16">
            <a:extLst xmlns:a="http://schemas.openxmlformats.org/drawingml/2006/main">
              <a:ext uri="{FF2B5EF4-FFF2-40B4-BE49-F238E27FC236}">
                <a16:creationId xmlns:a16="http://schemas.microsoft.com/office/drawing/2014/main" id="{432C7FCB-8755-430C-9DC9-7F6F8A5BF6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349573" y="-447080"/>
            <a:ext cx="4358879" cy="580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Shape 17">
            <a:extLst xmlns:a="http://schemas.openxmlformats.org/drawingml/2006/main">
              <a:ext uri="{FF2B5EF4-FFF2-40B4-BE49-F238E27FC236}">
                <a16:creationId xmlns:a16="http://schemas.microsoft.com/office/drawing/2014/main" id="{CE20FF06-1C41-4406-B397-D561A2AAE2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Shape 18">
            <a:extLst xmlns:a="http://schemas.openxmlformats.org/drawingml/2006/main">
              <a:ext uri="{FF2B5EF4-FFF2-40B4-BE49-F238E27FC236}">
                <a16:creationId xmlns:a16="http://schemas.microsoft.com/office/drawing/2014/main" id="{BCD8D827-CDBC-4D70-82E1-223943514F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Shape 19">
            <a:extLst xmlns:a="http://schemas.openxmlformats.org/drawingml/2006/main">
              <a:ext uri="{FF2B5EF4-FFF2-40B4-BE49-F238E27FC236}">
                <a16:creationId xmlns:a16="http://schemas.microsoft.com/office/drawing/2014/main" id="{9FE0AD20-8B2C-4468-916F-730326919F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2.xml><?xml version="1.0" encoding="utf-8"?>
<p:sldLayout xmlns:p="http://schemas.openxmlformats.org/presentationml/2006/main" type="title" preserve="1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3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1a17ae126943d6" /><Relationship Type="http://schemas.openxmlformats.org/officeDocument/2006/relationships/slideLayout" Target="/ppt/slideLayouts/slideLayout1.xml" Id="R8e395384ed284800" /><Relationship Type="http://schemas.openxmlformats.org/officeDocument/2006/relationships/slideLayout" Target="/ppt/slideLayouts/slideLayout2.xml" Id="Rc5e8d118f5024739" /><Relationship Type="http://schemas.openxmlformats.org/officeDocument/2006/relationships/slideLayout" Target="/ppt/slideLayouts/slideLayout3.xml" Id="R86c8958c1f9c4e65" /><Relationship Type="http://schemas.openxmlformats.org/officeDocument/2006/relationships/slideLayout" Target="/ppt/slideLayouts/slideLayout4.xml" Id="R00e34f90bf68497a" /><Relationship Type="http://schemas.openxmlformats.org/officeDocument/2006/relationships/slideLayout" Target="/ppt/slideLayouts/slideLayout5.xml" Id="R154a6ddfb3d744c9" /><Relationship Type="http://schemas.openxmlformats.org/officeDocument/2006/relationships/slideLayout" Target="/ppt/slideLayouts/slideLayout6.xml" Id="R6d73dd1a3e06466c" /><Relationship Type="http://schemas.openxmlformats.org/officeDocument/2006/relationships/slideLayout" Target="/ppt/slideLayouts/slideLayout7.xml" Id="R638a9f5dd97b4cff" /><Relationship Type="http://schemas.openxmlformats.org/officeDocument/2006/relationships/slideLayout" Target="/ppt/slideLayouts/slideLayout8.xml" Id="R21294f21932f4b0d" /><Relationship Type="http://schemas.openxmlformats.org/officeDocument/2006/relationships/slideLayout" Target="/ppt/slideLayouts/slideLayout9.xml" Id="Rc4a0be19b3f64fc7" /><Relationship Type="http://schemas.openxmlformats.org/officeDocument/2006/relationships/slideLayout" Target="/ppt/slideLayouts/slideLayout10.xml" Id="R0b94468b8e074511" /><Relationship Type="http://schemas.openxmlformats.org/officeDocument/2006/relationships/slideLayout" Target="/ppt/slideLayouts/slideLayout11.xml" Id="R17af8e883d144e72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a11b1df3e694e29" /><Relationship Type="http://schemas.openxmlformats.org/officeDocument/2006/relationships/slideLayout" Target="/ppt/slideLayouts/slideLayout12.xml" Id="Rc359e52730304871" /><Relationship Type="http://schemas.openxmlformats.org/officeDocument/2006/relationships/slideLayout" Target="/ppt/slideLayouts/slideLayout13.xml" Id="R4cbfc81fa4a048f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1">
            <a:extLst xmlns:a="http://schemas.openxmlformats.org/drawingml/2006/main">
              <a:ext uri="{FF2B5EF4-FFF2-40B4-BE49-F238E27FC236}">
                <a16:creationId xmlns:a16="http://schemas.microsoft.com/office/drawing/2014/main" id="{C7C8B2E2-013E-40E1-BA27-71E182FB33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 xmlns:a="http://schemas.openxmlformats.org/drawingml/2006/main"/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61920D55-8B08-4DEC-B9DF-099DFBBE181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t">
            <a:normAutofit/>
          </a:bodyPr>
          <a:lstStyle xmlns:a="http://schemas.openxmlformats.org/drawingml/2006/main">
            <a:lvl1pPr marL="457200" marR="0" indent="-36195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32004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36576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4114800" marR="0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8" name="Shape 3">
            <a:extLst xmlns:a="http://schemas.openxmlformats.org/drawingml/2006/main">
              <a:ext uri="{FF2B5EF4-FFF2-40B4-BE49-F238E27FC236}">
                <a16:creationId xmlns:a16="http://schemas.microsoft.com/office/drawing/2014/main" id="{2172879B-F520-40B5-89EF-B6B070E43E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9" name="Shape 4">
            <a:extLst xmlns:a="http://schemas.openxmlformats.org/drawingml/2006/main">
              <a:ext uri="{FF2B5EF4-FFF2-40B4-BE49-F238E27FC236}">
                <a16:creationId xmlns:a16="http://schemas.microsoft.com/office/drawing/2014/main" id="{B12DB8F2-F668-42E1-A045-7B09014259F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5704B2E6-4A19-4474-BE49-7AE322FF19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8575" tIns="34275" rIns="68575" bIns="34275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9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395384ed284800"/>
    <p:sldLayoutId xmlns:r="http://schemas.openxmlformats.org/officeDocument/2006/relationships" id="2147483650" r:id="Rc5e8d118f5024739"/>
    <p:sldLayoutId xmlns:r="http://schemas.openxmlformats.org/officeDocument/2006/relationships" id="2147483651" r:id="R86c8958c1f9c4e65"/>
    <p:sldLayoutId xmlns:r="http://schemas.openxmlformats.org/officeDocument/2006/relationships" id="2147483652" r:id="R00e34f90bf68497a"/>
    <p:sldLayoutId xmlns:r="http://schemas.openxmlformats.org/officeDocument/2006/relationships" id="2147483653" r:id="R154a6ddfb3d744c9"/>
    <p:sldLayoutId xmlns:r="http://schemas.openxmlformats.org/officeDocument/2006/relationships" id="2147483654" r:id="R6d73dd1a3e06466c"/>
    <p:sldLayoutId xmlns:r="http://schemas.openxmlformats.org/officeDocument/2006/relationships" id="2147483655" r:id="R638a9f5dd97b4cff"/>
    <p:sldLayoutId xmlns:r="http://schemas.openxmlformats.org/officeDocument/2006/relationships" id="2147483656" r:id="R21294f21932f4b0d"/>
    <p:sldLayoutId xmlns:r="http://schemas.openxmlformats.org/officeDocument/2006/relationships" id="2147483657" r:id="Rc4a0be19b3f64fc7"/>
    <p:sldLayoutId xmlns:r="http://schemas.openxmlformats.org/officeDocument/2006/relationships" id="2147483658" r:id="R0b94468b8e074511"/>
    <p:sldLayoutId xmlns:r="http://schemas.openxmlformats.org/officeDocument/2006/relationships" id="2147483659" r:id="R17af8e883d144e72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默认主题">
    <p:bg>
      <p:bgPr>
        <a:solidFill xmlns:a="http://schemas.openxmlformats.org/drawingml/2006/main"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c359e52730304871"/>
    <p:sldLayoutId xmlns:r="http://schemas.openxmlformats.org/officeDocument/2006/relationships" id="2147483662" r:id="R4cbfc81fa4a048f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3598067dd2f4016" /><Relationship Type="http://schemas.openxmlformats.org/officeDocument/2006/relationships/image" Target="/ppt/media/image.jpeg" Id="R060f8445f65e432c" /><Relationship Type="http://schemas.openxmlformats.org/officeDocument/2006/relationships/notesSlide" Target="/ppt/notesSlides/notesSlide1.xml" Id="Rc1799e85ed74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5fc4384a4df4cae" /><Relationship Type="http://schemas.openxmlformats.org/officeDocument/2006/relationships/image" Target="/ppt/media/image2.jpeg" Id="Ref8e509162654b68" /><Relationship Type="http://schemas.openxmlformats.org/officeDocument/2006/relationships/image" Target="/ppt/media/image.svg" Id="Refb3e93284ce456f" /><Relationship Type="http://schemas.openxmlformats.org/officeDocument/2006/relationships/image" Target="/ppt/media/image.jpeg" Id="R2d07e4168d90472f" /><Relationship Type="http://schemas.openxmlformats.org/officeDocument/2006/relationships/image" Target="/ppt/media/image2.svg" Id="R862b2569709e4ba1" /><Relationship Type="http://schemas.openxmlformats.org/officeDocument/2006/relationships/image" Target="/ppt/media/image3.jpeg" Id="Rd715fd3f8941425c" /><Relationship Type="http://schemas.openxmlformats.org/officeDocument/2006/relationships/image" Target="/ppt/media/image3.svg" Id="Rfa94e1e8bd2c4dac" /><Relationship Type="http://schemas.openxmlformats.org/officeDocument/2006/relationships/image" Target="/ppt/media/image4.jpeg" Id="Rf5a1259c5b7a41ac" /><Relationship Type="http://schemas.openxmlformats.org/officeDocument/2006/relationships/image" Target="/ppt/media/image4.svg" Id="R4e7aa39c05c44491" /><Relationship Type="http://schemas.openxmlformats.org/officeDocument/2006/relationships/notesSlide" Target="/ppt/notesSlides/notesSlide2.xml" Id="R3d7ac924093245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dc6ce0af6ed4df4" /><Relationship Type="http://schemas.openxmlformats.org/officeDocument/2006/relationships/image" Target="/ppt/media/image2.jpeg" Id="Rc24ad0fc107d4b7b" /><Relationship Type="http://schemas.openxmlformats.org/officeDocument/2006/relationships/notesSlide" Target="/ppt/notesSlides/notesSlide3.xml" Id="Ra465bc7582bf47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3cc5acf35d49b3" /><Relationship Type="http://schemas.openxmlformats.org/officeDocument/2006/relationships/image" Target="/ppt/media/image2.jpeg" Id="R647a49dd18274bf1" /><Relationship Type="http://schemas.openxmlformats.org/officeDocument/2006/relationships/notesSlide" Target="/ppt/notesSlides/notesSlide4.xml" Id="R0b4db3421d1f442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d80c5e1fb5446e0" /><Relationship Type="http://schemas.openxmlformats.org/officeDocument/2006/relationships/image" Target="/ppt/media/image2.jpeg" Id="R7295c4b262254b04" /><Relationship Type="http://schemas.openxmlformats.org/officeDocument/2006/relationships/notesSlide" Target="/ppt/notesSlides/notesSlide5.xml" Id="R48d3b9ac8fb6447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1db4d636e94781" /><Relationship Type="http://schemas.openxmlformats.org/officeDocument/2006/relationships/image" Target="/ppt/media/image2.jpeg" Id="R07b7edc7cb7e4b2d" /><Relationship Type="http://schemas.openxmlformats.org/officeDocument/2006/relationships/notesSlide" Target="/ppt/notesSlides/notesSlide6.xml" Id="R2cc7da6c345b4b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6783b66341d4b5b" /><Relationship Type="http://schemas.openxmlformats.org/officeDocument/2006/relationships/image" Target="/ppt/media/image2.jpeg" Id="R8ad388298c7f4963" /><Relationship Type="http://schemas.openxmlformats.org/officeDocument/2006/relationships/notesSlide" Target="/ppt/notesSlides/notesSlide7.xml" Id="R0979f7519ee145a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8d12655680a45f7" /><Relationship Type="http://schemas.openxmlformats.org/officeDocument/2006/relationships/image" Target="/ppt/media/image2.jpeg" Id="Ra88598ebac7d498d" /><Relationship Type="http://schemas.openxmlformats.org/officeDocument/2006/relationships/notesSlide" Target="/ppt/notesSlides/notesSlide8.xml" Id="Rd45275bd5c1e480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cb366ec788642da" /><Relationship Type="http://schemas.openxmlformats.org/officeDocument/2006/relationships/image" Target="/ppt/media/image2.jpeg" Id="R01dcc8278b904c9c" /><Relationship Type="http://schemas.openxmlformats.org/officeDocument/2006/relationships/notesSlide" Target="/ppt/notesSlides/notesSlide9.xml" Id="R30c4ca3b69924a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b39535d95064a1a" /><Relationship Type="http://schemas.openxmlformats.org/officeDocument/2006/relationships/image" Target="/ppt/media/image2.jpeg" Id="R5556bf9907c34407" /><Relationship Type="http://schemas.openxmlformats.org/officeDocument/2006/relationships/notesSlide" Target="/ppt/notesSlides/notesSlide10.xml" Id="R512c9f5f536a4fc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e470ef245b44b52" /><Relationship Type="http://schemas.openxmlformats.org/officeDocument/2006/relationships/image" Target="/ppt/media/image2.jpeg" Id="R0a5fb74d51b2440b" /><Relationship Type="http://schemas.openxmlformats.org/officeDocument/2006/relationships/notesSlide" Target="/ppt/notesSlides/notesSlide11.xml" Id="R3141615f3ce244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7116d8a076c4f7c" /><Relationship Type="http://schemas.openxmlformats.org/officeDocument/2006/relationships/image" Target="/ppt/media/image2.jpeg" Id="R24f01126d6db4539" /><Relationship Type="http://schemas.openxmlformats.org/officeDocument/2006/relationships/notesSlide" Target="/ppt/notesSlides/notesSlide12.xml" Id="R8d0233bfc57b4f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69dbf78474114e93" /><Relationship Type="http://schemas.openxmlformats.org/officeDocument/2006/relationships/image" Target="/ppt/media/image2.jpeg" Id="Rb1642c93f2f240db" /><Relationship Type="http://schemas.openxmlformats.org/officeDocument/2006/relationships/notesSlide" Target="/ppt/notesSlides/notesSlide13.xml" Id="R7d129c96ff4c43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fda4f99c2a94b4b" /><Relationship Type="http://schemas.openxmlformats.org/officeDocument/2006/relationships/image" Target="/ppt/media/image2.jpeg" Id="R944391709bc64dfd" /><Relationship Type="http://schemas.openxmlformats.org/officeDocument/2006/relationships/notesSlide" Target="/ppt/notesSlides/notesSlide14.xml" Id="R5fe747f6657f406b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70bf48c43784633" /><Relationship Type="http://schemas.openxmlformats.org/officeDocument/2006/relationships/image" Target="/ppt/media/image5.jpeg" Id="Rd041376da37647ed" /><Relationship Type="http://schemas.openxmlformats.org/officeDocument/2006/relationships/notesSlide" Target="/ppt/notesSlides/notesSlide15.xml" Id="R02311171e84a43f8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60f8445f65e432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35F6A858-8CB4-4D1E-94EA-AB561E74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D5ED2F4-6542-490F-BF04-01CD441F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-254000"/>
            <a:ext cx="1016000" cy="1016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5000"/>
            </a:srgbClr>
          </a:solidFill>
          <a:ln xmlns:a="http://schemas.openxmlformats.org/drawingml/2006/main" cmpd="sng">
            <a:solidFill>
              <a:srgbClr val="00A06B">
                <a:alpha val="15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203D89F-E79A-446B-93B6-72BD79DD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999">
            <a:off x="10414000" y="508000"/>
            <a:ext cx="508000" cy="5080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0B981">
              <a:alpha val="20000"/>
            </a:srgbClr>
          </a:solidFill>
          <a:ln xmlns:a="http://schemas.openxmlformats.org/drawingml/2006/main" cmpd="sng">
            <a:solidFill>
              <a:srgbClr val="00A06B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FBC18014-3A3F-4581-9B20-A10BE56A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286000"/>
            <a:ext cx="1016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48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阅读与思考、数学活动 根号2的无理性与实数数学活动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3BAB2AED-20D4-406B-9FB0-F387D465B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1143000" cy="762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cmpd="sng">
            <a:solidFill>
              <a:srgbClr val="00A06B">
                <a:alpha val="10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CD15C4FA-CAD4-4CF2-B86A-745EECB8C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445000"/>
            <a:ext cx="1016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800" b="1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第8章 实数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B88CC49F-6AAF-401D-BDE6-5C4E081C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334000"/>
            <a:ext cx="1016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0" i="0" u="none">
                <a:solidFill>
                  <a:srgbClr val="334155">
                    <a:alpha val="70196"/>
                  </a:srgbClr>
                </a:solidFill>
                <a:latin typeface="Noto Sans SC"/>
                <a:ea typeface="Noto Sans SC"/>
                <a:cs typeface="Noto Sans SC"/>
              </a:rPr>
              <a:t>七年级数学下册 · 教材印刷页58—59 · 活动课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D96E9492-860B-46C0-8DA9-ED536024A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08000" y="5588000"/>
            <a:ext cx="1524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cmpd="sng">
            <a:solidFill>
              <a:srgbClr val="00A06B">
                <a:alpha val="1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85441148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f8e509162654b68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C4E3A031-FBE4-4EEC-B6B2-46F47595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56AA863E-1555-4770-B596-C8BC6C8FB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本节课，我们要解决什么？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CAA2A1F0-6ACA-4BC7-B126-0C45D84E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6C29112B-6379-4B68-9FC7-0C5C65F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07e4168d90472f">
            <a:extLst>
              <a:ext uri="{96DAC541-7B7A-43D3-8B79-37D633B846F1}">
                <asvg:svgBlip xmlns:asvg="http://schemas.microsoft.com/office/drawing/2016/SVG/main" r:embed="Refb3e93284ce456f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7F4ECC6-B6DC-4158-92C1-67B1470D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认识对象：提取与表达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C5BE7A89-2EC6-47FB-B6C9-02C554DE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通过阅读、观察或操作，准确说出反证思想直观、无理数认识、实数活动探究的含义、表示或基本步骤。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B309F7E3-40CE-4144-91F2-A1589639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DC149184-B258-46DC-B3DC-EDE2F508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1714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7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8e509162654b68">
            <a:extLst>
              <a:ext uri="{96DAC541-7B7A-43D3-8B79-37D633B846F1}">
                <asvg:svgBlip xmlns:asvg="http://schemas.microsoft.com/office/drawing/2016/SVG/main" r:embed="R862b2569709e4ba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1968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1795C4A9-371D-4AAB-AB8C-72302438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1943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探究规律：观察与验证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3F045A72-9BD9-4559-8F06-CC2DB1366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2514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在Q2—Q4中运用“读懂根号2不是有理数的论证思路”，能用完整语言、式子、图形或图表说明依据。</a:t>
            </a: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672FD612-A196-4735-9ABE-A3472DAB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A7E93C21-B853-4EC4-94D8-2EEFC575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2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15fd3f8941425c">
            <a:extLst>
              <a:ext uri="{96DAC541-7B7A-43D3-8B79-37D633B846F1}">
                <asvg:svgBlip xmlns:asvg="http://schemas.microsoft.com/office/drawing/2016/SVG/main" r:embed="Rfa94e1e8bd2c4da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22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06251E4B-1515-4ADB-826F-C285A2F0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56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规范应用：方法与检验</a:t>
            </a: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5C5041B0-1D9F-4E41-8FC7-75C6FD682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在基础与变式练习中运用“读懂根号2不是有理数的论证思路”解决同类问题，并对结果进行检验。</a:t>
            </a:r>
          </a:p>
        </p:txBody>
      </p: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E63A281B-0846-4AB0-96D6-41BC0F781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52705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AutoShape 20">
            <a:extLst xmlns:a="http://schemas.openxmlformats.org/drawingml/2006/main">
              <a:ext uri="{FF2B5EF4-FFF2-40B4-BE49-F238E27FC236}">
                <a16:creationId xmlns:a16="http://schemas.microsoft.com/office/drawing/2014/main" id="{113E3ED2-3ED3-4BBD-878A-F8F82339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9500" y="4127500"/>
            <a:ext cx="76200" cy="2095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7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1259c5b7a41ac">
            <a:extLst>
              <a:ext uri="{96DAC541-7B7A-43D3-8B79-37D633B846F1}">
                <asvg:svgBlip xmlns:asvg="http://schemas.microsoft.com/office/drawing/2016/SVG/main" r:embed="R4e7aa39c05c444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89700" y="4381500"/>
            <a:ext cx="406400" cy="406400"/>
          </a:xfrm>
          <a:prstGeom xmlns:a="http://schemas.openxmlformats.org/drawingml/2006/main" prst="rect">
            <a:avLst/>
          </a:prstGeom>
        </p:spPr>
      </p:pic>
      <p:sp>
        <p:nvSpPr>
          <p:cNvPr id="22" name="AutoShape 22">
            <a:extLst xmlns:a="http://schemas.openxmlformats.org/drawingml/2006/main">
              <a:ext uri="{FF2B5EF4-FFF2-40B4-BE49-F238E27FC236}">
                <a16:creationId xmlns:a16="http://schemas.microsoft.com/office/drawing/2014/main" id="{0F263855-5573-43DC-A006-C206142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100" y="4356100"/>
            <a:ext cx="4064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04 反思评价：表达与订正</a:t>
            </a:r>
          </a:p>
        </p:txBody>
      </p:sp>
      <p:sp>
        <p:nvSpPr>
          <p:cNvPr id="23" name="AutoShape 23">
            <a:extLst xmlns:a="http://schemas.openxmlformats.org/drawingml/2006/main">
              <a:ext uri="{FF2B5EF4-FFF2-40B4-BE49-F238E27FC236}">
                <a16:creationId xmlns:a16="http://schemas.microsoft.com/office/drawing/2014/main" id="{65B14B98-51A4-41F8-84DF-55E0F271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9700" y="4927600"/>
            <a:ext cx="463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在合作探究和互评中形成先审条件、再选方法、规范表达、主动复核的学习习惯。</a:t>
            </a:r>
          </a:p>
        </p:txBody>
      </p:sp>
    </p:spTree>
    <p:extLst>
      <p:ext uri="{BB962C8B-B14F-4D97-AF65-F5344CB8AC3E}">
        <p14:creationId xmlns:p14="http://schemas.microsoft.com/office/powerpoint/2010/main" val="176106525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24ad0fc107d4b7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C60B422-E6E2-4008-930A-A4247B5FC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9DA9AE7C-ACB3-4B60-B00B-D4EC7B2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问题从哪里来？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EE52F2D-C9E2-4D18-86B2-1B0FA3108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E9849650-CF9E-412F-9E80-D5D2EDB4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教材情境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对应印刷页58—59。先读图、读表或读题，圈出已知和所求。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EF41003C-D4E4-49E0-86CE-2FFAEA7A4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A1432678-4521-40AB-AADE-3190628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415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已有基础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调用学生已经学习无理数与实数，具备基本观察、计算、作图或整理数据的经验。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64B284B8-122E-4B84-BAB6-34175382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227C77E8-4C1D-489C-A574-120DDD7CF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1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核心任务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聚焦反证思想直观、无理数认识、实数活动探究，不急于抄结论。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446D4A4-AC1A-4120-B7D8-9BFB94046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4000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40F542E7-1CE9-41AE-A45C-063FAC2A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18000"/>
            <a:ext cx="27305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课堂路径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74151"/>
                </a:solidFill>
                <a:latin typeface="Noto Sans SC"/>
                <a:ea typeface="Noto Sans SC"/>
                <a:cs typeface="Noto Sans SC"/>
              </a:rPr>
              <a:t>观察/阅读 → 自主记录 → 合作验证 → 例练检测。</a:t>
            </a:r>
          </a:p>
        </p:txBody>
      </p:sp>
      <p:sp>
        <p:nvSpPr>
          <p:cNvPr id="16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C0E3DFE3-3160-4514-81ED-EB6E9B1EA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9B88E3C-E390-49E1-AA36-90B48659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9B1FF04-CEC7-40F1-9428-D3DD6AA5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2CCA2E4-AE79-4CC5-92A0-7825FC9D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09AC8C-D411-494E-A8EA-E687E3BC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CFD851E-C731-4E09-9102-F1324560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A5F93D5-5328-4CF9-8B4A-DD4484EEF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798BA31-B963-4DBF-B42D-C62C2B7C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30F2776-96DC-457B-B60A-E65B2039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18414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C65B7FD-63E8-4E70-A57C-373F08F1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26796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9FC14F1-5EEA-45E2-9085-6A58DCF7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A548C91-0485-41E8-9EEB-7C1D7C81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D71B3FC-98A1-447F-A0F0-876E1D6C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1F4445D-6A31-458C-B5A1-8FA75C4F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DD04DF-EA5C-483C-BB00-CD8E11FA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25844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852CF51-7B29-40AA-B70B-279B14639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27939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32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F775FA40-5006-4E8D-8DAB-945EE656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3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DC7FB0B-95F4-476B-B233-67BCA153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236976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1B4986E-61B3-4EF3-B8C3-BC6ABD45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081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58DA322-07DD-4FD1-BE4B-862B9C8E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936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3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32893F7-F497-465C-8ED8-166B2099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68484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9C25CC6-F983-4308-B3EC-A3679C201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7034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3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2F82273-B7FF-4DC1-B5D8-6224CF873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56157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2ED8EE6-6226-4330-886F-B835299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4707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40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36C3BCD6-C717-4DC4-A633-0CFAB4008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468" y="4317968"/>
            <a:ext cx="2031968" cy="15240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4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CA1DC4B-0940-4260-A1D9-407886AFC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697944" y="5156168"/>
            <a:ext cx="1463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2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CED2C7-F1E7-45AF-A7E1-E3E96521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941780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3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5F9FB2C9-B3DF-4E7A-B0EA-406AA4A5D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330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4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054E4B1-15FC-428D-A9B1-B59AEAFB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29452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5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159A333-4488-4990-8B93-7AAB8FD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02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4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8257E7-F5F0-4BB3-97FC-954EA76A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17125" y="5060918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4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0A57A0E-5139-4C5E-ABA1-E4C301A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5675" y="5270468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299333343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47a49dd18274bf1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旧知回顾：回顾“无理数与实数”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回忆规则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回顾“无理数与实数”：写出一条与本课有关的定义、性质或计算规则。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独立作答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先写定义、性质、式子、图形或数据关系，再与同桌核对。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连接新知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参考要点：正确表述“无理数与实数”的核心含义，并说明它与“反证思想直观”的联系。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FAABADF-A75C-4F1A-86BC-101DFCAF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E4E15BB-8C1A-4421-A383-CD19634BB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6907562-602A-46D3-8BB2-FB1F24C1E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8FB8596-7CAE-4B63-BDFA-B28D464B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7992BB4-76D3-4CD2-A137-45D925DB2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F700B9D1-D6ED-44F8-A206-5EA57491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EC17681-522F-40B7-9ECB-F1A5A528D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316837D-5399-4845-8880-5318BE0F7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ED4D394-75FF-4922-A203-CFE10805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BA39B5B-939F-43BF-9ADC-5236A262D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669807F-4A70-49D9-AA20-3B0D9308F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B921636-FB37-482D-96E9-E93C80991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295c4b262254b04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自主探究：观察、猜想与验证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阅读与标记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阅读教材印刷页58—59，圈出“反证思想直观、无理数认识、实数活动探究”，分别用一句话记录它们解决什么问题。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小组探究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小组探究：围绕“在初中阶段理解反证思路而不过度形式化”设计一次观察、操作或推理，记录现象、猜想和验证依据。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记录证据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写清现象、猜想、验证方法和结论；暂不看参考答案。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图示：把条件、对象和关系组织在同一视图中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交流要求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围绕“读懂根号2不是有理数的论证思路”说明理由；同伴只追问条件和依据。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1EF9BB7B-8749-498A-803D-08CFEB8E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EBC572B-F35A-4D09-8677-7423239B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FD20621-5619-46CE-8CF0-604B4E20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8ECA6B5-E8F4-49B1-8608-DA0AEFD5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29A9C56-D9A3-4473-8B7E-24831CED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D32A08EF-3EC5-4C32-979E-CE6D1BEC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23F038A-B55B-4EDB-8ED2-A3A6F976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FC4B15D-CE5B-451A-BA7C-92CD6AA9A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7b7edc7cb7e4b2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概念一：反证思想直观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教材表述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反证思想直观：按教材明确其定义、条件、表示、性质或步骤。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成立条件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把定义中的对象、条件、表示和结论分开记录；缺少条件时不能直接使用。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规范表达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用数学符号、图形、式子、表格或完整语句表达，并标注单位和依据。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57FA99D4-485C-4BB9-9130-4D07BBA14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B243632F-E2AE-4358-8407-71C8EBFC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2D542E4-1707-4D09-AE1F-7FBDDDCD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ADDE1E7-F403-4F53-90AF-50DA0F12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20CB321-5480-4229-A7F6-6C925442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3A1F634-A4A1-4E27-BD8D-260918CA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C822B2C-0C3D-4F20-B9DC-55C8FA6CF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62F0D02-B424-45A1-967B-0E32CBEBC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9CE375B-2922-4D82-B48E-E63D424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BC4B7E5-2730-4D05-B547-404AD61FA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B0D407-1ADA-43D5-AC1F-A8303927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6C23840-7D90-4F68-8833-84A02106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ad388298c7f4963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0E692F53-3D9B-44E7-A3FF-E3734DEF2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0A59FA93-5554-44B0-9571-97BA82684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概念二：无理数认识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7750FF8B-D080-4192-BF17-D95232A9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49495226-5D00-4789-9F6B-995FDBC83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78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核心含义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FF2EE6C5-97F6-4AE7-BD9F-8CC6EE1E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25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无理数认识：按教材明确其定义、条件、表示、性质或步骤。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D0216526-A6D8-4AC0-8413-AB502B6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5334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8DFB3AD4-F3E2-414A-9123-4CAE88714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655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与概念一的联系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9F22FA1D-17E2-4904-A64C-207EA27E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先辨对象和条件，再比较两者的作用、方向或适用范围。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F08A0F00-EABA-43BB-8436-86747E76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334000" cy="1460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E06F1E5F-4EF7-4072-9C19-67BD94BE3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易错提醒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5F887A1F-C014-4123-BA48-69BD3032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59400"/>
            <a:ext cx="4953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易错提醒：在初中阶段理解反证思路而不过度形式化。先审条件，再使用结论。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58764D8-CA6C-4F8F-80F4-7B9AD8E64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05000"/>
            <a:ext cx="4619625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F0C4402-FD61-4EF6-9379-AE2ED68F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361873" y="4157663"/>
            <a:ext cx="33261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61D8F5-BCDB-4305-80AD-101027E47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94485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EEA2F78-E26C-4588-A6F3-2DB15D54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3035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A50B2974-AC08-47CC-BE01-4DDAC90D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359712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25989A9-AE37-4252-8CCA-A28A9CAB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8262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ACBA45C-436B-4AEB-8354-BE47B279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024938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36C3890-6DD8-4AC6-A2FD-CD7F2FB3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7585CE6-85FF-438B-BCA9-E4EF5369C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90164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603EE56-5C69-4FB0-9B92-9AE86CF9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8714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EB2AE67-79A6-4967-AB57-EDE3697CD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55389" y="40624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22C6737-E675-4494-8C48-1F5EC319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3939" y="42719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07240397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88598ebac7d498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为什么这样做？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条件先行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小组探究：围绕“在初中阶段理解反证思路而不过度形式化”设计一次观察、操作或推理，记录现象、猜想和验证依据。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已知与对象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逐项核对题目条件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方法与依据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选择定义、性质或步骤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结论与检验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回到题意复核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完成验证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参考思路：先明确条件，再围绕“读懂根号2不是有理数的论证思路”形成猜想，最后用定义、计算、图表或反例验证。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方法归纳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49F7BBBD-573B-4976-8171-CE0C9DEE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ACA22AB-1E82-461B-97C5-EFF7B0D5D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C637DFF-EAC9-471A-AAC1-660FDE68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F56202B-96A7-41FD-B3E7-79BD17FA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05D63B5-1450-414B-8AE0-10CEE3847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799A5530-5B9D-410C-B84B-836DE08B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D04928B-4BC4-4A07-A58F-E1DFA0BA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D61C75F-A942-4A34-B4F1-A78AC05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A2A52B6-671F-41B8-93A8-1B24143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045942C-4A12-4B6E-B881-58752583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95529204-8290-4DBE-9B7D-CF6FB794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D765A79-6338-4549-AD05-9803F278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1dcc8278b904c9c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E4231154-1173-49AA-885D-6661E547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9F21351-F9A7-44B0-B281-B0142BCF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这些“陷阱”要避开！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3BE0D869-3E7A-481B-AE3C-425A3DF86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3A85DD8-4E75-4C88-9426-05D712CE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01 条件不完整</a:t>
            </a:r>
          </a:p>
        </p:txBody>
      </p:sp>
      <p:cxnSp>
        <p:nvCxnSpPr>
          <p:cNvPr id="41" name="Connector 6"/>
          <p:cNvCxnSpPr/>
          <p:nvPr/>
        </p:nvCxnSpPr>
        <p:spPr>
          <a:xfrm xmlns:a="http://schemas.openxmlformats.org/drawingml/2006/main" rot="-9046">
            <a:off x="9525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F0831D32-F590-4E23-AB46-1E3A85E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只记“反证思想直观”的结论，不检查适用条件。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回到定义逐项核对对象和条件。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745B3F9D-01B9-46F3-8B6D-A76E10CF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510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9C38A64-DE24-45B0-B73D-27BF48A2A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415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02 相近概念混淆</a:t>
            </a:r>
          </a:p>
        </p:txBody>
      </p:sp>
      <p:cxnSp>
        <p:nvCxnSpPr>
          <p:cNvPr id="45" name="Connector 10"/>
          <p:cNvCxnSpPr/>
          <p:nvPr/>
        </p:nvCxnSpPr>
        <p:spPr>
          <a:xfrm xmlns:a="http://schemas.openxmlformats.org/drawingml/2006/main" rot="-9046">
            <a:off x="6477008" y="23050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88D98ADE-BA17-4CBB-8538-A869F437F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384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把“读懂根号2不是有理数的论证思路”与相近概念或逆命题混淆。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比较条件、结论和使用方向。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059CBA47-C8CF-4445-8C86-3E351072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6D2AFE74-577B-43B4-BE03-E32F5D48E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03 只写结果</a:t>
            </a:r>
          </a:p>
        </p:txBody>
      </p:sp>
      <p:cxnSp>
        <p:nvCxnSpPr>
          <p:cNvPr id="49" name="Connector 14"/>
          <p:cNvCxnSpPr/>
          <p:nvPr/>
        </p:nvCxnSpPr>
        <p:spPr>
          <a:xfrm xmlns:a="http://schemas.openxmlformats.org/drawingml/2006/main" rot="-9046">
            <a:off x="9525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>
            <a:extLst xmlns:a="http://schemas.openxmlformats.org/drawingml/2006/main">
              <a:ext uri="{FF2B5EF4-FFF2-40B4-BE49-F238E27FC236}">
                <a16:creationId xmlns:a16="http://schemas.microsoft.com/office/drawing/2014/main" id="{17823634-06B4-4CC8-B01F-8362CB49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只写结果，不写过程、依据或检验。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补全过程、依据和必要单位。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748740E4-EC3D-4B6E-A197-D3D383625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27500"/>
            <a:ext cx="5270500" cy="2222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70000"/>
            </a:srgbClr>
          </a:solidFill>
          <a:ln xmlns:a="http://schemas.openxmlformats.org/drawingml/2006/main" w="12700" cmpd="sng">
            <a:solidFill>
              <a:srgbClr val="F97316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AutoShape 17">
            <a:extLst xmlns:a="http://schemas.openxmlformats.org/drawingml/2006/main">
              <a:ext uri="{FF2B5EF4-FFF2-40B4-BE49-F238E27FC236}">
                <a16:creationId xmlns:a16="http://schemas.microsoft.com/office/drawing/2014/main" id="{2B130B84-92F9-49B2-BEA0-39FD7C512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18000"/>
            <a:ext cx="488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F97316"/>
                </a:solidFill>
                <a:latin typeface="Noto Sans SC"/>
                <a:ea typeface="Noto Sans SC"/>
                <a:cs typeface="Noto Sans SC"/>
              </a:rPr>
              <a:t>04 不作检验</a:t>
            </a:r>
          </a:p>
        </p:txBody>
      </p:sp>
      <p:cxnSp>
        <p:nvCxnSpPr>
          <p:cNvPr id="53" name="Connector 18"/>
          <p:cNvCxnSpPr/>
          <p:nvPr/>
        </p:nvCxnSpPr>
        <p:spPr>
          <a:xfrm xmlns:a="http://schemas.openxmlformats.org/drawingml/2006/main" rot="-9046">
            <a:off x="6477008" y="4781550"/>
            <a:ext cx="4826000" cy="12700"/>
          </a:xfrm>
          <a:prstGeom xmlns:a="http://schemas.openxmlformats.org/drawingml/2006/main" prst="straightConnector1">
            <a:avLst/>
          </a:prstGeom>
          <a:ln xmlns:a="http://schemas.openxmlformats.org/drawingml/2006/main" w="12700" cap="flat">
            <a:solidFill>
              <a:srgbClr val="F9731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9" name="AutoShape 19">
            <a:extLst xmlns:a="http://schemas.openxmlformats.org/drawingml/2006/main">
              <a:ext uri="{FF2B5EF4-FFF2-40B4-BE49-F238E27FC236}">
                <a16:creationId xmlns:a16="http://schemas.microsoft.com/office/drawing/2014/main" id="{F6ABA36F-5119-4F25-92B0-24B0D3DCA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14900"/>
            <a:ext cx="4889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EF4444"/>
                </a:solidFill>
                <a:latin typeface="Noto Sans SC"/>
                <a:ea typeface="Noto Sans SC"/>
                <a:cs typeface="Noto Sans SC"/>
              </a:rPr>
              <a:t>❌ 只写结果，没有写过程、依据或检验。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6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✅ 代回、逆算、看图或用数据复核。</a:t>
            </a:r>
          </a:p>
        </p:txBody>
      </p:sp>
    </p:spTree>
    <p:extLst>
      <p:ext uri="{BB962C8B-B14F-4D97-AF65-F5344CB8AC3E}">
        <p14:creationId xmlns:p14="http://schemas.microsoft.com/office/powerpoint/2010/main" val="156114763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556bf9907c34407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教材例题：例题（对应阅读与思考“为什么√2不是有理数…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题目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例题（对应阅读与思考“为什么√2不是有理数”、教材第59页数学活动）：尝试用“假设√2=m/n（最简分数）”的思路说明会出现什么矛盾。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先独立完成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圈出条件和所求；选择方法；暂不显示完整答案。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思考顺序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1. 提取条件；2. 选用读懂根号2不是有理数的论证思路；3. 写依据并检验。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教材印刷页58—59：先思考，再对照规范解答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课堂约定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先写自己的第一步；同桌只检查条件和方法，不直接报答案。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0E33AFAC-D0E2-4A75-897D-C21E2B4B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3C5306F2-9BC2-4EC4-AD7B-3C21DCD7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C2329B9-439E-4DA6-96B0-1716563B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95309A1B-0877-4000-BBC7-2456A455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F7D97533-2C34-4AA9-B173-752086D44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806B4D0C-D0D8-454C-9D74-F8833B5F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88D0B96-61B0-4DE0-BCCC-9BC03215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B22978F-CDA4-4C7A-8BA2-1F610133D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0a5fb74d51b2440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AE97BB10-88A1-43F3-B670-02306D45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499513F6-3F54-4843-AEA2-D37F0BA7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例题：规范解答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2309ECEB-512C-4CA6-9D9F-BCB4ACE8A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第一步：审条件</a:t>
            </a: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8F02AE9B-2287-41F2-887D-84A861FF7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2500"/>
            <a:ext cx="558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提取已知条件与所求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91D0B8C4-08FD-4372-80E4-4782D051B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1054D4E-5A31-48CD-9F68-3FBD34204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关系/规则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选择“读懂根号2不是有理数的论证思路”对应的方法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A67FE7A2-DAFD-4685-B249-50D57F233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24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6E163C5B-6232-43E6-AA6B-0A56678DE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9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过程/表达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规范计算或说明并回到原题检验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332A555C-286A-41AF-89D2-099D9F0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3111500"/>
            <a:ext cx="1727200" cy="889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1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64F19F02-0C49-4A1F-8AC3-A61717384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238500"/>
            <a:ext cx="1600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4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结论/检验</a:t>
            </a:r>
          </a:p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结果必须满足全部条件并回到问题。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A06EA5A5-757F-4927-A1B8-871F82288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8000"/>
            <a:ext cx="5588000" cy="44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完整解答</a:t>
            </a: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D6389A22-39AB-4667-A735-F87EFD20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6000"/>
            <a:ext cx="5588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1F5F9">
              <a:alpha val="8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AutoShape 14">
            <a:extLst xmlns:a="http://schemas.openxmlformats.org/drawingml/2006/main">
              <a:ext uri="{FF2B5EF4-FFF2-40B4-BE49-F238E27FC236}">
                <a16:creationId xmlns:a16="http://schemas.microsoft.com/office/drawing/2014/main" id="{0AEB0F27-8103-4324-BA4A-CF6504DAA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4953000"/>
            <a:ext cx="5334000" cy="139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由m²=2n²可得m为偶数，进一步得n也为偶数，与m/n最简矛盾，因此√2不是有理数。</a:t>
            </a:r>
          </a:p>
        </p:txBody>
      </p:sp>
      <p:sp>
        <p:nvSpPr>
          <p:cNvPr id="16" name="AutoShape 16">
            <a:extLst xmlns:a="http://schemas.openxmlformats.org/drawingml/2006/main">
              <a:ext uri="{FF2B5EF4-FFF2-40B4-BE49-F238E27FC236}">
                <a16:creationId xmlns:a16="http://schemas.microsoft.com/office/drawing/2014/main" id="{0317C9F7-906B-473B-9164-82DE43435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26000"/>
            <a:ext cx="4826000" cy="1397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AutoShape 18">
            <a:extLst xmlns:a="http://schemas.openxmlformats.org/drawingml/2006/main">
              <a:ext uri="{FF2B5EF4-FFF2-40B4-BE49-F238E27FC236}">
                <a16:creationId xmlns:a16="http://schemas.microsoft.com/office/drawing/2014/main" id="{6DA26F7E-01CD-493E-9490-A156A0C5E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165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易错纠正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3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没有先确认“读懂根号2不是有理数的论证思路”的条件，或只写结果不写依据。</a:t>
            </a:r>
          </a:p>
        </p:txBody>
      </p:sp>
      <p:sp>
        <p:nvSpPr>
          <p:cNvPr id="19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DBBAA2FB-40C6-49E5-A996-6C631837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047875"/>
            <a:ext cx="3952875" cy="2381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CBE9368-D32D-47D0-924A-78735AF7C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744778" y="3357563"/>
            <a:ext cx="284607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34155"/>
            </a:solidFill>
            <a:prstDash val="solid"/>
          </a:ln>
        </p:spPr>
      </p:sp>
      <p:sp>
        <p:nvSpPr>
          <p:cNvPr id="21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8E2F9E84-15AA-4305-BE66-844FA6CC2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029385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2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C22B464E-F26D-418F-901B-E0B1FEED5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7935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−1</a:t>
            </a:r>
          </a:p>
        </p:txBody>
      </p:sp>
      <p:sp>
        <p:nvSpPr>
          <p:cNvPr id="23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E403B6C-3333-4F25-AA68-777407D8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598599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4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DA8AA95-4849-4BFA-8FC9-6177F75C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7149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2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22512A0-96D8-4440-9C39-02246F2D1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167813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CD039F1-D891-4267-8C4E-D9A4D9ECD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D88F8639-54A0-48B0-9110-3ED273FA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737027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A0286CC-3AEE-4B54-8D85-13DE906E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5577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E4793B"/>
                </a:solidFill>
              </a:defRPr>
            </a:pPr>
            <a:r>
              <a:rPr sz="1275" b="1">
                <a:solidFill>
                  <a:srgbClr val="E4793B"/>
                </a:solidFill>
              </a:rPr>
              <a:t>√2</a:t>
            </a:r>
          </a:p>
        </p:txBody>
      </p:sp>
      <p:sp>
        <p:nvSpPr>
          <p:cNvPr id="2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42F7017E-DA5F-4685-9A2A-A6D87E07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306241" y="3262313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3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9F7A00D-23BF-4CBF-8E5E-EFA8B25D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791" y="3471863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06250880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4f01126d6db4539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分层练习：基础与变式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Q5 · 基础辨析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基础辨析：判断“使用‘反证思想直观’时不需要检查条件，只要结论看起来合理即可”，并说明理由。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Q6 · 变式练习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变式练习：把Q4的一个条件、数据或表示方式作合理改变，仍用“读懂根号2不是有理数的论证思路”解决，并写出检验。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同桌互查 · 说清依据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条件是否完整；② 方法是否匹配；③ 过程是否规范；④ 是否检验。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528CDC7-D507-424D-B77B-071BAD24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C1197D1C-967E-40CE-939C-F743EBE6B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561CA38-515D-433D-B23D-B70122E39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3BE9B405-337D-4368-AC96-DB426C1DB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31BEBD0-B27F-40FF-A4A4-4E24A3E3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199C0A6B-D5C6-41B8-9738-069EF80BB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A340DFE-2650-400F-B864-03BA6FDB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E60CDA7-191D-4BCA-A137-00B1C99C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1642c93f2f240db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14D118DA-6A39-4395-8739-45F17D964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FF7E5BD0-71F8-4321-8C30-46484B0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变式提升：迁移方法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8E5B9E4C-DD9C-4C16-B1DF-28A76807F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216946D6-71BC-4F76-9907-EE72CEAC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改变条件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变式练习：把Q4的一个条件、数据或表示方式作合理改变，仍用“读懂根号2不是有理数的论证思路”解决，并写出检验。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59A87179-443B-46AC-875E-B4C62ED55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B3D19FF1-79DA-4167-83B0-A0C07CC7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保持方法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说明改变后为什么仍能使用原方法，不能只照抄原结果。</a:t>
            </a: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4B221CC4-2AA7-4EE4-9B4F-52A64C5E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0" y="1524000"/>
            <a:ext cx="3556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3D9A2A5B-47D2-411D-9B1F-EEB96870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51000"/>
            <a:ext cx="3302000" cy="165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00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评价标准</a:t>
            </a:r>
          </a:p>
          <a:p xmlns:a="http://schemas.openxmlformats.org/drawingml/2006/main">
            <a:pPr marL="0" indent="0" algn="l">
              <a:lnSpc>
                <a:spcPct val="108333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答案不唯一。评价要点：改变后的条件完整；方法仍属于“读懂根号2不是有理数的论证思路”；过程正确；检验与新条件一致。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7E827468-A35F-4966-9EC6-46D06FC14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4572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lnSpc>
                <a:spcPct val="125000"/>
              </a:lnSpc>
              <a:buNone/>
            </a:pPr>
            <a:r>
              <a:rPr sz="1300" b="0" i="0" u="none">
                <a:solidFill>
                  <a:srgbClr val="64748B"/>
                </a:solidFill>
                <a:latin typeface="Noto Sans SC"/>
                <a:ea typeface="Noto Sans SC"/>
                <a:cs typeface="Noto Sans SC"/>
              </a:rPr>
              <a:t>图示：把新条件与原方法逐项对应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5D11F65-9C34-4F9D-8FED-ED2AF90F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3937000"/>
            <a:ext cx="5842000" cy="2413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2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4215857B-EACC-4DC8-AA59-7141D7540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4127500"/>
            <a:ext cx="5588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6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🔍 方法迁移</a:t>
            </a:r>
          </a:p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475569"/>
                </a:solidFill>
                <a:latin typeface="Noto Sans SC"/>
                <a:ea typeface="Noto Sans SC"/>
                <a:cs typeface="Noto Sans SC"/>
              </a:rPr>
              <a:t>提取条件 → 选择概念或方法 → 规范求解/作图/整理 → 写出依据 → 回到题意检验。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7DC6220F-7F90-4EC6-BEFA-17EBF01D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4143375" cy="1381125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75C67454-B30B-4265-9154-610EAB8C5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84948" y="4931569"/>
            <a:ext cx="29832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EF688A5-A4A8-4F73-B9B0-0E9B051E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8215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4978834-57A5-48E0-9B2F-6E77B928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70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9916DA1-8F7B-4495-BB12-FF092684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656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3C10004-946A-481D-B68D-75BBF93E6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511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4A250D7-8438-4204-B81C-9B112FDF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970973" y="4836319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E7DF0D87-79D6-4943-A492-D6057D6B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9523" y="5045869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35368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944391709bc64df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7F5B0BC-B7EB-4C16-80FF-B31B9E41E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w="25400" cmpd="sng">
            <a:noFill/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A891298A-AC92-4137-A8B9-07D9FE18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当堂检测：独立完成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04F58484-D305-4F3E-A047-2886A18F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8DC2AF0-6F9D-49FE-BC03-65A84B3D3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Q7 · 纠错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1E4C18F6-B318-4F10-A89C-909DC5B8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纠错：“研究根号2的无理性与实数数学活动时，只记结论，不必区分条件、过程和依据。”这句话对吗？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3A623867-5F02-49B2-82ED-D8239935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524000"/>
            <a:ext cx="5207000" cy="1905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5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56E51F60-7732-4E69-B0C7-F36B8434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1714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Q8 · 检测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2FD2F825-0F25-46EE-990B-D9ECC840A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590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当堂检测：本活动中反证思路的三个环节是什么？</a:t>
            </a:r>
          </a:p>
        </p:txBody>
      </p:sp>
      <p:sp>
        <p:nvSpPr>
          <p:cNvPr id="10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8C892379-C798-4E3B-9FBA-D28EC473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10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8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03 自我检查</a:t>
            </a: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FF4DCF0D-67B0-4B4E-8973-FE1251DE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381500"/>
            <a:ext cx="6096000" cy="1524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D1FAE5">
              <a:alpha val="60000"/>
            </a:srgbClr>
          </a:solidFill>
          <a:ln xmlns:a="http://schemas.openxmlformats.org/drawingml/2006/main" w="12700" cmpd="sng">
            <a:solidFill>
              <a:srgbClr val="10B981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AutoShape 13">
            <a:extLst xmlns:a="http://schemas.openxmlformats.org/drawingml/2006/main">
              <a:ext uri="{FF2B5EF4-FFF2-40B4-BE49-F238E27FC236}">
                <a16:creationId xmlns:a16="http://schemas.microsoft.com/office/drawing/2014/main" id="{FD128C0B-BFF7-446B-84DF-CA22596E5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546600"/>
            <a:ext cx="5715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① 条件对象是否找全？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② 方法与依据是否匹配？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③ 结果是否检验？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4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④ 书写和单位是否规范？</a:t>
            </a:r>
          </a:p>
        </p:txBody>
      </p:sp>
      <p:sp>
        <p:nvSpPr>
          <p:cNvPr id="14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EB08E1EC-0B1F-4940-A5DD-6F3D803E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24375"/>
            <a:ext cx="385762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0C130555-84EC-4342-8018-E7135655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44943" y="5231606"/>
            <a:ext cx="27774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F6FD0B5-3E94-459B-B603-DABF5AE48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907857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7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ACF36670-AD4B-4AAB-A85F-FABA9CB7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6407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8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6A18238D-1071-44DA-A58B-2E1E7FC1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83368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9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B67744F7-011E-4FB5-A071-9B102ABA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223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20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1C0282A6-7D81-47D5-B075-5C8FB296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759518" y="513635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1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A4953CB-8CDA-4048-8D82-27122C24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8068" y="534590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155212485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041376da37647ed"/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AutoShape 2">
            <a:extLst xmlns:a="http://schemas.openxmlformats.org/drawingml/2006/main">
              <a:ext uri="{FF2B5EF4-FFF2-40B4-BE49-F238E27FC236}">
                <a16:creationId xmlns:a16="http://schemas.microsoft.com/office/drawing/2014/main" id="{B8B25486-05ED-464E-B78C-65A73EF1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30000"/>
            </a:srgbClr>
          </a:solidFill>
          <a:ln xmlns:a="http://schemas.openxmlformats.org/drawingml/2006/main" cmpd="sng">
            <a:solidFill>
              <a:srgbClr val="E6CFCF">
                <a:alpha val="3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AutoShape 3">
            <a:extLst xmlns:a="http://schemas.openxmlformats.org/drawingml/2006/main">
              <a:ext uri="{FF2B5EF4-FFF2-40B4-BE49-F238E27FC236}">
                <a16:creationId xmlns:a16="http://schemas.microsoft.com/office/drawing/2014/main" id="{DDD7D9C9-EED2-40F9-85CB-3E806CA8D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80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3200" b="1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课堂小结与分层作业</a:t>
            </a:r>
          </a:p>
        </p:txBody>
      </p:sp>
      <p:sp>
        <p:nvSpPr>
          <p:cNvPr id="4" name="AutoShape 4">
            <a:extLst xmlns:a="http://schemas.openxmlformats.org/drawingml/2006/main">
              <a:ext uri="{FF2B5EF4-FFF2-40B4-BE49-F238E27FC236}">
                <a16:creationId xmlns:a16="http://schemas.microsoft.com/office/drawing/2014/main" id="{F98A90FC-C7B2-42DD-ADC0-B34CD999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1000"/>
            <a:ext cx="5334000" cy="1968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AutoShape 5">
            <a:extLst xmlns:a="http://schemas.openxmlformats.org/drawingml/2006/main">
              <a:ext uri="{FF2B5EF4-FFF2-40B4-BE49-F238E27FC236}">
                <a16:creationId xmlns:a16="http://schemas.microsoft.com/office/drawing/2014/main" id="{54893008-7C6A-404C-B71F-2ED32934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8415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01 课堂小结</a:t>
            </a:r>
          </a:p>
        </p:txBody>
      </p:sp>
      <p:sp>
        <p:nvSpPr>
          <p:cNvPr id="6" name="AutoShape 6">
            <a:extLst xmlns:a="http://schemas.openxmlformats.org/drawingml/2006/main">
              <a:ext uri="{FF2B5EF4-FFF2-40B4-BE49-F238E27FC236}">
                <a16:creationId xmlns:a16="http://schemas.microsoft.com/office/drawing/2014/main" id="{C1F41DEA-4E6B-4FED-A889-43C984E4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2311400"/>
            <a:ext cx="48260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小结参考：本课围绕“根号2的无理性与实数数学活动”，掌握反证思想直观、无理数认识、实数活动探究，并能运用读懂根号2不是有理数的论证思路。</a:t>
            </a:r>
          </a:p>
        </p:txBody>
      </p:sp>
      <p:sp>
        <p:nvSpPr>
          <p:cNvPr id="7" name="AutoShape 7">
            <a:extLst xmlns:a="http://schemas.openxmlformats.org/drawingml/2006/main">
              <a:ext uri="{FF2B5EF4-FFF2-40B4-BE49-F238E27FC236}">
                <a16:creationId xmlns:a16="http://schemas.microsoft.com/office/drawing/2014/main" id="{A5564938-2BB8-427A-97F0-660CAD8C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73500"/>
            <a:ext cx="5334000" cy="2349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FFF">
              <a:alpha val="60000"/>
            </a:srgbClr>
          </a:solidFill>
          <a:ln xmlns:a="http://schemas.openxmlformats.org/drawingml/2006/main" cmpd="sng">
            <a:solidFill>
              <a:srgbClr val="E6CFCF">
                <a:alpha val="6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AutoShape 8">
            <a:extLst xmlns:a="http://schemas.openxmlformats.org/drawingml/2006/main">
              <a:ext uri="{FF2B5EF4-FFF2-40B4-BE49-F238E27FC236}">
                <a16:creationId xmlns:a16="http://schemas.microsoft.com/office/drawing/2014/main" id="{31AA8B2B-395F-4BAC-8BB5-D1E9B16F4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064000"/>
            <a:ext cx="482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20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02 分层作业</a:t>
            </a:r>
          </a:p>
        </p:txBody>
      </p:sp>
      <p:sp>
        <p:nvSpPr>
          <p:cNvPr id="9" name="AutoShape 9">
            <a:extLst xmlns:a="http://schemas.openxmlformats.org/drawingml/2006/main">
              <a:ext uri="{FF2B5EF4-FFF2-40B4-BE49-F238E27FC236}">
                <a16:creationId xmlns:a16="http://schemas.microsoft.com/office/drawing/2014/main" id="{F19059F7-3EE3-41D2-96D5-E0872D81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4533900"/>
            <a:ext cx="4826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6666"/>
              </a:lnSpc>
              <a:buNone/>
            </a:pPr>
            <a:r>
              <a:rPr sz="1400" b="0" i="0" u="none">
                <a:solidFill>
                  <a:srgbClr val="334155"/>
                </a:solidFill>
                <a:latin typeface="Noto Sans SC"/>
                <a:ea typeface="Noto Sans SC"/>
                <a:cs typeface="Noto Sans SC"/>
              </a:rPr>
              <a:t>基础：完成阅读记录与活动任务中的基础题并订正Q5、Q7 提升：当堂检测：本活动中反证思路的三个环节是什么？ 自拟：围绕本课编一道题并交换解答。</a:t>
            </a:r>
          </a:p>
        </p:txBody>
      </p:sp>
      <p:sp>
        <p:nvSpPr>
          <p:cNvPr id="11" name="AutoShape 11">
            <a:extLst xmlns:a="http://schemas.openxmlformats.org/drawingml/2006/main">
              <a:ext uri="{FF2B5EF4-FFF2-40B4-BE49-F238E27FC236}">
                <a16:creationId xmlns:a16="http://schemas.microsoft.com/office/drawing/2014/main" id="{D220E1E6-1EA6-424A-AE34-3C0F78CD1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54500"/>
            <a:ext cx="5080000" cy="18415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0B981">
              <a:alpha val="8000"/>
            </a:srgbClr>
          </a:solidFill>
          <a:ln xmlns:a="http://schemas.openxmlformats.org/drawingml/2006/main" w="12700" cmpd="sng">
            <a:solidFill>
              <a:srgbClr val="10B981">
                <a:alpha val="40000"/>
              </a:srgbClr>
            </a:solidFill>
            <a:prstDash val="solid"/>
          </a:ln>
        </p:spPr>
        <p:txBody>
          <a:bodyPr xmlns:a="http://schemas.openxmlformats.org/drawingml/2006/main" vert="horz" wrap="square" lIns="63500" tIns="63500" rIns="63500" bIns="63500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9CEE388D-60C1-41A8-83EE-82D30086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45000"/>
            <a:ext cx="4699000" cy="158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vert="horz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💡 课后自评</a:t>
            </a:r>
          </a:p>
          <a:p xmlns:a="http://schemas.openxmlformats.org/drawingml/2006/main">
            <a:pPr marL="0" indent="0" algn="l">
              <a:lnSpc>
                <a:spcPct val="125000"/>
              </a:lnSpc>
              <a:buNone/>
            </a:pPr>
            <a:r>
              <a:rPr sz="1500" b="1" i="0" u="none">
                <a:solidFill>
                  <a:srgbClr val="10B981"/>
                </a:solidFill>
                <a:latin typeface="Noto Sans SC"/>
                <a:ea typeface="Noto Sans SC"/>
                <a:cs typeface="Noto Sans SC"/>
              </a:rPr>
              <a:t>我能否：①准确表达反证思想直观；②运用读懂根号2不是有理数的论证思路；③写清依据并检验？选择“会 / 需复习 / 需帮助”。</a:t>
            </a:r>
          </a:p>
        </p:txBody>
      </p:sp>
      <p:sp>
        <p:nvSpPr>
          <p:cNvPr id="13" name="batch-topic-panel">
            <a:extLst xmlns:a="http://schemas.openxmlformats.org/drawingml/2006/main">
              <a:ext uri="{FF2B5EF4-FFF2-40B4-BE49-F238E27FC236}">
                <a16:creationId xmlns:a16="http://schemas.microsoft.com/office/drawing/2014/main" id="{8C6D904E-D005-417C-842C-B821188D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33625"/>
            <a:ext cx="4333875" cy="1285875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3FAF7"/>
          </a:solidFill>
          <a:ln xmlns:a="http://schemas.openxmlformats.org/drawingml/2006/main" w="11430">
            <a:solidFill>
              <a:srgbClr val="B8D7CB"/>
            </a:solidFill>
            <a:prstDash val="solid"/>
          </a:ln>
        </p:spPr>
      </p:sp>
      <p:sp>
        <p:nvSpPr>
          <p:cNvPr id="14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E7BE89C3-3DAD-463B-B23B-06491881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417118" y="3040856"/>
            <a:ext cx="3120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5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77B67B7-E7B1-4623-B06E-990C90663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3718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6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2A7830B9-4059-4AC5-BFB4-3A05D6D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573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0</a:t>
            </a:r>
          </a:p>
        </p:txBody>
      </p:sp>
      <p:sp>
        <p:nvSpPr>
          <p:cNvPr id="17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59665615-91C0-4548-9CA2-8F149AB0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97731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18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4892787E-7526-41CE-BC56-3798428C5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86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1</a:t>
            </a:r>
          </a:p>
        </p:txBody>
      </p:sp>
      <p:sp>
        <p:nvSpPr>
          <p:cNvPr id="19" name="batch-topic-line">
            <a:extLst xmlns:a="http://schemas.openxmlformats.org/drawingml/2006/main">
              <a:ext uri="{FF2B5EF4-FFF2-40B4-BE49-F238E27FC236}">
                <a16:creationId xmlns:a16="http://schemas.microsoft.com/office/drawing/2014/main" id="{24BFB455-0FB1-4FC0-A7A6-F2EF44C6B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017443" y="2945606"/>
            <a:ext cx="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34155"/>
            </a:solidFill>
            <a:prstDash val="solid"/>
          </a:ln>
        </p:spPr>
      </p:sp>
      <p:sp>
        <p:nvSpPr>
          <p:cNvPr id="20" name="batch-topic-label">
            <a:extLst xmlns:a="http://schemas.openxmlformats.org/drawingml/2006/main">
              <a:ext uri="{FF2B5EF4-FFF2-40B4-BE49-F238E27FC236}">
                <a16:creationId xmlns:a16="http://schemas.microsoft.com/office/drawing/2014/main" id="{091A1B0E-938A-479E-B194-D35A87D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5993" y="3155156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4793B"/>
                </a:solidFill>
              </a:defRPr>
            </a:pPr>
            <a:r>
              <a:rPr sz="1200" b="1">
                <a:solidFill>
                  <a:srgbClr val="E4793B"/>
                </a:solidFill>
              </a:rPr>
              <a:t>√2</a:t>
            </a:r>
          </a:p>
        </p:txBody>
      </p:sp>
    </p:spTree>
    <p:extLst>
      <p:ext uri="{BB962C8B-B14F-4D97-AF65-F5344CB8AC3E}">
        <p14:creationId xmlns:p14="http://schemas.microsoft.com/office/powerpoint/2010/main" val="1581102124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2026-08-02T17:54:17.0390000Z</dcterms:created>
  <dcterms:modified xsi:type="dcterms:W3CDTF">2026-08-02T17:54:17.0390000Z</dcterms:modified>
</coreProperties>
</file>