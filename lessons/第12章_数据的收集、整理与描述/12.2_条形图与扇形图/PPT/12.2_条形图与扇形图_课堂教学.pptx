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4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89f3745f5c2494e" /><Relationship Type="http://schemas.openxmlformats.org/officeDocument/2006/relationships/extended-properties" Target="/docProps/app.xml" Id="Rd126d34939464d70" /><Relationship Type="http://schemas.openxmlformats.org/officeDocument/2006/relationships/officeDocument" Target="/ppt/presentation.xml" Id="R30b9eee087a0474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e33fcb674904228"/>
    <p:sldMasterId xmlns:r="http://schemas.openxmlformats.org/officeDocument/2006/relationships" id="2147483660" r:id="Rd9d64c13c3f94a9a"/>
  </p:sldMasterIdLst>
  <p:notesMasterIdLst>
    <p:notesMasterId xmlns:r="http://schemas.openxmlformats.org/officeDocument/2006/relationships" r:id="R2d2762f64c0d42bd"/>
  </p:notesMasterIdLst>
  <p:sldIdLst>
    <p:sldId xmlns:r="http://schemas.openxmlformats.org/officeDocument/2006/relationships" id="256" r:id="Rc49b1102d634470f"/>
    <p:sldId xmlns:r="http://schemas.openxmlformats.org/officeDocument/2006/relationships" id="257" r:id="R99f77d4157554c50"/>
    <p:sldId xmlns:r="http://schemas.openxmlformats.org/officeDocument/2006/relationships" id="258" r:id="Rc81a0ad4964a490e"/>
    <p:sldId xmlns:r="http://schemas.openxmlformats.org/officeDocument/2006/relationships" id="259" r:id="Re7273e66031a4cab"/>
    <p:sldId xmlns:r="http://schemas.openxmlformats.org/officeDocument/2006/relationships" id="260" r:id="R501ab51c099b4267"/>
    <p:sldId xmlns:r="http://schemas.openxmlformats.org/officeDocument/2006/relationships" id="261" r:id="R5e9e624c19e24e24"/>
    <p:sldId xmlns:r="http://schemas.openxmlformats.org/officeDocument/2006/relationships" id="262" r:id="R037d9e4086d04047"/>
    <p:sldId xmlns:r="http://schemas.openxmlformats.org/officeDocument/2006/relationships" id="263" r:id="Ra80fcff859f44c3d"/>
    <p:sldId xmlns:r="http://schemas.openxmlformats.org/officeDocument/2006/relationships" id="264" r:id="R59fd0b91cf874caf"/>
    <p:sldId xmlns:r="http://schemas.openxmlformats.org/officeDocument/2006/relationships" id="265" r:id="Rcd13b15ca4844fd9"/>
    <p:sldId xmlns:r="http://schemas.openxmlformats.org/officeDocument/2006/relationships" id="266" r:id="Rec76df8908d94359"/>
    <p:sldId xmlns:r="http://schemas.openxmlformats.org/officeDocument/2006/relationships" id="267" r:id="R2c34f0e8c7ec4a67"/>
    <p:sldId xmlns:r="http://schemas.openxmlformats.org/officeDocument/2006/relationships" id="268" r:id="Rc0eb3d872ad64693"/>
    <p:sldId xmlns:r="http://schemas.openxmlformats.org/officeDocument/2006/relationships" id="269" r:id="R9e01c65c426b4cee"/>
    <p:sldId xmlns:r="http://schemas.openxmlformats.org/officeDocument/2006/relationships" id="270" r:id="R282418178b1d480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947c787cafb43b2" /><Relationship Type="http://schemas.openxmlformats.org/officeDocument/2006/relationships/slideMaster" Target="/ppt/slideMasters/slideMaster1.xml" Id="R1e33fcb674904228" /><Relationship Type="http://schemas.openxmlformats.org/officeDocument/2006/relationships/slideMaster" Target="/ppt/slideMasters/slideMaster2.xml" Id="Rd9d64c13c3f94a9a" /><Relationship Type="http://schemas.openxmlformats.org/officeDocument/2006/relationships/notesMaster" Target="/ppt/notesMasters/notesMaster1.xml" Id="R2d2762f64c0d42bd" /><Relationship Type="http://schemas.openxmlformats.org/officeDocument/2006/relationships/presProps" Target="/ppt/presProps.xml" Id="Rfd86ddda53a44598" /><Relationship Type="http://schemas.openxmlformats.org/officeDocument/2006/relationships/viewProps" Target="/ppt/viewProps.xml" Id="Rea58a02c81534765" /><Relationship Type="http://schemas.openxmlformats.org/officeDocument/2006/relationships/tableStyles" Target="/ppt/tableStyles.xml" Id="R94b312b9a2784580" /><Relationship Type="http://schemas.openxmlformats.org/officeDocument/2006/relationships/slide" Target="/ppt/slides/slide1.xml" Id="Rc49b1102d634470f" /><Relationship Type="http://schemas.openxmlformats.org/officeDocument/2006/relationships/slide" Target="/ppt/slides/slide2.xml" Id="R99f77d4157554c50" /><Relationship Type="http://schemas.openxmlformats.org/officeDocument/2006/relationships/slide" Target="/ppt/slides/slide3.xml" Id="Rc81a0ad4964a490e" /><Relationship Type="http://schemas.openxmlformats.org/officeDocument/2006/relationships/slide" Target="/ppt/slides/slide4.xml" Id="Re7273e66031a4cab" /><Relationship Type="http://schemas.openxmlformats.org/officeDocument/2006/relationships/slide" Target="/ppt/slides/slide5.xml" Id="R501ab51c099b4267" /><Relationship Type="http://schemas.openxmlformats.org/officeDocument/2006/relationships/slide" Target="/ppt/slides/slide6.xml" Id="R5e9e624c19e24e24" /><Relationship Type="http://schemas.openxmlformats.org/officeDocument/2006/relationships/slide" Target="/ppt/slides/slide7.xml" Id="R037d9e4086d04047" /><Relationship Type="http://schemas.openxmlformats.org/officeDocument/2006/relationships/slide" Target="/ppt/slides/slide8.xml" Id="Ra80fcff859f44c3d" /><Relationship Type="http://schemas.openxmlformats.org/officeDocument/2006/relationships/slide" Target="/ppt/slides/slide9.xml" Id="R59fd0b91cf874caf" /><Relationship Type="http://schemas.openxmlformats.org/officeDocument/2006/relationships/slide" Target="/ppt/slides/slide10.xml" Id="Rcd13b15ca4844fd9" /><Relationship Type="http://schemas.openxmlformats.org/officeDocument/2006/relationships/slide" Target="/ppt/slides/slide11.xml" Id="Rec76df8908d94359" /><Relationship Type="http://schemas.openxmlformats.org/officeDocument/2006/relationships/slide" Target="/ppt/slides/slide12.xml" Id="R2c34f0e8c7ec4a67" /><Relationship Type="http://schemas.openxmlformats.org/officeDocument/2006/relationships/slide" Target="/ppt/slides/slide13.xml" Id="Rc0eb3d872ad64693" /><Relationship Type="http://schemas.openxmlformats.org/officeDocument/2006/relationships/slide" Target="/ppt/slides/slide14.xml" Id="R9e01c65c426b4cee" /><Relationship Type="http://schemas.openxmlformats.org/officeDocument/2006/relationships/slide" Target="/ppt/slides/slide15.xml" Id="R282418178b1d480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4.xml" Id="Rb1926a1952a64a9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4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66549320ed648f6" /><Relationship Type="http://schemas.openxmlformats.org/officeDocument/2006/relationships/notesMaster" Target="/ppt/notesMasters/notesMaster1.xml" Id="Raa35e5da141d428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8e026ebc09d4eec" /><Relationship Type="http://schemas.openxmlformats.org/officeDocument/2006/relationships/notesMaster" Target="/ppt/notesMasters/notesMaster1.xml" Id="R3ee012b1fc624a5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52252f730c24c12" /><Relationship Type="http://schemas.openxmlformats.org/officeDocument/2006/relationships/notesMaster" Target="/ppt/notesMasters/notesMaster1.xml" Id="R05da45c81ea047a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1a91032885c493a" /><Relationship Type="http://schemas.openxmlformats.org/officeDocument/2006/relationships/notesMaster" Target="/ppt/notesMasters/notesMaster1.xml" Id="R29fefa02e18e476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11276dcf4744cdc" /><Relationship Type="http://schemas.openxmlformats.org/officeDocument/2006/relationships/notesMaster" Target="/ppt/notesMasters/notesMaster1.xml" Id="Rc5f45f7175fc407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0d22677ef4b4cdd" /><Relationship Type="http://schemas.openxmlformats.org/officeDocument/2006/relationships/notesMaster" Target="/ppt/notesMasters/notesMaster1.xml" Id="Rce169cbac5674dc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1a77ce7017d4213" /><Relationship Type="http://schemas.openxmlformats.org/officeDocument/2006/relationships/notesMaster" Target="/ppt/notesMasters/notesMaster1.xml" Id="Re503b3ae93df45f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12b7eebfa564c3b" /><Relationship Type="http://schemas.openxmlformats.org/officeDocument/2006/relationships/notesMaster" Target="/ppt/notesMasters/notesMaster1.xml" Id="R7bf26b7f2c084eb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b865158074f4b1a" /><Relationship Type="http://schemas.openxmlformats.org/officeDocument/2006/relationships/notesMaster" Target="/ppt/notesMasters/notesMaster1.xml" Id="R7f2f904b98e1441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f5b7c6230814c32" /><Relationship Type="http://schemas.openxmlformats.org/officeDocument/2006/relationships/notesMaster" Target="/ppt/notesMasters/notesMaster1.xml" Id="Rcf98ba790286475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aef5aa8867d4bb5" /><Relationship Type="http://schemas.openxmlformats.org/officeDocument/2006/relationships/notesMaster" Target="/ppt/notesMasters/notesMaster1.xml" Id="R0390b075c4b84ed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a0f5e03ecea455e" /><Relationship Type="http://schemas.openxmlformats.org/officeDocument/2006/relationships/notesMaster" Target="/ppt/notesMasters/notesMaster1.xml" Id="Rd95d33eaa301471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a286f91dff741ea" /><Relationship Type="http://schemas.openxmlformats.org/officeDocument/2006/relationships/notesMaster" Target="/ppt/notesMasters/notesMaster1.xml" Id="R2f0a382dc9da43a5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5e3308d579d14b04" /><Relationship Type="http://schemas.openxmlformats.org/officeDocument/2006/relationships/notesMaster" Target="/ppt/notesMasters/notesMaster1.xml" Id="R4ed9599bb7e240f6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a62acdda0df7469f" /><Relationship Type="http://schemas.openxmlformats.org/officeDocument/2006/relationships/notesMaster" Target="/ppt/notesMasters/notesMaster1.xml" Id="R40f600c87d2f4de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从教材印刷页160—162进入《条形图与扇形图》。说明本课在第12章 数据的收集、整理与描述中的位置。</a:t>
            </a: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[Sources]</a:t>
            </a: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- 人教版《义务教育教科书·数学七年级下册》，印刷页160—162。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请学生默读目标，圈出“说出、说明、解决、检验”等可观察动词；课末按同一目标自评。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先让学生读图、读表或读题，不提前给结论。追问：对象是什么，条件是什么，要解决什么？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组织Q1独立作答。旧知只回顾本课真正需要的部分，出现条件缺失时用反例纠正。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布置Q2、Q3。教师巡视时只问现象、猜想和证据，给学生保留形成结论的过程。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形成第一个核心概念：条形图。要求学生标出对象、条件、表示和作用。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形成第二个核心概念或方法：扇形图。与前一概念对比，避免相近知识混淆。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把探究记录整理为完整的条件—方法—结论链，强调结论来自证据而不是直觉。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逐条辨析易错点。要求学生说出错误发生在哪个条件、步骤或使用方向。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呈现Q4，保留独立思考时间。题型对应教材印刷页160—162的例题或典型任务。</a:t>
            </a: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[Sources]</a:t>
            </a: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- 人教版《义务教育教科书·数学七年级下册》，印刷页160—162。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按审条件—选方法—规范表达—检验的顺序讲评Q4，评分时过程与依据同样计分。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完成Q5、Q6。Q5用于基础辨析，Q6要求改变条件后仍能解释方法为何适用。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展示一份变式答案，依据评价标准互评；重点检查是否照抄原结果。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Q7、Q8独立完成，不在本页呈现答案。教师记录共性错误，作为下节课反馈依据。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回扣学习目标，布置基础、提升和自拟任务；请学生填写学案自评并写一条仍需帮助的问题。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6e58713456f4c0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934da6c64aa4dd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6becd77280f4e2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15a3db74a664b9e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10aa9bc36e74e4e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15b5df26f094a4e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7efc02d41c14270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fdb203054a346e9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62252b505a54a6e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e575b2a16ce41dd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4fb359a1df0497a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44b321accd734563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181e3c12e7654234" /></Relationships>
</file>

<file path=ppt/slideLayouts/slideLayout1.xml><?xml version="1.0" encoding="utf-8"?>
<p:sldLayout xmlns:p="http://schemas.openxmlformats.org/presentationml/2006/main" matchingName="标题幻灯片" type="title">
  <p:cSld name="TIT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hape 30">
            <a:extLst xmlns:a="http://schemas.openxmlformats.org/drawingml/2006/main">
              <a:ext uri="{FF2B5EF4-FFF2-40B4-BE49-F238E27FC236}">
                <a16:creationId xmlns:a16="http://schemas.microsoft.com/office/drawing/2014/main" id="{81C558D3-089F-4C67-BC4D-83245CA7F867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143000" y="841772"/>
            <a:ext cx="685800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13" name="Shape 31">
            <a:extLst xmlns:a="http://schemas.openxmlformats.org/drawingml/2006/main">
              <a:ext uri="{FF2B5EF4-FFF2-40B4-BE49-F238E27FC236}">
                <a16:creationId xmlns:a16="http://schemas.microsoft.com/office/drawing/2014/main" id="{2FC5423C-F1D6-4FB3-ACFF-138CD859F36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143000" y="2701528"/>
            <a:ext cx="6858000" cy="12418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 xmlns:a="http://schemas.openxmlformats.org/drawingml/2006/main"/>
        </p:txBody>
      </p:sp>
      <p:sp>
        <p:nvSpPr>
          <p:cNvPr id="14" name="Shape 32">
            <a:extLst xmlns:a="http://schemas.openxmlformats.org/drawingml/2006/main">
              <a:ext uri="{FF2B5EF4-FFF2-40B4-BE49-F238E27FC236}">
                <a16:creationId xmlns:a16="http://schemas.microsoft.com/office/drawing/2014/main" id="{76B33730-797A-4776-90B9-6A151FA98AB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15" name="Shape 33">
            <a:extLst xmlns:a="http://schemas.openxmlformats.org/drawingml/2006/main">
              <a:ext uri="{FF2B5EF4-FFF2-40B4-BE49-F238E27FC236}">
                <a16:creationId xmlns:a16="http://schemas.microsoft.com/office/drawing/2014/main" id="{F24C44C0-5BF6-4705-ADDE-8B38C975121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16" name="Shape 34">
            <a:extLst xmlns:a="http://schemas.openxmlformats.org/drawingml/2006/main">
              <a:ext uri="{FF2B5EF4-FFF2-40B4-BE49-F238E27FC236}">
                <a16:creationId xmlns:a16="http://schemas.microsoft.com/office/drawing/2014/main" id="{AB060FA6-2CB7-45F7-AF4D-B82687E6FDB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2.xml><?xml version="1.0" encoding="utf-8"?>
<p:sldLayout xmlns:p="http://schemas.openxmlformats.org/presentationml/2006/main" matchingName="标题和内容" type="obj">
  <p:cSld name="OBJEC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Shape 54">
            <a:extLst xmlns:a="http://schemas.openxmlformats.org/drawingml/2006/main">
              <a:ext uri="{FF2B5EF4-FFF2-40B4-BE49-F238E27FC236}">
                <a16:creationId xmlns:a16="http://schemas.microsoft.com/office/drawing/2014/main" id="{773FCBA7-63BE-47A1-845F-68F5204E85E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19" name="Shape 55">
            <a:extLst xmlns:a="http://schemas.openxmlformats.org/drawingml/2006/main">
              <a:ext uri="{FF2B5EF4-FFF2-40B4-BE49-F238E27FC236}">
                <a16:creationId xmlns:a16="http://schemas.microsoft.com/office/drawing/2014/main" id="{B934C16F-A719-4358-9B9E-8FFA2BFE42F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8650" y="1369219"/>
            <a:ext cx="7886700" cy="3263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20" name="Shape 56">
            <a:extLst xmlns:a="http://schemas.openxmlformats.org/drawingml/2006/main">
              <a:ext uri="{FF2B5EF4-FFF2-40B4-BE49-F238E27FC236}">
                <a16:creationId xmlns:a16="http://schemas.microsoft.com/office/drawing/2014/main" id="{48DAF2FE-6FF4-4231-BD01-663C3C4BBA5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21" name="Shape 57">
            <a:extLst xmlns:a="http://schemas.openxmlformats.org/drawingml/2006/main">
              <a:ext uri="{FF2B5EF4-FFF2-40B4-BE49-F238E27FC236}">
                <a16:creationId xmlns:a16="http://schemas.microsoft.com/office/drawing/2014/main" id="{5D87FF35-31AA-489B-A20D-09A919F3717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22" name="Shape 58">
            <a:extLst xmlns:a="http://schemas.openxmlformats.org/drawingml/2006/main">
              <a:ext uri="{FF2B5EF4-FFF2-40B4-BE49-F238E27FC236}">
                <a16:creationId xmlns:a16="http://schemas.microsoft.com/office/drawing/2014/main" id="{A79BBCA7-91A0-4B46-A232-038E1FBDEF9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3.xml><?xml version="1.0" encoding="utf-8"?>
<p:sldLayout xmlns:p="http://schemas.openxmlformats.org/presentationml/2006/main" matchingName="节标题" type="secHead">
  <p:cSld name="SECTION_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Shape 59">
            <a:extLst xmlns:a="http://schemas.openxmlformats.org/drawingml/2006/main">
              <a:ext uri="{FF2B5EF4-FFF2-40B4-BE49-F238E27FC236}">
                <a16:creationId xmlns:a16="http://schemas.microsoft.com/office/drawing/2014/main" id="{008BFF75-9404-495F-8F1D-F6FE81DE16C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3888" y="1282304"/>
            <a:ext cx="7886700" cy="21395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25" name="Shape 60">
            <a:extLst xmlns:a="http://schemas.openxmlformats.org/drawingml/2006/main">
              <a:ext uri="{FF2B5EF4-FFF2-40B4-BE49-F238E27FC236}">
                <a16:creationId xmlns:a16="http://schemas.microsoft.com/office/drawing/2014/main" id="{C7383DE6-9C1C-48CD-9192-7012A980F9F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3888" y="3442097"/>
            <a:ext cx="7886700" cy="11251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26" name="Shape 61">
            <a:extLst xmlns:a="http://schemas.openxmlformats.org/drawingml/2006/main">
              <a:ext uri="{FF2B5EF4-FFF2-40B4-BE49-F238E27FC236}">
                <a16:creationId xmlns:a16="http://schemas.microsoft.com/office/drawing/2014/main" id="{E19F9005-60C3-4F3E-A51E-921CF621365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27" name="Shape 62">
            <a:extLst xmlns:a="http://schemas.openxmlformats.org/drawingml/2006/main">
              <a:ext uri="{FF2B5EF4-FFF2-40B4-BE49-F238E27FC236}">
                <a16:creationId xmlns:a16="http://schemas.microsoft.com/office/drawing/2014/main" id="{6603DA38-B620-4779-8031-AD7FDCF81AC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28" name="Shape 63">
            <a:extLst xmlns:a="http://schemas.openxmlformats.org/drawingml/2006/main">
              <a:ext uri="{FF2B5EF4-FFF2-40B4-BE49-F238E27FC236}">
                <a16:creationId xmlns:a16="http://schemas.microsoft.com/office/drawing/2014/main" id="{20E8057C-F4B8-4771-A75A-267A8C31613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4.xml><?xml version="1.0" encoding="utf-8"?>
<p:sldLayout xmlns:p="http://schemas.openxmlformats.org/presentationml/2006/main" matchingName="两栏内容" type="twoObj">
  <p:cSld name="TWO_OBJECT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Shape 9">
            <a:extLst xmlns:a="http://schemas.openxmlformats.org/drawingml/2006/main">
              <a:ext uri="{FF2B5EF4-FFF2-40B4-BE49-F238E27FC236}">
                <a16:creationId xmlns:a16="http://schemas.microsoft.com/office/drawing/2014/main" id="{0586E73B-DF8D-44F0-AA98-A5251FFE857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31" name="Shape 10">
            <a:extLst xmlns:a="http://schemas.openxmlformats.org/drawingml/2006/main">
              <a:ext uri="{FF2B5EF4-FFF2-40B4-BE49-F238E27FC236}">
                <a16:creationId xmlns:a16="http://schemas.microsoft.com/office/drawing/2014/main" id="{6840B7D1-E1E0-426D-869F-F69122C75B2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8650" y="1369219"/>
            <a:ext cx="3886200" cy="3263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32" name="Shape 11">
            <a:extLst xmlns:a="http://schemas.openxmlformats.org/drawingml/2006/main">
              <a:ext uri="{FF2B5EF4-FFF2-40B4-BE49-F238E27FC236}">
                <a16:creationId xmlns:a16="http://schemas.microsoft.com/office/drawing/2014/main" id="{0A6FCEB4-5ECD-4129-9330-216F1B279B3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629150" y="1369219"/>
            <a:ext cx="3886200" cy="3263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33" name="Shape 12">
            <a:extLst xmlns:a="http://schemas.openxmlformats.org/drawingml/2006/main">
              <a:ext uri="{FF2B5EF4-FFF2-40B4-BE49-F238E27FC236}">
                <a16:creationId xmlns:a16="http://schemas.microsoft.com/office/drawing/2014/main" id="{495E0562-DBAB-4D85-8168-1CCB0D86D6E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34" name="Shape 13">
            <a:extLst xmlns:a="http://schemas.openxmlformats.org/drawingml/2006/main">
              <a:ext uri="{FF2B5EF4-FFF2-40B4-BE49-F238E27FC236}">
                <a16:creationId xmlns:a16="http://schemas.microsoft.com/office/drawing/2014/main" id="{DD9BE91A-E2DD-4BF1-9874-E1355ED08F4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35" name="Shape 14">
            <a:extLst xmlns:a="http://schemas.openxmlformats.org/drawingml/2006/main">
              <a:ext uri="{FF2B5EF4-FFF2-40B4-BE49-F238E27FC236}">
                <a16:creationId xmlns:a16="http://schemas.microsoft.com/office/drawing/2014/main" id="{BE454B15-4E7F-43D5-A4F7-1762D06737B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5.xml><?xml version="1.0" encoding="utf-8"?>
<p:sldLayout xmlns:p="http://schemas.openxmlformats.org/presentationml/2006/main" matchingName="比较" type="twoTxTwoObj">
  <p:cSld name="TWO_OBJECTS_WITH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Shape 35">
            <a:extLst xmlns:a="http://schemas.openxmlformats.org/drawingml/2006/main">
              <a:ext uri="{FF2B5EF4-FFF2-40B4-BE49-F238E27FC236}">
                <a16:creationId xmlns:a16="http://schemas.microsoft.com/office/drawing/2014/main" id="{1775F871-F742-4728-99E8-30F0848A87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9841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38" name="Shape 36">
            <a:extLst xmlns:a="http://schemas.openxmlformats.org/drawingml/2006/main">
              <a:ext uri="{FF2B5EF4-FFF2-40B4-BE49-F238E27FC236}">
                <a16:creationId xmlns:a16="http://schemas.microsoft.com/office/drawing/2014/main" id="{571F7621-952E-4D85-A163-75319DC9535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9841" y="1260872"/>
            <a:ext cx="3868340" cy="6179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 xmlns:a="http://schemas.openxmlformats.org/drawingml/2006/main"/>
        </p:txBody>
      </p:sp>
      <p:sp>
        <p:nvSpPr>
          <p:cNvPr id="39" name="Shape 37">
            <a:extLst xmlns:a="http://schemas.openxmlformats.org/drawingml/2006/main">
              <a:ext uri="{FF2B5EF4-FFF2-40B4-BE49-F238E27FC236}">
                <a16:creationId xmlns:a16="http://schemas.microsoft.com/office/drawing/2014/main" id="{0630E83E-4235-42F8-B867-1BC303BCCC2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29841" y="1878806"/>
            <a:ext cx="3868340" cy="27634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40" name="Shape 38">
            <a:extLst xmlns:a="http://schemas.openxmlformats.org/drawingml/2006/main">
              <a:ext uri="{FF2B5EF4-FFF2-40B4-BE49-F238E27FC236}">
                <a16:creationId xmlns:a16="http://schemas.microsoft.com/office/drawing/2014/main" id="{C1D051A9-CD54-448B-8139-2EFF19C23C99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29150" y="1260872"/>
            <a:ext cx="3887391" cy="6179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 xmlns:a="http://schemas.openxmlformats.org/drawingml/2006/main"/>
        </p:txBody>
      </p:sp>
      <p:sp>
        <p:nvSpPr>
          <p:cNvPr id="41" name="Shape 39">
            <a:extLst xmlns:a="http://schemas.openxmlformats.org/drawingml/2006/main">
              <a:ext uri="{FF2B5EF4-FFF2-40B4-BE49-F238E27FC236}">
                <a16:creationId xmlns:a16="http://schemas.microsoft.com/office/drawing/2014/main" id="{C0194990-4325-4361-B3DF-A7B9B824B75B}"/>
              </a:ext>
            </a:extLst>
          </p:cNvPr>
          <p:cNvSpPr>
            <a:spLocks xmlns:a="http://schemas.openxmlformats.org/drawingml/2006/main" noGrp="1"/>
          </p:cNvSpPr>
          <p:nvPr>
            <p:ph type="body" idx="4"/>
          </p:nvPr>
        </p:nvSpPr>
        <p:spPr>
          <a:xfrm xmlns:a="http://schemas.openxmlformats.org/drawingml/2006/main">
            <a:off x="4629150" y="1878806"/>
            <a:ext cx="3887391" cy="27634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42" name="Shape 40">
            <a:extLst xmlns:a="http://schemas.openxmlformats.org/drawingml/2006/main">
              <a:ext uri="{FF2B5EF4-FFF2-40B4-BE49-F238E27FC236}">
                <a16:creationId xmlns:a16="http://schemas.microsoft.com/office/drawing/2014/main" id="{F5C01F63-66A3-4D8F-952D-A9B7567DCA0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43" name="Shape 41">
            <a:extLst xmlns:a="http://schemas.openxmlformats.org/drawingml/2006/main">
              <a:ext uri="{FF2B5EF4-FFF2-40B4-BE49-F238E27FC236}">
                <a16:creationId xmlns:a16="http://schemas.microsoft.com/office/drawing/2014/main" id="{EBA4A3B3-D6DC-442F-ACCF-36428D630A5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44" name="Shape 42">
            <a:extLst xmlns:a="http://schemas.openxmlformats.org/drawingml/2006/main">
              <a:ext uri="{FF2B5EF4-FFF2-40B4-BE49-F238E27FC236}">
                <a16:creationId xmlns:a16="http://schemas.microsoft.com/office/drawing/2014/main" id="{29F271FA-3699-4374-A6F9-7E4F0812F56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6.xml><?xml version="1.0" encoding="utf-8"?>
<p:sldLayout xmlns:p="http://schemas.openxmlformats.org/presentationml/2006/main" matchingName="仅标题" type="titleOnly">
  <p:cSld name="TITLE_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Shape 20">
            <a:extLst xmlns:a="http://schemas.openxmlformats.org/drawingml/2006/main">
              <a:ext uri="{FF2B5EF4-FFF2-40B4-BE49-F238E27FC236}">
                <a16:creationId xmlns:a16="http://schemas.microsoft.com/office/drawing/2014/main" id="{7C8D4694-40F1-4495-B0D4-22FD0084975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47" name="Shape 21">
            <a:extLst xmlns:a="http://schemas.openxmlformats.org/drawingml/2006/main">
              <a:ext uri="{FF2B5EF4-FFF2-40B4-BE49-F238E27FC236}">
                <a16:creationId xmlns:a16="http://schemas.microsoft.com/office/drawing/2014/main" id="{76807FC3-A4D2-412A-AD46-124E4111BBB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48" name="Shape 22">
            <a:extLst xmlns:a="http://schemas.openxmlformats.org/drawingml/2006/main">
              <a:ext uri="{FF2B5EF4-FFF2-40B4-BE49-F238E27FC236}">
                <a16:creationId xmlns:a16="http://schemas.microsoft.com/office/drawing/2014/main" id="{5EC5AB90-AB3D-4352-A8C6-027DADB80A4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49" name="Shape 23">
            <a:extLst xmlns:a="http://schemas.openxmlformats.org/drawingml/2006/main">
              <a:ext uri="{FF2B5EF4-FFF2-40B4-BE49-F238E27FC236}">
                <a16:creationId xmlns:a16="http://schemas.microsoft.com/office/drawing/2014/main" id="{2A46E61D-21E8-401F-B07E-7F59D2215D6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7.xml><?xml version="1.0" encoding="utf-8"?>
<p:sldLayout xmlns:p="http://schemas.openxmlformats.org/presentationml/2006/main" matchingName="空白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Shape 6">
            <a:extLst xmlns:a="http://schemas.openxmlformats.org/drawingml/2006/main">
              <a:ext uri="{FF2B5EF4-FFF2-40B4-BE49-F238E27FC236}">
                <a16:creationId xmlns:a16="http://schemas.microsoft.com/office/drawing/2014/main" id="{88731147-58ED-49A0-AF62-503DBF4A446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52" name="Shape 7">
            <a:extLst xmlns:a="http://schemas.openxmlformats.org/drawingml/2006/main">
              <a:ext uri="{FF2B5EF4-FFF2-40B4-BE49-F238E27FC236}">
                <a16:creationId xmlns:a16="http://schemas.microsoft.com/office/drawing/2014/main" id="{88BB1B7F-E414-4351-9E2B-1F36EA1C935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53" name="Shape 8">
            <a:extLst xmlns:a="http://schemas.openxmlformats.org/drawingml/2006/main">
              <a:ext uri="{FF2B5EF4-FFF2-40B4-BE49-F238E27FC236}">
                <a16:creationId xmlns:a16="http://schemas.microsoft.com/office/drawing/2014/main" id="{C049B8E4-D95C-4D02-9D2A-9C534F8DECC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8.xml><?xml version="1.0" encoding="utf-8"?>
<p:sldLayout xmlns:p="http://schemas.openxmlformats.org/presentationml/2006/main" matchingName="内容与标题" type="objTx">
  <p:cSld name="OBJECT_WITH_CAPTION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5" name="Shape 43">
            <a:extLst xmlns:a="http://schemas.openxmlformats.org/drawingml/2006/main">
              <a:ext uri="{FF2B5EF4-FFF2-40B4-BE49-F238E27FC236}">
                <a16:creationId xmlns:a16="http://schemas.microsoft.com/office/drawing/2014/main" id="{7981AEC1-A09C-43C1-9E30-56E7BFB6F02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9841" y="342900"/>
            <a:ext cx="2949178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56" name="Shape 44">
            <a:extLst xmlns:a="http://schemas.openxmlformats.org/drawingml/2006/main">
              <a:ext uri="{FF2B5EF4-FFF2-40B4-BE49-F238E27FC236}">
                <a16:creationId xmlns:a16="http://schemas.microsoft.com/office/drawing/2014/main" id="{A3517535-511E-43DD-9649-5126EF53162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887391" y="740569"/>
            <a:ext cx="4629150" cy="36552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 xmlns:a="http://schemas.openxmlformats.org/drawingml/2006/main"/>
        </p:txBody>
      </p:sp>
      <p:sp>
        <p:nvSpPr>
          <p:cNvPr id="57" name="Shape 45">
            <a:extLst xmlns:a="http://schemas.openxmlformats.org/drawingml/2006/main">
              <a:ext uri="{FF2B5EF4-FFF2-40B4-BE49-F238E27FC236}">
                <a16:creationId xmlns:a16="http://schemas.microsoft.com/office/drawing/2014/main" id="{CE5CCEF6-0694-41AB-9169-0081D48D987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29841" y="1543050"/>
            <a:ext cx="2949178" cy="28586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 xmlns:a="http://schemas.openxmlformats.org/drawingml/2006/main"/>
        </p:txBody>
      </p:sp>
      <p:sp>
        <p:nvSpPr>
          <p:cNvPr id="58" name="Shape 46">
            <a:extLst xmlns:a="http://schemas.openxmlformats.org/drawingml/2006/main">
              <a:ext uri="{FF2B5EF4-FFF2-40B4-BE49-F238E27FC236}">
                <a16:creationId xmlns:a16="http://schemas.microsoft.com/office/drawing/2014/main" id="{BB9122C8-FCE1-4C1C-8121-19BFEE120A1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59" name="Shape 47">
            <a:extLst xmlns:a="http://schemas.openxmlformats.org/drawingml/2006/main">
              <a:ext uri="{FF2B5EF4-FFF2-40B4-BE49-F238E27FC236}">
                <a16:creationId xmlns:a16="http://schemas.microsoft.com/office/drawing/2014/main" id="{296794B6-81AC-4303-977B-7269E4F2F35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60" name="Shape 48">
            <a:extLst xmlns:a="http://schemas.openxmlformats.org/drawingml/2006/main">
              <a:ext uri="{FF2B5EF4-FFF2-40B4-BE49-F238E27FC236}">
                <a16:creationId xmlns:a16="http://schemas.microsoft.com/office/drawing/2014/main" id="{5A4DAB6B-412D-45B3-9202-BED9F75BB18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9.xml><?xml version="1.0" encoding="utf-8"?>
<p:sldLayout xmlns:p="http://schemas.openxmlformats.org/presentationml/2006/main" matchingName="图片与标题" type="picTx">
  <p:cSld name="PICTURE_WITH_CAPTION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2" name="Shape 24">
            <a:extLst xmlns:a="http://schemas.openxmlformats.org/drawingml/2006/main">
              <a:ext uri="{FF2B5EF4-FFF2-40B4-BE49-F238E27FC236}">
                <a16:creationId xmlns:a16="http://schemas.microsoft.com/office/drawing/2014/main" id="{4D4980F6-F398-44B5-992C-E6C6EB286C1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9841" y="342900"/>
            <a:ext cx="2949178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63" name="Shape 25">
            <a:extLst xmlns:a="http://schemas.openxmlformats.org/drawingml/2006/main">
              <a:ext uri="{FF2B5EF4-FFF2-40B4-BE49-F238E27FC236}">
                <a16:creationId xmlns:a16="http://schemas.microsoft.com/office/drawing/2014/main" id="{93C32912-05D6-4C71-AFD0-FB2ADE3ACCEA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3887391" y="740569"/>
            <a:ext cx="4629150" cy="36552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64" name="Shape 26">
            <a:extLst xmlns:a="http://schemas.openxmlformats.org/drawingml/2006/main">
              <a:ext uri="{FF2B5EF4-FFF2-40B4-BE49-F238E27FC236}">
                <a16:creationId xmlns:a16="http://schemas.microsoft.com/office/drawing/2014/main" id="{A242D9ED-3EAF-4AE7-8169-5A0ADE41019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9841" y="1543050"/>
            <a:ext cx="2949178" cy="28586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 xmlns:a="http://schemas.openxmlformats.org/drawingml/2006/main"/>
        </p:txBody>
      </p:sp>
      <p:sp>
        <p:nvSpPr>
          <p:cNvPr id="65" name="Shape 27">
            <a:extLst xmlns:a="http://schemas.openxmlformats.org/drawingml/2006/main">
              <a:ext uri="{FF2B5EF4-FFF2-40B4-BE49-F238E27FC236}">
                <a16:creationId xmlns:a16="http://schemas.microsoft.com/office/drawing/2014/main" id="{C66DD68B-8397-4B49-A7C5-FDA5C38FEA5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66" name="Shape 28">
            <a:extLst xmlns:a="http://schemas.openxmlformats.org/drawingml/2006/main">
              <a:ext uri="{FF2B5EF4-FFF2-40B4-BE49-F238E27FC236}">
                <a16:creationId xmlns:a16="http://schemas.microsoft.com/office/drawing/2014/main" id="{3AF11104-4646-4D0C-B302-641707939CE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67" name="Shape 29">
            <a:extLst xmlns:a="http://schemas.openxmlformats.org/drawingml/2006/main">
              <a:ext uri="{FF2B5EF4-FFF2-40B4-BE49-F238E27FC236}">
                <a16:creationId xmlns:a16="http://schemas.microsoft.com/office/drawing/2014/main" id="{67B97825-AEEE-4A8E-A770-5C0290BBBA0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10.xml><?xml version="1.0" encoding="utf-8"?>
<p:sldLayout xmlns:p="http://schemas.openxmlformats.org/presentationml/2006/main" matchingName="标题和竖排文字" type="vertTx">
  <p:cSld name="VERTICAL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9" name="Shape 49">
            <a:extLst xmlns:a="http://schemas.openxmlformats.org/drawingml/2006/main">
              <a:ext uri="{FF2B5EF4-FFF2-40B4-BE49-F238E27FC236}">
                <a16:creationId xmlns:a16="http://schemas.microsoft.com/office/drawing/2014/main" id="{3B196173-78E1-4386-851B-DE0403C60A0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0" name="Shape 50">
            <a:extLst xmlns:a="http://schemas.openxmlformats.org/drawingml/2006/main">
              <a:ext uri="{FF2B5EF4-FFF2-40B4-BE49-F238E27FC236}">
                <a16:creationId xmlns:a16="http://schemas.microsoft.com/office/drawing/2014/main" id="{8A88F7C5-0C00-4326-B3FF-F455A2D838B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 rot="5400000">
            <a:off x="2940248" y="-942379"/>
            <a:ext cx="3263504" cy="788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71" name="Shape 51">
            <a:extLst xmlns:a="http://schemas.openxmlformats.org/drawingml/2006/main">
              <a:ext uri="{FF2B5EF4-FFF2-40B4-BE49-F238E27FC236}">
                <a16:creationId xmlns:a16="http://schemas.microsoft.com/office/drawing/2014/main" id="{C22A8F7B-7858-44F6-9F1E-D2DEAC7A467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2" name="Shape 52">
            <a:extLst xmlns:a="http://schemas.openxmlformats.org/drawingml/2006/main">
              <a:ext uri="{FF2B5EF4-FFF2-40B4-BE49-F238E27FC236}">
                <a16:creationId xmlns:a16="http://schemas.microsoft.com/office/drawing/2014/main" id="{916C9623-8B86-4E26-8024-EE8CBA92D1F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3" name="Shape 53">
            <a:extLst xmlns:a="http://schemas.openxmlformats.org/drawingml/2006/main">
              <a:ext uri="{FF2B5EF4-FFF2-40B4-BE49-F238E27FC236}">
                <a16:creationId xmlns:a16="http://schemas.microsoft.com/office/drawing/2014/main" id="{1D34C76F-2DAF-4A0C-9F87-FAB8D15A199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11.xml><?xml version="1.0" encoding="utf-8"?>
<p:sldLayout xmlns:p="http://schemas.openxmlformats.org/presentationml/2006/main" matchingName="竖排标题与文本" type="vertTitleAndTx">
  <p:cSld name="VERTICAL_TITLE_AND_VERTICAL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5" name="Shape 15">
            <a:extLst xmlns:a="http://schemas.openxmlformats.org/drawingml/2006/main">
              <a:ext uri="{FF2B5EF4-FFF2-40B4-BE49-F238E27FC236}">
                <a16:creationId xmlns:a16="http://schemas.microsoft.com/office/drawing/2014/main" id="{A4BE78CF-2F89-4F43-BAD7-06A807E0644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 rot="5400000">
            <a:off x="5350073" y="1467445"/>
            <a:ext cx="4358879" cy="1971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6" name="Shape 16">
            <a:extLst xmlns:a="http://schemas.openxmlformats.org/drawingml/2006/main">
              <a:ext uri="{FF2B5EF4-FFF2-40B4-BE49-F238E27FC236}">
                <a16:creationId xmlns:a16="http://schemas.microsoft.com/office/drawing/2014/main" id="{432C7FCB-8755-430C-9DC9-7F6F8A5BF6F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 rot="5400000">
            <a:off x="1349573" y="-447080"/>
            <a:ext cx="4358879" cy="5800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77" name="Shape 17">
            <a:extLst xmlns:a="http://schemas.openxmlformats.org/drawingml/2006/main">
              <a:ext uri="{FF2B5EF4-FFF2-40B4-BE49-F238E27FC236}">
                <a16:creationId xmlns:a16="http://schemas.microsoft.com/office/drawing/2014/main" id="{CE20FF06-1C41-4406-B397-D561A2AAE2F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8" name="Shape 18">
            <a:extLst xmlns:a="http://schemas.openxmlformats.org/drawingml/2006/main">
              <a:ext uri="{FF2B5EF4-FFF2-40B4-BE49-F238E27FC236}">
                <a16:creationId xmlns:a16="http://schemas.microsoft.com/office/drawing/2014/main" id="{BCD8D827-CDBC-4D70-82E1-223943514F5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9" name="Shape 19">
            <a:extLst xmlns:a="http://schemas.openxmlformats.org/drawingml/2006/main">
              <a:ext uri="{FF2B5EF4-FFF2-40B4-BE49-F238E27FC236}">
                <a16:creationId xmlns:a16="http://schemas.microsoft.com/office/drawing/2014/main" id="{9FE0AD20-8B2C-4468-916F-730326919FF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12.xml><?xml version="1.0" encoding="utf-8"?>
<p:sldLayout xmlns:p="http://schemas.openxmlformats.org/presentationml/2006/main" type="title" preserve="1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3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29a3172568b4700" /><Relationship Type="http://schemas.openxmlformats.org/officeDocument/2006/relationships/slideLayout" Target="/ppt/slideLayouts/slideLayout1.xml" Id="R44db9f14da61424f" /><Relationship Type="http://schemas.openxmlformats.org/officeDocument/2006/relationships/slideLayout" Target="/ppt/slideLayouts/slideLayout2.xml" Id="R26be1b19114140c5" /><Relationship Type="http://schemas.openxmlformats.org/officeDocument/2006/relationships/slideLayout" Target="/ppt/slideLayouts/slideLayout3.xml" Id="Ra647b7e07f1c411f" /><Relationship Type="http://schemas.openxmlformats.org/officeDocument/2006/relationships/slideLayout" Target="/ppt/slideLayouts/slideLayout4.xml" Id="Rffe0b7db5a7247d1" /><Relationship Type="http://schemas.openxmlformats.org/officeDocument/2006/relationships/slideLayout" Target="/ppt/slideLayouts/slideLayout5.xml" Id="R9bb0069815844fc6" /><Relationship Type="http://schemas.openxmlformats.org/officeDocument/2006/relationships/slideLayout" Target="/ppt/slideLayouts/slideLayout6.xml" Id="R062f819a4f81485e" /><Relationship Type="http://schemas.openxmlformats.org/officeDocument/2006/relationships/slideLayout" Target="/ppt/slideLayouts/slideLayout7.xml" Id="R704c59681eb84b5c" /><Relationship Type="http://schemas.openxmlformats.org/officeDocument/2006/relationships/slideLayout" Target="/ppt/slideLayouts/slideLayout8.xml" Id="R02066f97b0e148c5" /><Relationship Type="http://schemas.openxmlformats.org/officeDocument/2006/relationships/slideLayout" Target="/ppt/slideLayouts/slideLayout9.xml" Id="R17af25bd8e024bb0" /><Relationship Type="http://schemas.openxmlformats.org/officeDocument/2006/relationships/slideLayout" Target="/ppt/slideLayouts/slideLayout10.xml" Id="R72246fb88eae49f0" /><Relationship Type="http://schemas.openxmlformats.org/officeDocument/2006/relationships/slideLayout" Target="/ppt/slideLayouts/slideLayout11.xml" Id="R6ce6638ed4f841dd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fc256c929a16406f" /><Relationship Type="http://schemas.openxmlformats.org/officeDocument/2006/relationships/slideLayout" Target="/ppt/slideLayouts/slideLayout12.xml" Id="R1a15f128f12a49fc" /><Relationship Type="http://schemas.openxmlformats.org/officeDocument/2006/relationships/slideLayout" Target="/ppt/slideLayouts/slideLayout13.xml" Id="R295b70164dd4450c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hape 1">
            <a:extLst xmlns:a="http://schemas.openxmlformats.org/drawingml/2006/main">
              <a:ext uri="{FF2B5EF4-FFF2-40B4-BE49-F238E27FC236}">
                <a16:creationId xmlns:a16="http://schemas.microsoft.com/office/drawing/2014/main" id="{C7C8B2E2-013E-40E1-BA27-71E182FB33F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 xmlns:a="http://schemas.openxmlformats.org/drawingml/2006/main"/>
        </p:txBody>
      </p:sp>
      <p:sp>
        <p:nvSpPr>
          <p:cNvPr id="7" name="Shape 2">
            <a:extLst xmlns:a="http://schemas.openxmlformats.org/drawingml/2006/main">
              <a:ext uri="{FF2B5EF4-FFF2-40B4-BE49-F238E27FC236}">
                <a16:creationId xmlns:a16="http://schemas.microsoft.com/office/drawing/2014/main" id="{61920D55-8B08-4DEC-B9DF-099DFBBE181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8650" y="1369219"/>
            <a:ext cx="7886700" cy="3263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marR="0" indent="-36195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914400" marR="0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L="1371600" marR="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L="18288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L="22860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L="27432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L="32004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L="36576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L="41148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8" name="Shape 3">
            <a:extLst xmlns:a="http://schemas.openxmlformats.org/drawingml/2006/main">
              <a:ext uri="{FF2B5EF4-FFF2-40B4-BE49-F238E27FC236}">
                <a16:creationId xmlns:a16="http://schemas.microsoft.com/office/drawing/2014/main" id="{2172879B-F520-40B5-89EF-B6B070E43EF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1pPr>
            <a:lvl2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9" name="Shape 4">
            <a:extLst xmlns:a="http://schemas.openxmlformats.org/drawingml/2006/main">
              <a:ext uri="{FF2B5EF4-FFF2-40B4-BE49-F238E27FC236}">
                <a16:creationId xmlns:a16="http://schemas.microsoft.com/office/drawing/2014/main" id="{B12DB8F2-F668-42E1-A045-7B09014259F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R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1pPr>
            <a:lvl2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10" name="Shape 5">
            <a:extLst xmlns:a="http://schemas.openxmlformats.org/drawingml/2006/main">
              <a:ext uri="{FF2B5EF4-FFF2-40B4-BE49-F238E27FC236}">
                <a16:creationId xmlns:a16="http://schemas.microsoft.com/office/drawing/2014/main" id="{5704B2E6-4A19-4474-BE49-7AE322FF196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4db9f14da61424f"/>
    <p:sldLayoutId xmlns:r="http://schemas.openxmlformats.org/officeDocument/2006/relationships" id="2147483650" r:id="R26be1b19114140c5"/>
    <p:sldLayoutId xmlns:r="http://schemas.openxmlformats.org/officeDocument/2006/relationships" id="2147483651" r:id="Ra647b7e07f1c411f"/>
    <p:sldLayoutId xmlns:r="http://schemas.openxmlformats.org/officeDocument/2006/relationships" id="2147483652" r:id="Rffe0b7db5a7247d1"/>
    <p:sldLayoutId xmlns:r="http://schemas.openxmlformats.org/officeDocument/2006/relationships" id="2147483653" r:id="R9bb0069815844fc6"/>
    <p:sldLayoutId xmlns:r="http://schemas.openxmlformats.org/officeDocument/2006/relationships" id="2147483654" r:id="R062f819a4f81485e"/>
    <p:sldLayoutId xmlns:r="http://schemas.openxmlformats.org/officeDocument/2006/relationships" id="2147483655" r:id="R704c59681eb84b5c"/>
    <p:sldLayoutId xmlns:r="http://schemas.openxmlformats.org/officeDocument/2006/relationships" id="2147483656" r:id="R02066f97b0e148c5"/>
    <p:sldLayoutId xmlns:r="http://schemas.openxmlformats.org/officeDocument/2006/relationships" id="2147483657" r:id="R17af25bd8e024bb0"/>
    <p:sldLayoutId xmlns:r="http://schemas.openxmlformats.org/officeDocument/2006/relationships" id="2147483658" r:id="R72246fb88eae49f0"/>
    <p:sldLayoutId xmlns:r="http://schemas.openxmlformats.org/officeDocument/2006/relationships" id="2147483659" r:id="R6ce6638ed4f841dd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slideMaster2.xml><?xml version="1.0" encoding="utf-8"?>
<p:sldMaster xmlns:p="http://schemas.openxmlformats.org/presentationml/2006/main">
  <p:cSld name="默认主题">
    <p:bg>
      <p:bgPr>
        <a:solidFill xmlns:a="http://schemas.openxmlformats.org/drawingml/2006/main"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61" r:id="R1a15f128f12a49fc"/>
    <p:sldLayoutId xmlns:r="http://schemas.openxmlformats.org/officeDocument/2006/relationships" id="2147483662" r:id="R295b70164dd4450c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Masters/theme/theme3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4d386715f9e34746" /><Relationship Type="http://schemas.openxmlformats.org/officeDocument/2006/relationships/image" Target="/ppt/media/image.jpeg" Id="Rad31bc3335534cd3" /><Relationship Type="http://schemas.openxmlformats.org/officeDocument/2006/relationships/notesSlide" Target="/ppt/notesSlides/notesSlide1.xml" Id="R73cc49197a4f4b3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30c9e447bc084166" /><Relationship Type="http://schemas.openxmlformats.org/officeDocument/2006/relationships/image" Target="/ppt/media/image2.jpeg" Id="R3e0c024e6c934330" /><Relationship Type="http://schemas.openxmlformats.org/officeDocument/2006/relationships/image" Target="/ppt/media/image.svg" Id="Re9fca969011b4e2f" /><Relationship Type="http://schemas.openxmlformats.org/officeDocument/2006/relationships/image" Target="/ppt/media/image.jpeg" Id="R547215e9d3a84aa7" /><Relationship Type="http://schemas.openxmlformats.org/officeDocument/2006/relationships/image" Target="/ppt/media/image2.svg" Id="R1c28680c718a4eca" /><Relationship Type="http://schemas.openxmlformats.org/officeDocument/2006/relationships/image" Target="/ppt/media/image3.jpeg" Id="Ra24729fe08ad4038" /><Relationship Type="http://schemas.openxmlformats.org/officeDocument/2006/relationships/image" Target="/ppt/media/image3.svg" Id="Rf2db003ec62d4367" /><Relationship Type="http://schemas.openxmlformats.org/officeDocument/2006/relationships/image" Target="/ppt/media/image4.jpeg" Id="Rba8f8717737c417e" /><Relationship Type="http://schemas.openxmlformats.org/officeDocument/2006/relationships/image" Target="/ppt/media/image4.svg" Id="Rb597f3862c794792" /><Relationship Type="http://schemas.openxmlformats.org/officeDocument/2006/relationships/notesSlide" Target="/ppt/notesSlides/notesSlide2.xml" Id="Ra4c2cfee63ed4fc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2750fc22907e49df" /><Relationship Type="http://schemas.openxmlformats.org/officeDocument/2006/relationships/image" Target="/ppt/media/image2.jpeg" Id="R5b307b8b840149d3" /><Relationship Type="http://schemas.openxmlformats.org/officeDocument/2006/relationships/notesSlide" Target="/ppt/notesSlides/notesSlide3.xml" Id="Rabec19be43ab4cb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a0109f87f9e24642" /><Relationship Type="http://schemas.openxmlformats.org/officeDocument/2006/relationships/image" Target="/ppt/media/image2.jpeg" Id="R5d61b7d360d64e79" /><Relationship Type="http://schemas.openxmlformats.org/officeDocument/2006/relationships/notesSlide" Target="/ppt/notesSlides/notesSlide4.xml" Id="R506b4337c9b0495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22fcf846356a407a" /><Relationship Type="http://schemas.openxmlformats.org/officeDocument/2006/relationships/image" Target="/ppt/media/image2.jpeg" Id="R35beeaede64046ca" /><Relationship Type="http://schemas.openxmlformats.org/officeDocument/2006/relationships/notesSlide" Target="/ppt/notesSlides/notesSlide5.xml" Id="R7ca7e93f6969437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6a71a56fbb084f13" /><Relationship Type="http://schemas.openxmlformats.org/officeDocument/2006/relationships/image" Target="/ppt/media/image2.jpeg" Id="R795d3b409a364bd5" /><Relationship Type="http://schemas.openxmlformats.org/officeDocument/2006/relationships/notesSlide" Target="/ppt/notesSlides/notesSlide6.xml" Id="R756ab07283fb490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7658d21899ed4ad3" /><Relationship Type="http://schemas.openxmlformats.org/officeDocument/2006/relationships/image" Target="/ppt/media/image2.jpeg" Id="R691fc09d6633469a" /><Relationship Type="http://schemas.openxmlformats.org/officeDocument/2006/relationships/notesSlide" Target="/ppt/notesSlides/notesSlide7.xml" Id="R8491428218c7426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48f438f9759949ce" /><Relationship Type="http://schemas.openxmlformats.org/officeDocument/2006/relationships/image" Target="/ppt/media/image2.jpeg" Id="R2e33d0aa364b4347" /><Relationship Type="http://schemas.openxmlformats.org/officeDocument/2006/relationships/notesSlide" Target="/ppt/notesSlides/notesSlide8.xml" Id="Rdd2ceb4bab3c454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936561c4a1b045d6" /><Relationship Type="http://schemas.openxmlformats.org/officeDocument/2006/relationships/image" Target="/ppt/media/image2.jpeg" Id="R832d678b324e46b1" /><Relationship Type="http://schemas.openxmlformats.org/officeDocument/2006/relationships/notesSlide" Target="/ppt/notesSlides/notesSlide9.xml" Id="Rae34b38c315f4c1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32814b6eac714a99" /><Relationship Type="http://schemas.openxmlformats.org/officeDocument/2006/relationships/image" Target="/ppt/media/image2.jpeg" Id="R3257e6224e934581" /><Relationship Type="http://schemas.openxmlformats.org/officeDocument/2006/relationships/notesSlide" Target="/ppt/notesSlides/notesSlide10.xml" Id="Rc5469e21f1954b5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ebc77146d3a84e4d" /><Relationship Type="http://schemas.openxmlformats.org/officeDocument/2006/relationships/image" Target="/ppt/media/image2.jpeg" Id="R4559870fe1a44b8f" /><Relationship Type="http://schemas.openxmlformats.org/officeDocument/2006/relationships/notesSlide" Target="/ppt/notesSlides/notesSlide11.xml" Id="R49fb8ebeb5d7459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e32454151cc3412f" /><Relationship Type="http://schemas.openxmlformats.org/officeDocument/2006/relationships/image" Target="/ppt/media/image2.jpeg" Id="Rabac471da7c74700" /><Relationship Type="http://schemas.openxmlformats.org/officeDocument/2006/relationships/notesSlide" Target="/ppt/notesSlides/notesSlide12.xml" Id="R3e60bcfb443c455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e584186b29854b2e" /><Relationship Type="http://schemas.openxmlformats.org/officeDocument/2006/relationships/image" Target="/ppt/media/image2.jpeg" Id="R73dfb4fe8e6a480d" /><Relationship Type="http://schemas.openxmlformats.org/officeDocument/2006/relationships/notesSlide" Target="/ppt/notesSlides/notesSlide13.xml" Id="Rea9069b0b4f540d2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8236762c067f4e71" /><Relationship Type="http://schemas.openxmlformats.org/officeDocument/2006/relationships/image" Target="/ppt/media/image2.jpeg" Id="Rfa7864985174476f" /><Relationship Type="http://schemas.openxmlformats.org/officeDocument/2006/relationships/notesSlide" Target="/ppt/notesSlides/notesSlide14.xml" Id="Rbf6fc5c89ab6439e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9bd4cc45bd5240f2" /><Relationship Type="http://schemas.openxmlformats.org/officeDocument/2006/relationships/image" Target="/ppt/media/image5.jpeg" Id="R953f3d4996ee4c31" /><Relationship Type="http://schemas.openxmlformats.org/officeDocument/2006/relationships/notesSlide" Target="/ppt/notesSlides/notesSlide15.xml" Id="Rf59e0c954865487b" /></Relationships>
</file>

<file path=ppt/slides/slide1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ad31bc3335534cd3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35F6A858-8CB4-4D1E-94EA-AB561E743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cmpd="sng">
            <a:solidFill>
              <a:srgbClr val="E6CFCF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FD5ED2F4-6542-490F-BF04-01CD441F7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2000" y="-254000"/>
            <a:ext cx="1016000" cy="101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>
              <a:alpha val="15000"/>
            </a:srgbClr>
          </a:solidFill>
          <a:ln xmlns:a="http://schemas.openxmlformats.org/drawingml/2006/main" cmpd="sng">
            <a:solidFill>
              <a:srgbClr val="00A06B">
                <a:alpha val="15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C203D89F-E79A-446B-93B6-72BD79DD0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99999">
            <a:off x="10414000" y="508000"/>
            <a:ext cx="508000" cy="5080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0B981">
              <a:alpha val="20000"/>
            </a:srgbClr>
          </a:solidFill>
          <a:ln xmlns:a="http://schemas.openxmlformats.org/drawingml/2006/main" cmpd="sng">
            <a:solidFill>
              <a:srgbClr val="00A06B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FBC18014-3A3F-4581-9B20-A10BE56A2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2286000"/>
            <a:ext cx="10160000" cy="127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48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12.2 条形图与扇形图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3BAB2AED-20D4-406B-9FB0-F387D465B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4064000"/>
            <a:ext cx="1143000" cy="762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0"/>
            </a:srgbClr>
          </a:solidFill>
          <a:ln xmlns:a="http://schemas.openxmlformats.org/drawingml/2006/main" cmpd="sng">
            <a:solidFill>
              <a:srgbClr val="00A06B">
                <a:alpha val="10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CD15C4FA-CAD4-4CF2-B86A-745EECB8C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4445000"/>
            <a:ext cx="10160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800" b="1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第12章 数据的收集、整理与描述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B88CC49F-6AAF-401D-BDE6-5C4E081C7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5334000"/>
            <a:ext cx="10160000" cy="50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0" i="0" u="none">
                <a:solidFill>
                  <a:srgbClr val="334155">
                    <a:alpha val="70196"/>
                  </a:srgbClr>
                </a:solidFill>
                <a:latin typeface="Noto Sans SC"/>
                <a:ea typeface="Noto Sans SC"/>
                <a:cs typeface="Noto Sans SC"/>
              </a:rPr>
              <a:t>七年级数学下册 · 教材印刷页160—162 · 新授课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D96E9492-860B-46C0-8DA9-ED536024A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508000" y="5588000"/>
            <a:ext cx="1524000" cy="1524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>
              <a:alpha val="10000"/>
            </a:srgbClr>
          </a:solidFill>
          <a:ln xmlns:a="http://schemas.openxmlformats.org/drawingml/2006/main" cmpd="sng">
            <a:solidFill>
              <a:srgbClr val="00A06B">
                <a:alpha val="1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385441148"/>
      </p:ext>
    </p:extLst>
  </p:cSld>
</p:sld>
</file>

<file path=ppt/slides/slide2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3e0c024e6c934330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C4E3A031-FBE4-4EEC-B6B2-46F475954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cmpd="sng">
            <a:solidFill>
              <a:srgbClr val="E6CFCF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56AA863E-1555-4770-B596-C8BC6C8FB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88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本节课，我们要解决什么？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CAA2A1F0-6ACA-4BC7-B126-0C45D84E6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52705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6C29112B-6379-4B68-9FC7-0C5C65F4B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762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32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7215e9d3a84aa7">
            <a:extLst>
              <a:ext uri="{96DAC541-7B7A-43D3-8B79-37D633B846F1}">
                <asvg:svgBlip xmlns:asvg="http://schemas.microsoft.com/office/drawing/2016/SVG/main" r:embed="Re9fca969011b4e2f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92200" y="1968500"/>
            <a:ext cx="406400" cy="406400"/>
          </a:xfrm>
          <a:prstGeom xmlns:a="http://schemas.openxmlformats.org/drawingml/2006/main" prst="rect">
            <a:avLst/>
          </a:prstGeom>
        </p:spPr>
      </p:pic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37F4ECC6-B6DC-4158-92C1-67B1470DC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5600" y="1943100"/>
            <a:ext cx="4064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认识对象：提取与表达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C5BE7A89-2EC6-47FB-B6C9-02C554DE6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200" y="2514600"/>
            <a:ext cx="463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通过阅读、观察或操作，准确说出条形图、扇形图、圆心角计算、统计图选择的含义、表示或基本步骤。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B309F7E3-40CE-4144-91F2-A15896391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9500" y="1714500"/>
            <a:ext cx="52705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DC149184-B258-46DC-B3DC-EDE2F508B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9500" y="1714500"/>
            <a:ext cx="762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37" name="Picture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0c024e6c934330">
            <a:extLst>
              <a:ext uri="{96DAC541-7B7A-43D3-8B79-37D633B846F1}">
                <asvg:svgBlip xmlns:asvg="http://schemas.microsoft.com/office/drawing/2016/SVG/main" r:embed="R1c28680c718a4eca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89700" y="1968500"/>
            <a:ext cx="406400" cy="406400"/>
          </a:xfrm>
          <a:prstGeom xmlns:a="http://schemas.openxmlformats.org/drawingml/2006/main" prst="rect">
            <a:avLst/>
          </a:prstGeom>
        </p:spPr>
      </p:pic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1795C4A9-371D-4AAB-AB8C-723024384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100" y="1943100"/>
            <a:ext cx="4064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探究规律：观察与验证</a:t>
            </a: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3F045A72-9BD9-4559-8F06-CC2DB1366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9700" y="2514600"/>
            <a:ext cx="463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在Q2—Q4中运用“根据数据特点选择并绘制统计图”，能用完整语言、式子、图形或图表说明依据。</a:t>
            </a:r>
          </a:p>
        </p:txBody>
      </p:sp>
      <p:sp>
        <p:nvSpPr>
          <p:cNvPr id="14" name="AutoShape 14">
            <a:extLst xmlns:a="http://schemas.openxmlformats.org/drawingml/2006/main">
              <a:ext uri="{FF2B5EF4-FFF2-40B4-BE49-F238E27FC236}">
                <a16:creationId xmlns:a16="http://schemas.microsoft.com/office/drawing/2014/main" id="{672FD612-A196-4735-9ABE-A3472DABD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27500"/>
            <a:ext cx="52705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AutoShape 15">
            <a:extLst xmlns:a="http://schemas.openxmlformats.org/drawingml/2006/main">
              <a:ext uri="{FF2B5EF4-FFF2-40B4-BE49-F238E27FC236}">
                <a16:creationId xmlns:a16="http://schemas.microsoft.com/office/drawing/2014/main" id="{A7E93C21-B853-4EC4-94D8-2EEFC575E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27500"/>
            <a:ext cx="762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42" name="Picture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4729fe08ad4038">
            <a:extLst>
              <a:ext uri="{96DAC541-7B7A-43D3-8B79-37D633B846F1}">
                <asvg:svgBlip xmlns:asvg="http://schemas.microsoft.com/office/drawing/2016/SVG/main" r:embed="Rf2db003ec62d4367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92200" y="4381500"/>
            <a:ext cx="406400" cy="406400"/>
          </a:xfrm>
          <a:prstGeom xmlns:a="http://schemas.openxmlformats.org/drawingml/2006/main" prst="rect">
            <a:avLst/>
          </a:prstGeom>
        </p:spPr>
      </p:pic>
      <p:sp>
        <p:nvSpPr>
          <p:cNvPr id="17" name="AutoShape 17">
            <a:extLst xmlns:a="http://schemas.openxmlformats.org/drawingml/2006/main">
              <a:ext uri="{FF2B5EF4-FFF2-40B4-BE49-F238E27FC236}">
                <a16:creationId xmlns:a16="http://schemas.microsoft.com/office/drawing/2014/main" id="{06251E4B-1515-4ADB-826F-C285A2F01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5600" y="4356100"/>
            <a:ext cx="4064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规范应用：方法与检验</a:t>
            </a:r>
          </a:p>
        </p:txBody>
      </p:sp>
      <p:sp>
        <p:nvSpPr>
          <p:cNvPr id="18" name="AutoShape 18">
            <a:extLst xmlns:a="http://schemas.openxmlformats.org/drawingml/2006/main">
              <a:ext uri="{FF2B5EF4-FFF2-40B4-BE49-F238E27FC236}">
                <a16:creationId xmlns:a16="http://schemas.microsoft.com/office/drawing/2014/main" id="{5C5041B0-1D9F-4E41-8FC7-75C6FD682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200" y="4927600"/>
            <a:ext cx="463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在基础与变式练习中运用“根据数据特点选择并绘制统计图”解决同类问题，并对结果进行检验。</a:t>
            </a:r>
          </a:p>
        </p:txBody>
      </p:sp>
      <p:sp>
        <p:nvSpPr>
          <p:cNvPr id="19" name="AutoShape 19">
            <a:extLst xmlns:a="http://schemas.openxmlformats.org/drawingml/2006/main">
              <a:ext uri="{FF2B5EF4-FFF2-40B4-BE49-F238E27FC236}">
                <a16:creationId xmlns:a16="http://schemas.microsoft.com/office/drawing/2014/main" id="{E63A281B-0846-4AB0-96D6-41BC0F781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9500" y="4127500"/>
            <a:ext cx="52705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0" name="AutoShape 20">
            <a:extLst xmlns:a="http://schemas.openxmlformats.org/drawingml/2006/main">
              <a:ext uri="{FF2B5EF4-FFF2-40B4-BE49-F238E27FC236}">
                <a16:creationId xmlns:a16="http://schemas.microsoft.com/office/drawing/2014/main" id="{113E3ED2-3ED3-4BBD-878A-F8F823399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9500" y="4127500"/>
            <a:ext cx="762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47" name="Picture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8f8717737c417e">
            <a:extLst>
              <a:ext uri="{96DAC541-7B7A-43D3-8B79-37D633B846F1}">
                <asvg:svgBlip xmlns:asvg="http://schemas.microsoft.com/office/drawing/2016/SVG/main" r:embed="Rb597f3862c794792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89700" y="4381500"/>
            <a:ext cx="406400" cy="406400"/>
          </a:xfrm>
          <a:prstGeom xmlns:a="http://schemas.openxmlformats.org/drawingml/2006/main" prst="rect">
            <a:avLst/>
          </a:prstGeom>
        </p:spPr>
      </p:pic>
      <p:sp>
        <p:nvSpPr>
          <p:cNvPr id="22" name="AutoShape 22">
            <a:extLst xmlns:a="http://schemas.openxmlformats.org/drawingml/2006/main">
              <a:ext uri="{FF2B5EF4-FFF2-40B4-BE49-F238E27FC236}">
                <a16:creationId xmlns:a16="http://schemas.microsoft.com/office/drawing/2014/main" id="{0F263855-5573-43DC-A006-C20614281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100" y="4356100"/>
            <a:ext cx="4064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04 反思评价：表达与订正</a:t>
            </a:r>
          </a:p>
        </p:txBody>
      </p:sp>
      <p:sp>
        <p:nvSpPr>
          <p:cNvPr id="23" name="AutoShape 23">
            <a:extLst xmlns:a="http://schemas.openxmlformats.org/drawingml/2006/main">
              <a:ext uri="{FF2B5EF4-FFF2-40B4-BE49-F238E27FC236}">
                <a16:creationId xmlns:a16="http://schemas.microsoft.com/office/drawing/2014/main" id="{65B14B98-51A4-41F8-84DF-55E0F2710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9700" y="4927600"/>
            <a:ext cx="463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在合作探究和互评中形成先审条件、再选方法、规范表达、主动复核的学习习惯。</a:t>
            </a:r>
          </a:p>
        </p:txBody>
      </p:sp>
    </p:spTree>
    <p:extLst>
      <p:ext uri="{BB962C8B-B14F-4D97-AF65-F5344CB8AC3E}">
        <p14:creationId xmlns:p14="http://schemas.microsoft.com/office/powerpoint/2010/main" val="1761065254"/>
      </p:ext>
    </p:extLst>
  </p:cSld>
</p:sld>
</file>

<file path=ppt/slides/slide3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5b307b8b840149d3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EC60B422-E6E2-4008-930A-A4247B5FC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cmpd="sng">
            <a:solidFill>
              <a:srgbClr val="E6CFCF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9DA9AE7C-ACB3-4B60-B00B-D4EC7B211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问题从哪里来？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7EE52F2D-C9E2-4D18-86B2-1B0FA3108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E9849650-CF9E-412F-9E80-D5D2EDB46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1500" y="1841500"/>
            <a:ext cx="27305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教材情境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74151"/>
                </a:solidFill>
                <a:latin typeface="Noto Sans SC"/>
                <a:ea typeface="Noto Sans SC"/>
                <a:cs typeface="Noto Sans SC"/>
              </a:rPr>
              <a:t>对应印刷页160—162。先读图、读表或读题，圈出已知和所求。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EF41003C-D4E4-49E0-86CE-2FFAEA7A4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3000" y="15240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A1432678-4521-40AB-AADE-3190628F7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841500"/>
            <a:ext cx="27305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已有基础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74151"/>
                </a:solidFill>
                <a:latin typeface="Noto Sans SC"/>
                <a:ea typeface="Noto Sans SC"/>
                <a:cs typeface="Noto Sans SC"/>
              </a:rPr>
              <a:t>调用学生已经学习频数与百分比、圆周角度，具备基本观察、计算、作图或整理数据的经验。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64B284B8-122E-4B84-BAB6-341753822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227C77E8-4C1D-489C-A574-120DDD7CF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1500" y="4318000"/>
            <a:ext cx="27305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核心任务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74151"/>
                </a:solidFill>
                <a:latin typeface="Noto Sans SC"/>
                <a:ea typeface="Noto Sans SC"/>
                <a:cs typeface="Noto Sans SC"/>
              </a:rPr>
              <a:t>聚焦条形图、扇形图、圆心角计算、统计图选择，不急于抄结论。</a:t>
            </a: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4446D4A4-AC1A-4120-B7D8-9BFB94046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3000" y="40005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AutoShape 15">
            <a:extLst xmlns:a="http://schemas.openxmlformats.org/drawingml/2006/main">
              <a:ext uri="{FF2B5EF4-FFF2-40B4-BE49-F238E27FC236}">
                <a16:creationId xmlns:a16="http://schemas.microsoft.com/office/drawing/2014/main" id="{40F542E7-1CE9-41AE-A45C-063FAC2AD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318000"/>
            <a:ext cx="27305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课堂路径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74151"/>
                </a:solidFill>
                <a:latin typeface="Noto Sans SC"/>
                <a:ea typeface="Noto Sans SC"/>
                <a:cs typeface="Noto Sans SC"/>
              </a:rPr>
              <a:t>观察/阅读 → 自主记录 → 合作验证 → 例练检测。</a:t>
            </a:r>
          </a:p>
        </p:txBody>
      </p:sp>
      <p:sp>
        <p:nvSpPr>
          <p:cNvPr id="16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59334BDD-5683-46AF-B78B-64B93A4B6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41468"/>
            <a:ext cx="2031968" cy="15240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7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7EAA0D96-DEAF-4A51-98BC-7F741B21E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6656" y="2662904"/>
            <a:ext cx="223517" cy="3977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261DD317-3FC8-4EAC-901A-63BE5C433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090" y="2424246"/>
            <a:ext cx="223517" cy="6364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48B83DD6-B908-446B-984C-D3DD3CDAF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7525" y="2565673"/>
            <a:ext cx="223517" cy="49499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673CEDE3-779F-4306-9EE0-086C92B73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2960" y="2318175"/>
            <a:ext cx="223517" cy="74249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79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7B4BDF9E-2231-4494-9B62-14E2FB777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115057" y="3060668"/>
            <a:ext cx="146301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22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694ACB51-9BBB-4874-A5A6-39395E852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468" y="1841468"/>
            <a:ext cx="2031968" cy="15240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23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1A6D55AC-10D3-4D98-92BC-DEEF7AA82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624" y="2662904"/>
            <a:ext cx="223517" cy="3977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38F7222E-4B44-4B77-BDA0-282DF8A7E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059" y="2424246"/>
            <a:ext cx="223517" cy="6364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04C55036-4628-4E52-895F-1C05F1830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8493" y="2565673"/>
            <a:ext cx="223517" cy="49499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0764ABB2-B8AB-4E24-A562-FD4F37ADE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3928" y="2318175"/>
            <a:ext cx="223517" cy="74249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79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A58B3FD5-0EDA-4D1C-B807-67BECBAF6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576026" y="3060668"/>
            <a:ext cx="146301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28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76E50267-DB7A-47E8-BEAE-7F61E9C38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17968"/>
            <a:ext cx="2031968" cy="15240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29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61121F94-ABA6-45E1-8EDB-4B825DF41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6656" y="5139404"/>
            <a:ext cx="223517" cy="3977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ABB53F3E-373F-493E-A84B-5CE90CDDF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090" y="4900746"/>
            <a:ext cx="223517" cy="6364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069E0C8A-04C2-4C87-BCBB-C2EB0D1FD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7525" y="5042173"/>
            <a:ext cx="223517" cy="49499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F6D8782F-0892-49C7-8446-E66C086FC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2960" y="4794675"/>
            <a:ext cx="223517" cy="74249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79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DF8AEF35-8DC0-4D38-ACBA-FD651404F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115057" y="5537168"/>
            <a:ext cx="146301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34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BD8908FA-C39D-48E8-B8BA-542EA6A3B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468" y="4317968"/>
            <a:ext cx="2031968" cy="15240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35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673A7926-9710-4D2D-865F-DF842BD8D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624" y="5139404"/>
            <a:ext cx="223517" cy="3977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5B73EF1C-35AB-4984-8217-5E2CB9929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059" y="4900746"/>
            <a:ext cx="223517" cy="6364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DBE6101B-B085-468E-800B-549C71DF9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8493" y="5042173"/>
            <a:ext cx="223517" cy="49499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B317F195-3EC0-437C-AD8E-E30C9F5C5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3928" y="4794675"/>
            <a:ext cx="223517" cy="74249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79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4765DF0E-71E6-47F1-9362-2C0B6F11D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576026" y="5537168"/>
            <a:ext cx="146301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299333343"/>
      </p:ext>
    </p:extLst>
  </p:cSld>
</p:sld>
</file>

<file path=ppt/slides/slide4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5d61b7d360d64e79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0E692F53-3D9B-44E7-A3FF-E3734DEF2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cmpd="sng">
            <a:solidFill>
              <a:srgbClr val="E6CFCF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0A59FA93-5554-44B0-9571-97BA82684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旧知回顾：回顾“频数与百分比”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7750FF8B-D080-4192-BF17-D95232A92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1000"/>
            <a:ext cx="5334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49495226-5D00-4789-9F6B-995FDBC83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780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回忆规则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FF2EE6C5-97F6-4AE7-BD9F-8CC6EE1E6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22500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回顾“频数与百分比”：写出一条与本课有关的定义、性质或计算规则。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D0216526-A6D8-4AC0-8413-AB502B691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38500"/>
            <a:ext cx="5334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8DFB3AD4-F3E2-414A-9123-4CAE88714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655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独立作答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9F22FA1D-17E2-4904-A64C-207EA27EE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10000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先写定义、性质、式子、图形或数据关系，再与同桌核对。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F08A0F00-EABA-43BB-8436-86747E76D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26000"/>
            <a:ext cx="5334000" cy="1460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E06F1E5F-4EF7-4072-9C19-67BD94BE3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530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连接新知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5F887A1F-C014-4123-BA48-69BD3032A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59400"/>
            <a:ext cx="4953000" cy="88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参考要点：正确表述“频数与百分比”的核心含义，并说明它与“条形图”的联系。</a:t>
            </a:r>
          </a:p>
        </p:txBody>
      </p:sp>
      <p:sp>
        <p:nvSpPr>
          <p:cNvPr id="13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7B767150-AD42-49A6-BBEF-435DC737A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1905000"/>
            <a:ext cx="4619625" cy="4095750"/>
          </a:xfrm>
          <a:prstGeom xmlns:a="http://schemas.openxmlformats.org/drawingml/2006/main" prst="roundRect">
            <a:avLst>
              <a:gd name="adj" fmla="val 2326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4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98BD6A52-C7D7-4035-A9A0-3BF5B86CD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676" y="4112609"/>
            <a:ext cx="508159" cy="10689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BE5FD240-645C-4892-AB2F-BC41F5EF1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1013" y="3471215"/>
            <a:ext cx="508159" cy="17103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4E1CBDAF-6E90-4327-8F89-3D88702AC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349" y="3851300"/>
            <a:ext cx="508159" cy="1330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4BC17764-8393-4819-A840-966B73156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1685" y="3186151"/>
            <a:ext cx="508159" cy="199544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79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4A247432-CF58-4F4C-AD5C-095D63A2D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084695" y="5181600"/>
            <a:ext cx="332613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34155"/>
            </a:solidFill>
            <a:prstDash val="solid"/>
          </a:ln>
        </p:spPr>
      </p:sp>
      <p:sp>
        <p:nvSpPr>
          <p:cNvPr id="19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FA233B9C-DC08-48F9-848F-A6C4EA689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9293" y="2478405"/>
            <a:ext cx="147828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34155"/>
                </a:solidFill>
              </a:defRPr>
            </a:pPr>
            <a:r>
              <a:rPr sz="1200" b="1">
                <a:solidFill>
                  <a:srgbClr val="334155"/>
                </a:solidFill>
              </a:rPr>
              <a:t>比较 · 分布 · 趋势</a:t>
            </a:r>
          </a:p>
        </p:txBody>
      </p:sp>
    </p:spTree>
    <p:extLst>
      <p:ext uri="{BB962C8B-B14F-4D97-AF65-F5344CB8AC3E}">
        <p14:creationId xmlns:p14="http://schemas.microsoft.com/office/powerpoint/2010/main" val="507240397"/>
      </p:ext>
    </p:extLst>
  </p:cSld>
</p:sld>
</file>

<file path=ppt/slides/slide5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35beeaede64046ca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14D118DA-6A39-4395-8739-45F17D964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FF7E5BD0-71F8-4321-8C30-46484B0D3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自主探究：观察、猜想与验证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8E5B9E4C-DD9C-4C16-B1DF-28A76807F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216946D6-71BC-4F76-9907-EE72CEACB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阅读与标记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阅读教材印刷页160—162，圈出“条形图、扇形图、圆心角计算、统计图选择”，分别用一句话记录它们解决什么问题。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59A87179-443B-46AC-875E-B4C62ED55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8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B3D19FF1-79DA-4167-83B0-A0C07CC73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5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小组探究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小组探究：围绕“把百分比准确转化为圆心角”设计一次观察、操作或推理，记录现象、猜想和验证依据。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4B221CC4-2AA7-4EE4-9B4F-52A64C5E5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4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3D9A2A5B-47D2-411D-9B1F-EEB968705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记录证据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写清现象、猜想、验证方法和结论；暂不看参考答案。</a:t>
            </a: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7E827468-A35F-4966-9EC6-46D06FC14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0"/>
            <a:ext cx="4572000" cy="63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图示：把条件、对象和关系组织在同一视图中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95D11F65-9C34-4F9D-8FED-ED2AF90F1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0" y="3937000"/>
            <a:ext cx="5842000" cy="2413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8000"/>
            </a:srgbClr>
          </a:solidFill>
          <a:ln xmlns:a="http://schemas.openxmlformats.org/drawingml/2006/main" w="12700" cmpd="sng">
            <a:solidFill>
              <a:srgbClr val="10B981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4215857B-EACC-4DC8-AA59-7141D7540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8500" y="4127500"/>
            <a:ext cx="5588000" cy="215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6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🔍 交流要求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围绕“根据数据特点选择并绘制统计图”说明理由；同伴只追问条件和依据。</a:t>
            </a:r>
          </a:p>
        </p:txBody>
      </p:sp>
      <p:sp>
        <p:nvSpPr>
          <p:cNvPr id="14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805E7E9D-3D41-4B5E-8DB6-9B63100EB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171950"/>
            <a:ext cx="4143375" cy="1381125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5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B25410D3-CF8B-48EC-9E42-BB692E2C4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3514" y="4916376"/>
            <a:ext cx="455771" cy="36047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0E619406-6D0D-4192-8FE6-18B088540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7888" y="4700092"/>
            <a:ext cx="455771" cy="5767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2EFDD3E6-2FB2-4A2C-A435-1E7E83B24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2261" y="4828261"/>
            <a:ext cx="455771" cy="44858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43F604AE-8A8D-4C3B-B473-A08CC2989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6635" y="4603966"/>
            <a:ext cx="455771" cy="6728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79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AC708382-21F5-49E3-A0C7-0B4E17819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236345" y="5276850"/>
            <a:ext cx="298323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581353686"/>
      </p:ext>
    </p:extLst>
  </p:cSld>
</p:sld>
</file>

<file path=ppt/slides/slide6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795d3b409a364bd5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0E692F53-3D9B-44E7-A3FF-E3734DEF2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cmpd="sng">
            <a:solidFill>
              <a:srgbClr val="E6CFCF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0A59FA93-5554-44B0-9571-97BA82684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概念一：条形图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7750FF8B-D080-4192-BF17-D95232A92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1000"/>
            <a:ext cx="5334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49495226-5D00-4789-9F6B-995FDBC83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780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教材表述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FF2EE6C5-97F6-4AE7-BD9F-8CC6EE1E6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22500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条形图：按教材明确其定义、条件、表示、性质或步骤。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D0216526-A6D8-4AC0-8413-AB502B691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38500"/>
            <a:ext cx="5334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8DFB3AD4-F3E2-414A-9123-4CAE88714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655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成立条件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9F22FA1D-17E2-4904-A64C-207EA27EE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10000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把定义中的对象、条件、表示和结论分开记录；缺少条件时不能直接使用。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F08A0F00-EABA-43BB-8436-86747E76D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26000"/>
            <a:ext cx="5334000" cy="1460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E06F1E5F-4EF7-4072-9C19-67BD94BE3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530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规范表达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5F887A1F-C014-4123-BA48-69BD3032A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59400"/>
            <a:ext cx="4953000" cy="88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用数学符号、图形、式子、表格或完整语句表达，并标注单位和依据。</a:t>
            </a:r>
          </a:p>
        </p:txBody>
      </p:sp>
      <p:sp>
        <p:nvSpPr>
          <p:cNvPr id="13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3A54DEC2-B2A5-46DA-AD09-5F4DC570B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1905000"/>
            <a:ext cx="4619625" cy="4095750"/>
          </a:xfrm>
          <a:prstGeom xmlns:a="http://schemas.openxmlformats.org/drawingml/2006/main" prst="roundRect">
            <a:avLst>
              <a:gd name="adj" fmla="val 2326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4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DFE0F66A-C98B-44DA-9B64-05DBEE133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676" y="4112609"/>
            <a:ext cx="508159" cy="10689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56A76A8B-5E68-4EF7-BD5E-6D9A2C1FC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1013" y="3471215"/>
            <a:ext cx="508159" cy="17103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2216137B-3004-4114-A6D4-7DE7A3075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349" y="3851300"/>
            <a:ext cx="508159" cy="1330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6F748383-99EB-43A8-9B4C-3406DC35B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1685" y="3186151"/>
            <a:ext cx="508159" cy="199544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79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ADBD21EA-CBF4-45CA-96BB-E82C759D0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084695" y="5181600"/>
            <a:ext cx="332613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34155"/>
            </a:solidFill>
            <a:prstDash val="solid"/>
          </a:ln>
        </p:spPr>
      </p:sp>
      <p:sp>
        <p:nvSpPr>
          <p:cNvPr id="19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DF90F39E-F0D7-4087-A81E-ADB1EEC9F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9293" y="2478405"/>
            <a:ext cx="147828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34155"/>
                </a:solidFill>
              </a:defRPr>
            </a:pPr>
            <a:r>
              <a:rPr sz="1200" b="1">
                <a:solidFill>
                  <a:srgbClr val="334155"/>
                </a:solidFill>
              </a:rPr>
              <a:t>比较 · 分布 · 趋势</a:t>
            </a:r>
          </a:p>
        </p:txBody>
      </p:sp>
    </p:spTree>
    <p:extLst>
      <p:ext uri="{BB962C8B-B14F-4D97-AF65-F5344CB8AC3E}">
        <p14:creationId xmlns:p14="http://schemas.microsoft.com/office/powerpoint/2010/main" val="507240397"/>
      </p:ext>
    </p:extLst>
  </p:cSld>
</p:sld>
</file>

<file path=ppt/slides/slide7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691fc09d6633469a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0E692F53-3D9B-44E7-A3FF-E3734DEF2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cmpd="sng">
            <a:solidFill>
              <a:srgbClr val="E6CFCF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0A59FA93-5554-44B0-9571-97BA82684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概念二：扇形图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7750FF8B-D080-4192-BF17-D95232A92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1000"/>
            <a:ext cx="5334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49495226-5D00-4789-9F6B-995FDBC83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780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核心含义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FF2EE6C5-97F6-4AE7-BD9F-8CC6EE1E6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22500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扇形图：按教材明确其定义、条件、表示、性质或步骤。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D0216526-A6D8-4AC0-8413-AB502B691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38500"/>
            <a:ext cx="5334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8DFB3AD4-F3E2-414A-9123-4CAE88714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655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与概念一的联系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9F22FA1D-17E2-4904-A64C-207EA27EE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10000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先辨对象和条件，再比较两者的作用、方向或适用范围。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F08A0F00-EABA-43BB-8436-86747E76D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26000"/>
            <a:ext cx="5334000" cy="1460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E06F1E5F-4EF7-4072-9C19-67BD94BE3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530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易错提醒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5F887A1F-C014-4123-BA48-69BD3032A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59400"/>
            <a:ext cx="4953000" cy="88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易错提醒：把百分比准确转化为圆心角。先审条件，再使用结论。</a:t>
            </a:r>
          </a:p>
        </p:txBody>
      </p:sp>
      <p:sp>
        <p:nvSpPr>
          <p:cNvPr id="13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9594859A-E0B5-4951-9215-E5F639588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1905000"/>
            <a:ext cx="4619625" cy="4095750"/>
          </a:xfrm>
          <a:prstGeom xmlns:a="http://schemas.openxmlformats.org/drawingml/2006/main" prst="roundRect">
            <a:avLst>
              <a:gd name="adj" fmla="val 2326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4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5446C458-7975-455D-A8ED-E0249EBC6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676" y="4112609"/>
            <a:ext cx="508159" cy="10689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8C5C3DAA-9B67-466B-BACB-4A68031B5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1013" y="3471215"/>
            <a:ext cx="508159" cy="17103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F27DEA61-4276-4D27-88E4-6F8B584AA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349" y="3851300"/>
            <a:ext cx="508159" cy="1330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2DE27680-8FA7-40B5-A35A-E831335B8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1685" y="3186151"/>
            <a:ext cx="508159" cy="199544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79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37028BCB-5751-4059-8F8B-748B661BA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084695" y="5181600"/>
            <a:ext cx="332613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34155"/>
            </a:solidFill>
            <a:prstDash val="solid"/>
          </a:ln>
        </p:spPr>
      </p:sp>
      <p:sp>
        <p:nvSpPr>
          <p:cNvPr id="19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1A865A7F-67A5-4576-AE05-7F080DBF5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9293" y="2478405"/>
            <a:ext cx="147828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34155"/>
                </a:solidFill>
              </a:defRPr>
            </a:pPr>
            <a:r>
              <a:rPr sz="1200" b="1">
                <a:solidFill>
                  <a:srgbClr val="334155"/>
                </a:solidFill>
              </a:rPr>
              <a:t>比较 · 分布 · 趋势</a:t>
            </a:r>
          </a:p>
        </p:txBody>
      </p:sp>
    </p:spTree>
    <p:extLst>
      <p:ext uri="{BB962C8B-B14F-4D97-AF65-F5344CB8AC3E}">
        <p14:creationId xmlns:p14="http://schemas.microsoft.com/office/powerpoint/2010/main" val="507240397"/>
      </p:ext>
    </p:extLst>
  </p:cSld>
</p:sld>
</file>

<file path=ppt/slides/slide8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2e33d0aa364b4347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AE97BB10-88A1-43F3-B670-02306D459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499513F6-3F54-4843-AEA2-D37F0BA7C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为什么这样做？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2309ECEB-512C-4CA6-9D9F-BCB4ACE8A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1000"/>
            <a:ext cx="5588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条件先行</a:t>
            </a: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8F02AE9B-2287-41F2-887D-84A861FF7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22500"/>
            <a:ext cx="558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小组探究：围绕“把百分比准确转化为圆心角”设计一次观察、操作或推理，记录现象、猜想和验证依据。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91D0B8C4-08FD-4372-80E4-4782D051B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11500"/>
            <a:ext cx="1727200" cy="889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A1054D4E-5A31-48CD-9F68-3FBD34204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" y="3238500"/>
            <a:ext cx="1600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4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已知与对象</a:t>
            </a:r>
          </a:p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逐项核对题目条件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A67FE7A2-DAFD-4685-B249-50D57F233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2400" y="3111500"/>
            <a:ext cx="1727200" cy="889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6E163C5B-6232-43E6-AA6B-0A56678DE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5900" y="3238500"/>
            <a:ext cx="1600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4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方法与依据</a:t>
            </a:r>
          </a:p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选择定义、性质或步骤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332A555C-286A-41AF-89D2-099D9F0F7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3111500"/>
            <a:ext cx="1727200" cy="889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64F19F02-0C49-4A1F-8AC3-A61717384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238500"/>
            <a:ext cx="1600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4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结论与检验</a:t>
            </a:r>
          </a:p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回到题意复核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A06EA5A5-757F-4927-A1B8-871F82288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18000"/>
            <a:ext cx="5588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完成验证</a:t>
            </a: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D6389A22-39AB-4667-A735-F87EFD20A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26000"/>
            <a:ext cx="5588000" cy="1524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1F5F9">
              <a:alpha val="8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AutoShape 14">
            <a:extLst xmlns:a="http://schemas.openxmlformats.org/drawingml/2006/main">
              <a:ext uri="{FF2B5EF4-FFF2-40B4-BE49-F238E27FC236}">
                <a16:creationId xmlns:a16="http://schemas.microsoft.com/office/drawing/2014/main" id="{0AEB0F27-8103-4324-BA4A-CF6504DAA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" y="4953000"/>
            <a:ext cx="5334000" cy="139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参考思路：先明确条件，再围绕“根据数据特点选择并绘制统计图”形成猜想，最后用定义、计算、图表或反例验证。</a:t>
            </a:r>
          </a:p>
        </p:txBody>
      </p:sp>
      <p:sp>
        <p:nvSpPr>
          <p:cNvPr id="16" name="AutoShape 16">
            <a:extLst xmlns:a="http://schemas.openxmlformats.org/drawingml/2006/main">
              <a:ext uri="{FF2B5EF4-FFF2-40B4-BE49-F238E27FC236}">
                <a16:creationId xmlns:a16="http://schemas.microsoft.com/office/drawing/2014/main" id="{0317C9F7-906B-473B-9164-82DE43435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826000"/>
            <a:ext cx="4826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8000"/>
            </a:srgbClr>
          </a:solidFill>
          <a:ln xmlns:a="http://schemas.openxmlformats.org/drawingml/2006/main" w="12700" cmpd="sng">
            <a:solidFill>
              <a:srgbClr val="10B981">
                <a:alpha val="4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AutoShape 18">
            <a:extLst xmlns:a="http://schemas.openxmlformats.org/drawingml/2006/main">
              <a:ext uri="{FF2B5EF4-FFF2-40B4-BE49-F238E27FC236}">
                <a16:creationId xmlns:a16="http://schemas.microsoft.com/office/drawing/2014/main" id="{6DA26F7E-01CD-493E-9490-A156A0C5E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016500"/>
            <a:ext cx="4191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5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💡 方法归纳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3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提取条件 → 选择概念或方法 → 规范求解/作图/整理 → 写出依据 → 回到题意检验。</a:t>
            </a:r>
          </a:p>
        </p:txBody>
      </p:sp>
      <p:sp>
        <p:nvSpPr>
          <p:cNvPr id="19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F0244D07-621A-4409-9F9E-6680172A5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047875"/>
            <a:ext cx="3952875" cy="23812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20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5CD123AE-2D01-4FB9-B5B1-FDC4AEB62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249" y="3331369"/>
            <a:ext cx="434816" cy="6215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44B0CABC-D92D-4EE2-9DB4-131FDF66E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7238" y="2958465"/>
            <a:ext cx="434816" cy="9944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01D72D70-E795-4C1E-AB3C-76AFBBA44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9226" y="3179445"/>
            <a:ext cx="434816" cy="773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4DF8484A-0399-487F-A55C-23CA92670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1215" y="2792730"/>
            <a:ext cx="434816" cy="1160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79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B809A6F7-A842-47BB-A9E1-0C748A10A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507605" y="3952875"/>
            <a:ext cx="284607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34155"/>
            </a:solidFill>
            <a:prstDash val="solid"/>
          </a:ln>
        </p:spPr>
      </p:sp>
      <p:sp>
        <p:nvSpPr>
          <p:cNvPr id="25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F7DB35B1-2658-4CFC-ADFD-85A330AB3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2158" y="2381250"/>
            <a:ext cx="126492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34155"/>
                </a:solidFill>
              </a:defRPr>
            </a:pPr>
            <a:r>
              <a:rPr sz="1200" b="1">
                <a:solidFill>
                  <a:srgbClr val="334155"/>
                </a:solidFill>
              </a:rPr>
              <a:t>比较 · 分布 · 趋势</a:t>
            </a:r>
          </a:p>
        </p:txBody>
      </p:sp>
    </p:spTree>
    <p:extLst>
      <p:ext uri="{BB962C8B-B14F-4D97-AF65-F5344CB8AC3E}">
        <p14:creationId xmlns:p14="http://schemas.microsoft.com/office/powerpoint/2010/main" val="2062508807"/>
      </p:ext>
    </p:extLst>
  </p:cSld>
</p:sld>
</file>

<file path=ppt/slides/slide9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832d678b324e46b1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E4231154-1173-49AA-885D-6661E547A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D9F21351-F9A7-44B0-B281-B0142BCF0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这些“陷阱”要避开！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3BE0D869-3E7A-481B-AE3C-425A3DF86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10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70000"/>
            </a:srgbClr>
          </a:solidFill>
          <a:ln xmlns:a="http://schemas.openxmlformats.org/drawingml/2006/main" w="12700" cmpd="sng">
            <a:solidFill>
              <a:srgbClr val="F97316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53A85DD8-4E75-4C88-9426-05D712CE9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41500"/>
            <a:ext cx="488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F97316"/>
                </a:solidFill>
                <a:latin typeface="Noto Sans SC"/>
                <a:ea typeface="Noto Sans SC"/>
                <a:cs typeface="Noto Sans SC"/>
              </a:rPr>
              <a:t>01 条件不完整</a:t>
            </a:r>
          </a:p>
        </p:txBody>
      </p:sp>
      <p:cxnSp>
        <p:nvCxnSpPr>
          <p:cNvPr id="41" name="Connector 6"/>
          <p:cNvCxnSpPr/>
          <p:nvPr/>
        </p:nvCxnSpPr>
        <p:spPr>
          <a:xfrm xmlns:a="http://schemas.openxmlformats.org/drawingml/2006/main" rot="-9046">
            <a:off x="952508" y="2305050"/>
            <a:ext cx="4826000" cy="12700"/>
          </a:xfrm>
          <a:prstGeom xmlns:a="http://schemas.openxmlformats.org/drawingml/2006/main" prst="straightConnector1">
            <a:avLst/>
          </a:prstGeom>
          <a:ln xmlns:a="http://schemas.openxmlformats.org/drawingml/2006/main" w="12700" cap="flat">
            <a:solidFill>
              <a:srgbClr val="F97316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F0831D32-F590-4E23-AB46-1E3A85E6B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38400"/>
            <a:ext cx="4889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EF4444"/>
                </a:solidFill>
                <a:latin typeface="Noto Sans SC"/>
                <a:ea typeface="Noto Sans SC"/>
                <a:cs typeface="Noto Sans SC"/>
              </a:rPr>
              <a:t>❌ 只记“条形图”的结论，不检查适用条件。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✅ 回到定义逐项核对对象和条件。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745B3F9D-01B9-46F3-8B6D-A76E10CFB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6510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70000"/>
            </a:srgbClr>
          </a:solidFill>
          <a:ln xmlns:a="http://schemas.openxmlformats.org/drawingml/2006/main" w="12700" cmpd="sng">
            <a:solidFill>
              <a:srgbClr val="F97316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69C38A64-DE24-45B0-B73D-27BF48A2A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841500"/>
            <a:ext cx="488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F97316"/>
                </a:solidFill>
                <a:latin typeface="Noto Sans SC"/>
                <a:ea typeface="Noto Sans SC"/>
                <a:cs typeface="Noto Sans SC"/>
              </a:rPr>
              <a:t>02 相近概念混淆</a:t>
            </a:r>
          </a:p>
        </p:txBody>
      </p:sp>
      <p:cxnSp>
        <p:nvCxnSpPr>
          <p:cNvPr id="45" name="Connector 10"/>
          <p:cNvCxnSpPr/>
          <p:nvPr/>
        </p:nvCxnSpPr>
        <p:spPr>
          <a:xfrm xmlns:a="http://schemas.openxmlformats.org/drawingml/2006/main" rot="-9046">
            <a:off x="6477008" y="2305050"/>
            <a:ext cx="4826000" cy="12700"/>
          </a:xfrm>
          <a:prstGeom xmlns:a="http://schemas.openxmlformats.org/drawingml/2006/main" prst="straightConnector1">
            <a:avLst/>
          </a:prstGeom>
          <a:ln xmlns:a="http://schemas.openxmlformats.org/drawingml/2006/main" w="12700" cap="flat">
            <a:solidFill>
              <a:srgbClr val="F97316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88D98ADE-BA17-4CBB-8538-A869F437F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438400"/>
            <a:ext cx="4889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EF4444"/>
                </a:solidFill>
                <a:latin typeface="Noto Sans SC"/>
                <a:ea typeface="Noto Sans SC"/>
                <a:cs typeface="Noto Sans SC"/>
              </a:rPr>
              <a:t>❌ 把“根据数据特点选择并绘制统计图”与相近概念或逆命题混淆。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✅ 比较条件、结论和使用方向。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059CBA47-C8CF-4445-8C86-3E351072C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275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70000"/>
            </a:srgbClr>
          </a:solidFill>
          <a:ln xmlns:a="http://schemas.openxmlformats.org/drawingml/2006/main" w="12700" cmpd="sng">
            <a:solidFill>
              <a:srgbClr val="F97316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6D2AFE74-577B-43B4-BE03-E32F5D48E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18000"/>
            <a:ext cx="488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F97316"/>
                </a:solidFill>
                <a:latin typeface="Noto Sans SC"/>
                <a:ea typeface="Noto Sans SC"/>
                <a:cs typeface="Noto Sans SC"/>
              </a:rPr>
              <a:t>03 只写结果</a:t>
            </a:r>
          </a:p>
        </p:txBody>
      </p:sp>
      <p:cxnSp>
        <p:nvCxnSpPr>
          <p:cNvPr id="49" name="Connector 14"/>
          <p:cNvCxnSpPr/>
          <p:nvPr/>
        </p:nvCxnSpPr>
        <p:spPr>
          <a:xfrm xmlns:a="http://schemas.openxmlformats.org/drawingml/2006/main" rot="-9046">
            <a:off x="952508" y="4781550"/>
            <a:ext cx="4826000" cy="12700"/>
          </a:xfrm>
          <a:prstGeom xmlns:a="http://schemas.openxmlformats.org/drawingml/2006/main" prst="straightConnector1">
            <a:avLst/>
          </a:prstGeom>
          <a:ln xmlns:a="http://schemas.openxmlformats.org/drawingml/2006/main" w="12700" cap="flat">
            <a:solidFill>
              <a:srgbClr val="F97316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5" name="AutoShape 15">
            <a:extLst xmlns:a="http://schemas.openxmlformats.org/drawingml/2006/main">
              <a:ext uri="{FF2B5EF4-FFF2-40B4-BE49-F238E27FC236}">
                <a16:creationId xmlns:a16="http://schemas.microsoft.com/office/drawing/2014/main" id="{17823634-06B4-4CC8-B01F-8362CB495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14900"/>
            <a:ext cx="4889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EF4444"/>
                </a:solidFill>
                <a:latin typeface="Noto Sans SC"/>
                <a:ea typeface="Noto Sans SC"/>
                <a:cs typeface="Noto Sans SC"/>
              </a:rPr>
              <a:t>❌ 只写结果，不写过程、依据或检验。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✅ 补全过程、依据和必要单位。</a:t>
            </a:r>
          </a:p>
        </p:txBody>
      </p:sp>
      <p:sp>
        <p:nvSpPr>
          <p:cNvPr id="16" name="AutoShape 16">
            <a:extLst xmlns:a="http://schemas.openxmlformats.org/drawingml/2006/main">
              <a:ext uri="{FF2B5EF4-FFF2-40B4-BE49-F238E27FC236}">
                <a16:creationId xmlns:a16="http://schemas.microsoft.com/office/drawing/2014/main" id="{748740E4-EC3D-4B6E-A197-D3D383625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1275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70000"/>
            </a:srgbClr>
          </a:solidFill>
          <a:ln xmlns:a="http://schemas.openxmlformats.org/drawingml/2006/main" w="12700" cmpd="sng">
            <a:solidFill>
              <a:srgbClr val="F97316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AutoShape 17">
            <a:extLst xmlns:a="http://schemas.openxmlformats.org/drawingml/2006/main">
              <a:ext uri="{FF2B5EF4-FFF2-40B4-BE49-F238E27FC236}">
                <a16:creationId xmlns:a16="http://schemas.microsoft.com/office/drawing/2014/main" id="{2B130B84-92F9-49B2-BEA0-39FD7C512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318000"/>
            <a:ext cx="488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F97316"/>
                </a:solidFill>
                <a:latin typeface="Noto Sans SC"/>
                <a:ea typeface="Noto Sans SC"/>
                <a:cs typeface="Noto Sans SC"/>
              </a:rPr>
              <a:t>04 不作检验</a:t>
            </a:r>
          </a:p>
        </p:txBody>
      </p:sp>
      <p:cxnSp>
        <p:nvCxnSpPr>
          <p:cNvPr id="53" name="Connector 18"/>
          <p:cNvCxnSpPr/>
          <p:nvPr/>
        </p:nvCxnSpPr>
        <p:spPr>
          <a:xfrm xmlns:a="http://schemas.openxmlformats.org/drawingml/2006/main" rot="-9046">
            <a:off x="6477008" y="4781550"/>
            <a:ext cx="4826000" cy="12700"/>
          </a:xfrm>
          <a:prstGeom xmlns:a="http://schemas.openxmlformats.org/drawingml/2006/main" prst="straightConnector1">
            <a:avLst/>
          </a:prstGeom>
          <a:ln xmlns:a="http://schemas.openxmlformats.org/drawingml/2006/main" w="12700" cap="flat">
            <a:solidFill>
              <a:srgbClr val="F97316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9" name="AutoShape 19">
            <a:extLst xmlns:a="http://schemas.openxmlformats.org/drawingml/2006/main">
              <a:ext uri="{FF2B5EF4-FFF2-40B4-BE49-F238E27FC236}">
                <a16:creationId xmlns:a16="http://schemas.microsoft.com/office/drawing/2014/main" id="{F6ABA36F-5119-4F25-92B0-24B0D3DCA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914900"/>
            <a:ext cx="4889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EF4444"/>
                </a:solidFill>
                <a:latin typeface="Noto Sans SC"/>
                <a:ea typeface="Noto Sans SC"/>
                <a:cs typeface="Noto Sans SC"/>
              </a:rPr>
              <a:t>❌ 只写结果，没有写过程、依据或检验。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✅ 代回、逆算、看图或用数据复核。</a:t>
            </a:r>
          </a:p>
        </p:txBody>
      </p:sp>
    </p:spTree>
    <p:extLst>
      <p:ext uri="{BB962C8B-B14F-4D97-AF65-F5344CB8AC3E}">
        <p14:creationId xmlns:p14="http://schemas.microsoft.com/office/powerpoint/2010/main" val="1561147634"/>
      </p:ext>
    </p:extLst>
  </p:cSld>
</p:sld>
</file>

<file path=ppt/slides/slide10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3257e6224e934581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14D118DA-6A39-4395-8739-45F17D964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FF7E5BD0-71F8-4321-8C30-46484B0D3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教材例题：例题（对应教材12.2例1）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8E5B9E4C-DD9C-4C16-B1DF-28A76807F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216946D6-71BC-4F76-9907-EE72CEACB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题目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例题（对应教材12.2例1）：某类占总体的25%，在扇形图中对应的圆心角是多少？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59A87179-443B-46AC-875E-B4C62ED55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8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B3D19FF1-79DA-4167-83B0-A0C07CC73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5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先独立完成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圈出条件和所求；选择方法；暂不显示完整答案。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4B221CC4-2AA7-4EE4-9B4F-52A64C5E5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4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3D9A2A5B-47D2-411D-9B1F-EEB968705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思考顺序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1. 提取条件；2. 选用根据数据特点选择并绘制统计图；3. 写依据并检验。</a:t>
            </a: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7E827468-A35F-4966-9EC6-46D06FC14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0"/>
            <a:ext cx="4572000" cy="63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教材印刷页160—162：先思考，再对照规范解答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95D11F65-9C34-4F9D-8FED-ED2AF90F1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0" y="3937000"/>
            <a:ext cx="5842000" cy="2413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8000"/>
            </a:srgbClr>
          </a:solidFill>
          <a:ln xmlns:a="http://schemas.openxmlformats.org/drawingml/2006/main" w="12700" cmpd="sng">
            <a:solidFill>
              <a:srgbClr val="10B981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4215857B-EACC-4DC8-AA59-7141D7540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8500" y="4127500"/>
            <a:ext cx="5588000" cy="215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6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🔍 课堂约定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先写自己的第一步；同桌只检查条件和方法，不直接报答案。</a:t>
            </a:r>
          </a:p>
        </p:txBody>
      </p:sp>
      <p:sp>
        <p:nvSpPr>
          <p:cNvPr id="14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4A6C712D-782B-4A65-88EA-C832723B7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171950"/>
            <a:ext cx="4143375" cy="1381125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5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E12CB209-37AF-4437-A91B-79ECB8419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3514" y="4916376"/>
            <a:ext cx="455771" cy="36047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A4E4784F-0305-4223-9F29-481659935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7888" y="4700092"/>
            <a:ext cx="455771" cy="5767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BF3707D2-3CAC-4B00-8F24-E0A63D1D8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2261" y="4828261"/>
            <a:ext cx="455771" cy="44858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6870D90C-C57E-49C9-999F-C63F08BEC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6635" y="4603966"/>
            <a:ext cx="455771" cy="6728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79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197740D1-DA71-4674-B47D-CD2954AC5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236345" y="5276850"/>
            <a:ext cx="298323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581353686"/>
      </p:ext>
    </p:extLst>
  </p:cSld>
</p:sld>
</file>

<file path=ppt/slides/slide11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4559870fe1a44b8f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AE97BB10-88A1-43F3-B670-02306D459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499513F6-3F54-4843-AEA2-D37F0BA7C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例题：规范解答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2309ECEB-512C-4CA6-9D9F-BCB4ACE8A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1000"/>
            <a:ext cx="5588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第一步：审条件</a:t>
            </a: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8F02AE9B-2287-41F2-887D-84A861FF7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22500"/>
            <a:ext cx="558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提取已知条件与所求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91D0B8C4-08FD-4372-80E4-4782D051B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11500"/>
            <a:ext cx="1727200" cy="889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A1054D4E-5A31-48CD-9F68-3FBD34204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" y="3238500"/>
            <a:ext cx="1600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4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关系/规则</a:t>
            </a:r>
          </a:p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选择“根据数据特点选择并绘制统计图”对应的方法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A67FE7A2-DAFD-4685-B249-50D57F233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2400" y="3111500"/>
            <a:ext cx="1727200" cy="889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6E163C5B-6232-43E6-AA6B-0A56678DE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5900" y="3238500"/>
            <a:ext cx="1600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4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过程/表达</a:t>
            </a:r>
          </a:p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规范计算或说明并回到原题检验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332A555C-286A-41AF-89D2-099D9F0F7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3111500"/>
            <a:ext cx="1727200" cy="889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64F19F02-0C49-4A1F-8AC3-A61717384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238500"/>
            <a:ext cx="1600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4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结论/检验</a:t>
            </a:r>
          </a:p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结果必须满足全部条件并回到问题。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A06EA5A5-757F-4927-A1B8-871F82288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18000"/>
            <a:ext cx="5588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完整解答</a:t>
            </a: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D6389A22-39AB-4667-A735-F87EFD20A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26000"/>
            <a:ext cx="5588000" cy="1524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1F5F9">
              <a:alpha val="8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AutoShape 14">
            <a:extLst xmlns:a="http://schemas.openxmlformats.org/drawingml/2006/main">
              <a:ext uri="{FF2B5EF4-FFF2-40B4-BE49-F238E27FC236}">
                <a16:creationId xmlns:a16="http://schemas.microsoft.com/office/drawing/2014/main" id="{0AEB0F27-8103-4324-BA4A-CF6504DAA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" y="4953000"/>
            <a:ext cx="5334000" cy="139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360°×25%=90°。</a:t>
            </a:r>
          </a:p>
        </p:txBody>
      </p:sp>
      <p:sp>
        <p:nvSpPr>
          <p:cNvPr id="16" name="AutoShape 16">
            <a:extLst xmlns:a="http://schemas.openxmlformats.org/drawingml/2006/main">
              <a:ext uri="{FF2B5EF4-FFF2-40B4-BE49-F238E27FC236}">
                <a16:creationId xmlns:a16="http://schemas.microsoft.com/office/drawing/2014/main" id="{0317C9F7-906B-473B-9164-82DE43435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826000"/>
            <a:ext cx="4826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8000"/>
            </a:srgbClr>
          </a:solidFill>
          <a:ln xmlns:a="http://schemas.openxmlformats.org/drawingml/2006/main" w="12700" cmpd="sng">
            <a:solidFill>
              <a:srgbClr val="10B981">
                <a:alpha val="4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AutoShape 18">
            <a:extLst xmlns:a="http://schemas.openxmlformats.org/drawingml/2006/main">
              <a:ext uri="{FF2B5EF4-FFF2-40B4-BE49-F238E27FC236}">
                <a16:creationId xmlns:a16="http://schemas.microsoft.com/office/drawing/2014/main" id="{6DA26F7E-01CD-493E-9490-A156A0C5E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016500"/>
            <a:ext cx="4191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5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💡 易错纠正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3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没有先确认“根据数据特点选择并绘制统计图”的条件，或只写结果不写依据。</a:t>
            </a:r>
          </a:p>
        </p:txBody>
      </p:sp>
      <p:sp>
        <p:nvSpPr>
          <p:cNvPr id="19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7EF3C8F3-046D-424B-B1CC-EBF271B21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047875"/>
            <a:ext cx="3952875" cy="23812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20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2D0C0EBB-BD4A-42E0-8A87-03BFAD315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249" y="3331369"/>
            <a:ext cx="434816" cy="6215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6E0A26A6-4B89-4F40-BF0F-A28FF9B57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7238" y="2958465"/>
            <a:ext cx="434816" cy="9944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91C92D9C-2215-45AE-A6E7-9D910AD5B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9226" y="3179445"/>
            <a:ext cx="434816" cy="773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F3E26D01-84DE-4419-8F1A-F667EB05F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1215" y="2792730"/>
            <a:ext cx="434816" cy="1160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79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B9030C53-F4B1-475F-9A59-731AA5480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507605" y="3952875"/>
            <a:ext cx="284607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34155"/>
            </a:solidFill>
            <a:prstDash val="solid"/>
          </a:ln>
        </p:spPr>
      </p:sp>
      <p:sp>
        <p:nvSpPr>
          <p:cNvPr id="25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C653A3D5-78B6-4DC6-A7A0-3ECBDDD73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2158" y="2381250"/>
            <a:ext cx="126492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34155"/>
                </a:solidFill>
              </a:defRPr>
            </a:pPr>
            <a:r>
              <a:rPr sz="1200" b="1">
                <a:solidFill>
                  <a:srgbClr val="334155"/>
                </a:solidFill>
              </a:rPr>
              <a:t>比较 · 分布 · 趋势</a:t>
            </a:r>
          </a:p>
        </p:txBody>
      </p:sp>
    </p:spTree>
    <p:extLst>
      <p:ext uri="{BB962C8B-B14F-4D97-AF65-F5344CB8AC3E}">
        <p14:creationId xmlns:p14="http://schemas.microsoft.com/office/powerpoint/2010/main" val="2062508807"/>
      </p:ext>
    </p:extLst>
  </p:cSld>
</p:sld>
</file>

<file path=ppt/slides/slide12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abac471da7c74700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F7F5B0BC-B7EB-4C16-80FF-B31B9E41E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A891298A-AC92-4137-A8B9-07D9FE18B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63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分层练习：基础与变式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04F58484-D305-4F3E-A047-2886A18FA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5207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4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58DC2AF0-6F9D-49FE-BC03-65A84B3D3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14500"/>
            <a:ext cx="482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Q5 · 基础辨析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1E4C18F6-B318-4F10-A89C-909DC5B8F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59000"/>
            <a:ext cx="4826000" cy="120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基础辨析：判断“使用‘条形图’时不需要检查条件，只要结论看起来合理即可”，并说明理由。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3A623867-5F02-49B2-82ED-D82399356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3000" y="1524000"/>
            <a:ext cx="5207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4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56E51F60-7732-4E69-B0C7-F36B8434A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500" y="1714500"/>
            <a:ext cx="482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Q6 · 变式练习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2FD2F825-0F25-46EE-990B-D9ECC840A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500" y="2159000"/>
            <a:ext cx="4826000" cy="120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变式练习：把Q4的一个条件、数据或表示方式作合理改变，仍用“根据数据特点选择并绘制统计图”解决，并写出检验。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8C892379-C798-4E3B-9FBA-D28EC473F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同桌互查 · 说清依据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FF4DCF0D-67B0-4B4E-8973-FE1251DE1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381500"/>
            <a:ext cx="6096000" cy="1524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D1FAE5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FD128C0B-BFF7-446B-84DF-CA22596E5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546600"/>
            <a:ext cx="5715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① 条件是否完整；② 方法是否匹配；③ 过程是否规范；④ 是否检验。</a:t>
            </a:r>
          </a:p>
        </p:txBody>
      </p:sp>
      <p:sp>
        <p:nvSpPr>
          <p:cNvPr id="14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3A2F487E-70AF-41F4-8035-BDDF941BB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524375"/>
            <a:ext cx="3857625" cy="1285875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5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6580922F-48E0-4F58-BEF9-919E0A637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6366" y="5217462"/>
            <a:ext cx="424339" cy="3356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33576D31-ADA1-4111-95EE-8F98EB8EF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2163" y="5016094"/>
            <a:ext cx="424339" cy="5369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6CB6873D-572A-49A4-AB49-6373C9632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7959" y="5135423"/>
            <a:ext cx="424339" cy="4176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6755C919-A97C-4870-9C38-9DF01846D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3755" y="4926597"/>
            <a:ext cx="424339" cy="626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79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55C338CE-97C3-4583-A68D-A0BBB702C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213485" y="5553075"/>
            <a:ext cx="277749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155212485"/>
      </p:ext>
    </p:extLst>
  </p:cSld>
</p:sld>
</file>

<file path=ppt/slides/slide13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73dfb4fe8e6a480d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14D118DA-6A39-4395-8739-45F17D964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FF7E5BD0-71F8-4321-8C30-46484B0D3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变式提升：迁移方法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8E5B9E4C-DD9C-4C16-B1DF-28A76807F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216946D6-71BC-4F76-9907-EE72CEACB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改变条件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变式练习：把Q4的一个条件、数据或表示方式作合理改变，仍用“根据数据特点选择并绘制统计图”解决，并写出检验。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59A87179-443B-46AC-875E-B4C62ED55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8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B3D19FF1-79DA-4167-83B0-A0C07CC73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5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保持方法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说明改变后为什么仍能使用原方法，不能只照抄原结果。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4B221CC4-2AA7-4EE4-9B4F-52A64C5E5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4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3D9A2A5B-47D2-411D-9B1F-EEB968705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评价标准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答案不唯一。评价要点：改变后的条件完整；方法仍属于“根据数据特点选择并绘制统计图”；过程正确；检验与新条件一致。</a:t>
            </a: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7E827468-A35F-4966-9EC6-46D06FC14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0"/>
            <a:ext cx="4572000" cy="63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图示：把新条件与原方法逐项对应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95D11F65-9C34-4F9D-8FED-ED2AF90F1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0" y="3937000"/>
            <a:ext cx="5842000" cy="2413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8000"/>
            </a:srgbClr>
          </a:solidFill>
          <a:ln xmlns:a="http://schemas.openxmlformats.org/drawingml/2006/main" w="12700" cmpd="sng">
            <a:solidFill>
              <a:srgbClr val="10B981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4215857B-EACC-4DC8-AA59-7141D7540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8500" y="4127500"/>
            <a:ext cx="5588000" cy="215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6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🔍 方法迁移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提取条件 → 选择概念或方法 → 规范求解/作图/整理 → 写出依据 → 回到题意检验。</a:t>
            </a:r>
          </a:p>
        </p:txBody>
      </p:sp>
      <p:sp>
        <p:nvSpPr>
          <p:cNvPr id="14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D5B625B3-A50A-4F09-8A08-67C73F710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171950"/>
            <a:ext cx="4143375" cy="1381125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5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C3836136-2506-42CD-826D-3D6999FDD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3514" y="4916376"/>
            <a:ext cx="455771" cy="36047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D9DA6ACB-0401-4815-B31C-6DAC823BE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7888" y="4700092"/>
            <a:ext cx="455771" cy="5767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14F32922-C6ED-454E-9D91-9BFC45E9E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2261" y="4828261"/>
            <a:ext cx="455771" cy="44858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7DD9D8CB-18F6-4738-9732-EE8F8185B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6635" y="4603966"/>
            <a:ext cx="455771" cy="6728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79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3A2DB92E-398C-44C3-9059-309B72E60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236345" y="5276850"/>
            <a:ext cx="298323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581353686"/>
      </p:ext>
    </p:extLst>
  </p:cSld>
</p:sld>
</file>

<file path=ppt/slides/slide14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fa7864985174476f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F7F5B0BC-B7EB-4C16-80FF-B31B9E41E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A891298A-AC92-4137-A8B9-07D9FE18B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63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当堂检测：独立完成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04F58484-D305-4F3E-A047-2886A18FA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5207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4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58DC2AF0-6F9D-49FE-BC03-65A84B3D3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14500"/>
            <a:ext cx="482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Q7 · 纠错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1E4C18F6-B318-4F10-A89C-909DC5B8F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59000"/>
            <a:ext cx="4826000" cy="120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纠错：“研究条形图与扇形图时，只记结论，不必区分条件、过程和依据。”这句话对吗？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3A623867-5F02-49B2-82ED-D82399356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3000" y="1524000"/>
            <a:ext cx="5207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4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56E51F60-7732-4E69-B0C7-F36B8434A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500" y="1714500"/>
            <a:ext cx="482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Q8 · 检测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2FD2F825-0F25-46EE-990B-D9ECC840A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500" y="2159000"/>
            <a:ext cx="4826000" cy="120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当堂检测：比较各类别数量与展示各部分占总体比例，分别更适合什么图？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8C892379-C798-4E3B-9FBA-D28EC473F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自我检查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FF4DCF0D-67B0-4B4E-8973-FE1251DE1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381500"/>
            <a:ext cx="6096000" cy="1524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D1FAE5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FD128C0B-BFF7-446B-84DF-CA22596E5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546600"/>
            <a:ext cx="5715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① 条件对象是否找全？</a:t>
            </a:r>
          </a:p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② 方法与依据是否匹配？</a:t>
            </a:r>
          </a:p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③ 结果是否检验？</a:t>
            </a:r>
          </a:p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④ 书写和单位是否规范？</a:t>
            </a:r>
          </a:p>
        </p:txBody>
      </p:sp>
      <p:sp>
        <p:nvSpPr>
          <p:cNvPr id="14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814F3C83-1F04-41BF-9C32-119C6EBBD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524375"/>
            <a:ext cx="3857625" cy="1285875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5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281C0A39-9D17-4C12-81FC-1534EAC30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6366" y="5217462"/>
            <a:ext cx="424339" cy="3356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F442F180-B97B-4B44-A4DD-C155DF659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2163" y="5016094"/>
            <a:ext cx="424339" cy="5369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0E231D2A-FC5C-464E-A823-297E29A95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7959" y="5135423"/>
            <a:ext cx="424339" cy="4176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30E3EB23-90C5-448A-9FCA-22CB38E35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3755" y="4926597"/>
            <a:ext cx="424339" cy="626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79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C3C8E9B8-F063-4255-A20D-0101B2395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213485" y="5553075"/>
            <a:ext cx="277749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155212485"/>
      </p:ext>
    </p:extLst>
  </p:cSld>
</p:sld>
</file>

<file path=ppt/slides/slide15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953f3d4996ee4c31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B8B25486-05ED-464E-B78C-65A73EF14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cmpd="sng">
            <a:solidFill>
              <a:srgbClr val="E6CFCF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DDD7D9C9-EED2-40F9-85CB-3E806CA8D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课堂小结与分层作业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F98A90FC-C7B2-42DD-ADC0-B34CD9997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1000"/>
            <a:ext cx="5334000" cy="1968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cmpd="sng">
            <a:solidFill>
              <a:srgbClr val="E6CFCF">
                <a:alpha val="6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54893008-7C6A-404C-B71F-2ED329349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1841500"/>
            <a:ext cx="482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课堂小结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C1F41DEA-4E6B-4FED-A889-43C984E40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2311400"/>
            <a:ext cx="4826000" cy="120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小结参考：本课围绕“条形图与扇形图”，掌握条形图、扇形图、圆心角计算、统计图选择，并能运用根据数据特点选择并绘制统计图。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A5564938-2BB8-427A-97F0-660CAD8C0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73500"/>
            <a:ext cx="5334000" cy="2349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cmpd="sng">
            <a:solidFill>
              <a:srgbClr val="E6CFCF">
                <a:alpha val="6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31AA8B2B-395F-4BAC-8BB5-D1E9B16F4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4064000"/>
            <a:ext cx="482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分层作业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F19059F7-3EE3-41D2-96D5-E0872D813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4533900"/>
            <a:ext cx="4826000" cy="158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基础：完成教材第162页练习中的基础题并订正Q5、Q7 提升：当堂检测：比较各类别数量与展示各部分占总体比例，分别更适合什么图？ 自拟：围绕本课编一道题并交换解答。</a:t>
            </a: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D220E1E6-1EA6-424A-AE34-3C0F78CD1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254500"/>
            <a:ext cx="5080000" cy="1841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8000"/>
            </a:srgbClr>
          </a:solidFill>
          <a:ln xmlns:a="http://schemas.openxmlformats.org/drawingml/2006/main" w="12700" cmpd="sng">
            <a:solidFill>
              <a:srgbClr val="10B981">
                <a:alpha val="4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9CEE388D-60C1-41A8-83EE-82D300864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445000"/>
            <a:ext cx="4699000" cy="158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5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💡 课后自评</a:t>
            </a:r>
          </a:p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5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我能否：①准确表达条形图；②运用根据数据特点选择并绘制统计图；③写清依据并检验？选择“会 / 需复习 / 需帮助”。</a:t>
            </a:r>
          </a:p>
        </p:txBody>
      </p:sp>
      <p:sp>
        <p:nvSpPr>
          <p:cNvPr id="13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6E7EFC3E-FC72-4568-B7DB-F2DDFF173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333625"/>
            <a:ext cx="4333875" cy="1285875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4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2268C7C5-1FAA-4403-BEFA-197B5A5FF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3779" y="3026712"/>
            <a:ext cx="476726" cy="3356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E7DC108C-E327-43CE-A081-88F29B8AC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0538" y="2825344"/>
            <a:ext cx="476726" cy="5369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14974FF1-7784-443A-970F-AB55DA663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7296" y="2944673"/>
            <a:ext cx="476726" cy="4176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4E155769-7C2D-4285-B6C2-6487C4F53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4055" y="2735847"/>
            <a:ext cx="476726" cy="626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79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52B4CAFB-13F5-471A-80B8-F2DB969D2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157085" y="3362325"/>
            <a:ext cx="312039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581102124"/>
      </p:ext>
    </p:extLst>
  </p:cSld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2026-08-02T17:50:14.2460000Z</dcterms:created>
  <dcterms:modified xsi:type="dcterms:W3CDTF">2026-08-02T17:50:14.2460000Z</dcterms:modified>
</coreProperties>
</file>