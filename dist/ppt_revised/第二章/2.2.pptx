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同学们好！今天我们将一起探索有理数家族中的两位新成员——乘法和除法。它们就像一对好朋友，能帮助我们解决很多生活中的问题。准备好了吗？让我们一起开启今天的数学之旅吧！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这节课的内容非常重要，是我们后续学习更复杂运算的基础。大家看这五个目标，就像我们游戏里的五个关卡，每掌握一个，我们就离成功更近一步。让我们带着这些目标，开始今天的学习吧！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，想象一下，如果你去爬山，越往上走感觉越冷。这个生活现象里就藏着数学问题。我们用负数表示温度下降，那么‘下降6℃’就是-6℃。现在我们要计算登高3km后的总变化，就是把这个变化量重复3次，也就是乘法。那么，一个负数乘以一个正数，结果是多少呢？让我们带着这个问题，一起去寻找答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，有理数乘法就像给数字‘定方向’和‘量大小’。‘同号得正，异号得负’是定方向，告诉我们结果是正数还是负数。‘绝对值相乘’是量大小，告诉我们结果的数值是多少。记住这个口诀，我们就能解决所有乘法问题了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看这几个例子。第一题，正数乘负数，异号得负，绝对值相乘8×1=8，所以结果是-8。第二题，两个负数相乘，同号得正，1/2乘以2等于1，所以结果是+1，也就是1。第三题也是一样，两个负数相乘得正数，分子乘分子，分母乘分母，得到10/21。大家都明白了吗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倒数就像是数字世界里的‘逆’行者，它们俩相乘会回到‘原点’1。大家要记住，求一个数的倒数，就是用1除以这个数。特别注意，0是没有倒数的，因为它太特殊了，谁跟它相乘都得0。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这些运算律就是我们计算时的‘快捷键’，能让复杂的计算变得简单。比如分配律，就像一个负责任的班长，把任务公平地分配给每个同学。灵活运用它们，你的计算速度会大大提高！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同学们看，这道题如果按部就班地先算括号里，需要通分，比较麻烦。但如果我们请出‘分配律’这个帮手，把12分别‘分配’给括号里的每一个数，计算就变得非常简单。这就是运算律的魅力！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在计算时一定要擦亮眼睛！多个数相乘时，先不要急着算数值，先数一数有几个‘负号’，偶数个负号结果就是正数，奇数个就是负数。另外，混合运算一定要记住‘先乘除，后加减’的顺序，不然就会掉进‘陷阱’里哦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除法其实是乘法的‘变身’。除以一个数，就等于乘以它的‘逆行者’——倒数。所以，我们可以把所有的除法问题，都变成我们熟悉的乘法问题来解决。比如计算 8 ÷ (-4)，就等于 8 × (-1/4)，结果是-2。是不是很神奇？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这两个例子。第一题，负数除以正数，异号得负，36除以9等于4，所以结果是-4。第二题，两个负数相除，同号得正，然后把除法变成乘法，乘以除数的倒数，也就是乘以5/3，约分后得到4/5。大家掌握这个‘变身’技巧了吗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理论学习结束，现在是大家展示身手的时候了！我们先来几题快速抢答，看看谁反应最快。然后是几道稍复杂的计算题，大家可以动笔在练习本上算一算，注意运算顺序和符号哦！做完的同学可以举手示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节课下来，我们学习了很多新知识。这张知识地图帮助我们把今天学的内容串联起来。大家可以看到，乘法和除法是紧密相连的，运算律是它们共同的好帮手。希望这张图能帮助大家更好地理解和记忆今天的知识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数学课就要结束了。我们不仅学会了怎么算，还学会了怎么算得更快。最后，老师留给大家一个思考题：一个数一定比它的2倍小吗？大家可以举一些例子想一想。带着这个问题，我们结束今天的课程，同学们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sv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3.svg"/><Relationship Id="rId4" Type="http://schemas.openxmlformats.org/officeDocument/2006/relationships/image" Target="../media/image2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有理数的乘法与除法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064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探索数字世界的奥秘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308600"/>
            <a:ext cx="6604000" cy="7112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06500" y="54737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altLang="zh-CN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 </a:t>
            </a:r>
            <a:r>
              <a:rPr lang="zh-CN" alt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七年级数学上册 </a:t>
            </a:r>
            <a:r>
              <a:rPr lang="en-US" altLang="zh-CN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 </a:t>
            </a:r>
            <a:r>
              <a:rPr lang="zh-CN" alt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核心素养课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541000" y="5207000"/>
            <a:ext cx="1270000" cy="1270000"/>
          </a:xfrm>
          <a:prstGeom prst="ellipse">
            <a:avLst/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本节课，我们要掌握什么？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32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006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有理数乘法法则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深入理解法则核心逻辑，熟练掌握正负数及零的乘法运算规则，实现快速准确计算。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177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032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16500" y="2006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倒数的概念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2540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明晰倒数的数学定义，掌握求倒数的方法，理解互为倒数的两数乘积为1的核心性质。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01000" y="1778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032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636000" y="2006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 运算律的应用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255000" y="2540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灵活运用乘法交换律、结合律与分配律，对复杂的有理数乘法算式进行简便运算。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275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381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97000" y="43561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 有理数除法法则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48895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掌握“除以一个不为0的数，等于乘这个数的倒数”的法则，能够准确进行有理数的除法运算，注意运算中的符号判定。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159500" y="41275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4381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794500" y="43561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05 四则混合运算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13500" y="48895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学会遵循“先乘除，后加减，有括号先算括号内”的运算顺序，熟练处理有理数的加减乘除混合运算，提升综合运算能力。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生活中的数学——登山与气温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142" b="142"/>
          <a:stretch>
            <a:fillRect/>
          </a:stretch>
        </p:blipFill>
        <p:spPr>
          <a:xfrm>
            <a:off x="762000" y="1651000"/>
            <a:ext cx="4318000" cy="2413000"/>
          </a:xfrm>
          <a:prstGeom prst="roundRect">
            <a:avLst>
              <a:gd name="adj" fmla="val 631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318000"/>
            <a:ext cx="4318000" cy="1651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4508500"/>
            <a:ext cx="393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在生活中，海拔每升高100米，气温约下降0.6℃。这种“高度增加，温度降低”的相反变化，是我们理解负数运算的绝佳现实模型，也是数学与生活紧密联系的生动体现。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334000" y="1651000"/>
            <a:ext cx="6096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4500" y="1841500"/>
            <a:ext cx="279400" cy="279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905500" y="1816100"/>
            <a:ext cx="546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真实情境：登山遇冷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524500" y="2222500"/>
            <a:ext cx="565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登山队攀登雪山，经验表明：每登高1km，气温的变化量为 -6℃。如果队员们向上攀登了3km，那么气温会发生怎样的变化？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334000" y="3048000"/>
            <a:ext cx="6096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4500" y="32385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905500" y="3213100"/>
            <a:ext cx="546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数学建模：化繁为简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524500" y="3619500"/>
            <a:ext cx="565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温度变化量：每km下降6℃，记为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-6℃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登高3km：即经历3次这样的变化，相当于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3个-6相加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转化算式：(-6) + (-6) + (-6) = (-6) × 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334000" y="4762500"/>
            <a:ext cx="60960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24500" y="4953000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905500" y="4927600"/>
            <a:ext cx="546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03 本课聚焦：有理数的乘法法则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524500" y="5334000"/>
            <a:ext cx="565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从具体的生活情境出发，我们将共同探究：如何计算“负数与正数相乘”？这将是我们今天掌握有理数乘法运算的关键钥匙。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核心概念讲解（一）——有理数乘法法则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65200" y="2159000"/>
            <a:ext cx="29718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法则核心定义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4946">
            <a:off x="965214" y="272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65200" y="2921000"/>
            <a:ext cx="29718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符号判定：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两数相乘，同号得正，异号得负。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数值计算：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积的绝对值等于各乘数绝对值的积。</a:t>
            </a:r>
          </a:p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特殊规则：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任何数与 0 相乘，结果都为 0。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394200" y="1905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597400" y="2159000"/>
            <a:ext cx="29718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符号规律速查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946">
            <a:off x="4597414" y="272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4597400" y="2921000"/>
            <a:ext cx="29718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699000" y="3022600"/>
            <a:ext cx="2768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同号得正：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(+) × (+) = (+)；(-) × (-) = (+)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97400" y="3810000"/>
            <a:ext cx="2971800" cy="762000"/>
          </a:xfrm>
          <a:prstGeom prst="roundRect">
            <a:avLst>
              <a:gd name="adj" fmla="val 0"/>
            </a:avLst>
          </a:prstGeom>
          <a:solidFill>
            <a:srgbClr val="EF444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699000" y="3911600"/>
            <a:ext cx="2768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异号得负：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(+) × (-) = (-)；(-) × (+) = (-)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97400" y="4699000"/>
            <a:ext cx="2971800" cy="508000"/>
          </a:xfrm>
          <a:prstGeom prst="roundRect">
            <a:avLst>
              <a:gd name="adj" fmla="val 0"/>
            </a:avLst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699000" y="4800600"/>
            <a:ext cx="2768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零乘法则：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 × 0 = 0 (a为任意有理数)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26400" y="1905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229600" y="2159000"/>
            <a:ext cx="29718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 标准解题步骤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946">
            <a:off x="8229614" y="272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0" y="2946400"/>
            <a:ext cx="279400" cy="279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585200" y="2921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第一步：定符号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依据“同正异负”法则，先判断结果的正负性，这是关键一步。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9600" y="3835400"/>
            <a:ext cx="279400" cy="279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585200" y="3810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第二步：算数值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将两个数的绝对值进行相乘，得到结果的数值部分。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8229600" y="4826000"/>
            <a:ext cx="2971800" cy="508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318500" y="49276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💡 口诀：先定符号，后算值，顺序不能乱！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5778500"/>
            <a:ext cx="10642600" cy="5842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952500" y="5867400"/>
            <a:ext cx="10388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sz="1400" b="0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有理数乘法的核心在于“先定性（定符号），后定量（算绝对值）”，掌握这个逻辑顺序，能有效避免符号错误。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例题精讲（一）——学以致用，小试牛刀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782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2159000"/>
            <a:ext cx="312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8 × (-1)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566">
            <a:off x="952513" y="2914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889000" y="3048000"/>
            <a:ext cx="31242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思路分析：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异号两数相乘，结果为负；再将两数的绝对值相乘。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4191000"/>
            <a:ext cx="3124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计算过程：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-(8 × 1) =</a:t>
            </a: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-8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1905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06900" y="1905000"/>
            <a:ext cx="33782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533900" y="2159000"/>
            <a:ext cx="312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(-1/2) × (-2)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566">
            <a:off x="4597413" y="2914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533900" y="3048000"/>
            <a:ext cx="31242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思路分析：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同号两数相乘，结果为正；分子分母可直接约分简化计算。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33900" y="4191000"/>
            <a:ext cx="3124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计算过程：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+(1/2 × 2) =</a:t>
            </a: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51800" y="1905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51800" y="1905000"/>
            <a:ext cx="33782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178800" y="2159000"/>
            <a:ext cx="3124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(-2/3) × (-5/7)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566">
            <a:off x="8242313" y="29146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178800" y="3048000"/>
            <a:ext cx="31242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思路分析：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同号得正，分数相乘遵循“分子乘分子，分母乘分母”的法则。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78800" y="4191000"/>
            <a:ext cx="3124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计算过程：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+(2×5 / 3×7) =</a:t>
            </a: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10/21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461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cap="flat" cmpd="sng">
            <a:solidFill>
              <a:srgbClr val="00A06B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52500" y="55880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核心口诀：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两数相乘，同号得正，异号得负，并把绝对值相乘。任何数与0相乘，结果都为0。</a:t>
            </a:r>
            <a:endParaRPr lang="en-US" sz="110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DABB9D7-DC74-1A78-70AB-AC4214353ADE}"/>
              </a:ext>
            </a:extLst>
          </p:cNvPr>
          <p:cNvSpPr txBox="1"/>
          <p:nvPr/>
        </p:nvSpPr>
        <p:spPr>
          <a:xfrm>
            <a:off x="762000" y="1524000"/>
            <a:ext cx="5842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400"/>
              <a:t>01  8×(-1)
02  (-1/2)×(-2)
03  (-2/3)×(-5/7)</a:t>
            </a:r>
            <a:endParaRPr lang="zh-CN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核心概念讲解（二）——神奇的“逆”行者：倒数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03400"/>
            <a:ext cx="1028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乘积是 1 的两个数互为倒数。即若 a × b = 1，则 a 与 b 互为倒数。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845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89000" y="3149600"/>
            <a:ext cx="317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❶ 负分数的倒数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例：-1/2 的倒数是 -2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验证：(-1/2) × (-2) = 1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规律：分子分母颠倒，符号不变</a:t>
            </a:r>
          </a:p>
        </p:txBody>
      </p:sp>
      <p:sp>
        <p:nvSpPr>
          <p:cNvPr id="8" name="AutoShape 8"/>
          <p:cNvSpPr/>
          <p:nvPr/>
        </p:nvSpPr>
        <p:spPr>
          <a:xfrm>
            <a:off x="4381500" y="29845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508500" y="3149600"/>
            <a:ext cx="317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❷ 正整数的倒数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例：3 的倒数是 1/3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验证：3 × (1/3) = 1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规律：整数 n 的倒数为 1/n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001000" y="29845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128000" y="3149600"/>
            <a:ext cx="317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❸ 负整数的倒数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例：-5 的倒数是 -1/5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验证：(-5) × (-1/5) = 1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规律：负整数的倒数为负分数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4953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51054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33500" y="5080000"/>
            <a:ext cx="4508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思考：0 有倒数吗？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</a:t>
            </a:r>
            <a:r>
              <a:rPr lang="en-US" sz="14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没有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。因为任何数与 0 相乘都得 0，无法得到乘积为 1 的结果，所以 0 是唯一没有倒数的数。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159500" y="4953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000" y="51054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731000" y="5080000"/>
            <a:ext cx="4508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思考：1 和 -1 的倒数是几？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</a:t>
            </a:r>
            <a:r>
              <a:rPr lang="en-US" sz="14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它们本身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。因为 1 × 1 = 1，(-1) × (-1) = 1，所以它们的倒数是自身。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运算的“快捷键”：乘法运算律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8161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乘法交换律：a × b = b × a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606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两数相乘，交换因数位置，积不变。通过调整因数顺序，可优先计算易得出整数的部分，简化运算过程。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2385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429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4036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乘法结合律：(a × b) × c = a × (b × c)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38481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三数相乘，可任意结合先算，积不变。常用于将能凑成整十、整百的数优先结合，减少计算量。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826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016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49911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乘法分配律：a × (b + c) = a × b + a × c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54356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一数乘两数和，等于分别相乘再相加。它是去括号、因式分解及简化复杂代数运算的核心工具。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rcRect b="5641"/>
          <a:stretch>
            <a:fillRect/>
          </a:stretch>
        </p:blipFill>
        <p:spPr>
          <a:xfrm>
            <a:off x="6477000" y="1651000"/>
            <a:ext cx="4953000" cy="2921000"/>
          </a:xfrm>
          <a:prstGeom prst="roundRect">
            <a:avLst>
              <a:gd name="adj" fmla="val 5217"/>
            </a:avLst>
          </a:prstGeom>
          <a:noFill/>
          <a:ln w="254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477000" y="4826000"/>
            <a:ext cx="4953000" cy="1524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667500" y="49784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核心点睛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这些运算律是数学计算的“加速器”，在有理数范围内依然完全成立。熟练掌握它们，不仅能提升运算效率，更是后续学习代数变形、方程求解的重要基石。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例题精讲（二）——巧用运算律，简便计算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587500"/>
            <a:ext cx="1028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例2：</a:t>
            </a: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尝试用两种方法计算下列算式，体会简便运算的优势：</a:t>
            </a:r>
            <a:r>
              <a:rPr lang="en-US" sz="2000" b="0" i="0" u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(1/4 + 1/6 - 1/2) × 12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765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F3F4F6">
              <a:alpha val="75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476500"/>
            <a:ext cx="5207000" cy="482600"/>
          </a:xfrm>
          <a:prstGeom prst="roundRect">
            <a:avLst>
              <a:gd name="adj" fmla="val 0"/>
            </a:avLst>
          </a:prstGeom>
          <a:solidFill>
            <a:srgbClr val="E5E7EB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25654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01 常规思路：先算括号内（通分法）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073400"/>
            <a:ext cx="482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① 通分计算括号内：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1/4 + 1/6 - 1/2 = 3/12 + 2/12 - 6/12 =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-1/12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② 计算乘法得出结果：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(-1/12) × 12 =</a:t>
            </a:r>
            <a:r>
              <a:rPr lang="en-US" sz="14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-1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4765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ECFDF5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23000" y="2476500"/>
            <a:ext cx="5207000" cy="4826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13500" y="25654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02 简便运算：乘法分配律（推荐）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13500" y="3073400"/>
            <a:ext cx="482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① 去括号，分别相乘（凑整）：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(1/4)×12 + (1/6)×12 - (1/2)×12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② 口算得出结果：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 + 2 - 6 =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-1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080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762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79500" y="5207000"/>
            <a:ext cx="1016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核心启示：</a:t>
            </a:r>
            <a:r>
              <a:rPr lang="en-US" sz="15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当括号外的乘数恰好是括号内各分母的</a:t>
            </a: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公倍数</a:t>
            </a:r>
            <a:r>
              <a:rPr lang="en-US" sz="15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时，优先使用</a:t>
            </a: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乘法分配律</a:t>
            </a:r>
            <a:r>
              <a:rPr lang="en-US" sz="15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能有效避免复杂的通分过程，将分数运算转化为简单的整数加减，既快捷又能减少计算错误。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易错点提醒——小心！这里有“陷阱”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1276" b="1276"/>
          <a:stretch>
            <a:fillRect/>
          </a:stretch>
        </p:blipFill>
        <p:spPr>
          <a:xfrm>
            <a:off x="762000" y="2032000"/>
            <a:ext cx="1905000" cy="330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461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警惕计算误区</a:t>
            </a:r>
            <a:b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避开丢分“深坑”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302000" y="1778000"/>
            <a:ext cx="8128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56000" y="2006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000500" y="1968500"/>
            <a:ext cx="711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陷阱一：多个有理数相乘，符号判断失误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556000" y="2476500"/>
            <a:ext cx="7620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规则：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负因数个数为</a:t>
            </a:r>
            <a:r>
              <a:rPr lang="en-US" sz="1400" b="0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偶数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时积为正，</a:t>
            </a:r>
            <a:r>
              <a:rPr lang="en-US" sz="1400" b="0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奇数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时积为负。切勿漏数负号！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① (-2)×(-3)×(-0.5)×(-7)（4个负号）→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结果为正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② 2×(-3)×(-0.5)×(-7)（3个负号）→</a:t>
            </a:r>
            <a:r>
              <a:rPr lang="en-US" sz="14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结果为负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302000" y="4191000"/>
            <a:ext cx="8128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56000" y="4419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000500" y="4381500"/>
            <a:ext cx="711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陷阱二：混合运算中，运算顺序混乱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556000" y="4889500"/>
            <a:ext cx="7620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规则：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先算乘除，后算加减；有括号先算括号内，同级运算从左向右。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计算 -8 + 4 ÷ (-2)，应先算除法得 -2，再算加法：-8 + (-2) =</a:t>
            </a: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-10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（切忌错误地先算 -8+4，这是最容易踩的坑！）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核心概念讲解（四）——除法的“变身术”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6764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▍核心法则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除以一个不等于0的数，等于乘这个数的倒数。这是实现除法向乘法转化的关键桥梁。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477000" y="1739900"/>
            <a:ext cx="4826000" cy="965200"/>
          </a:xfrm>
          <a:prstGeom prst="roundRect">
            <a:avLst>
              <a:gd name="adj" fmla="val 0"/>
            </a:avLst>
          </a:prstGeom>
          <a:solidFill>
            <a:srgbClr val="10B981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604000" y="1905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a ÷ b = a × (1/b) (b ≠ 0)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492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33500" y="3454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符号判定法则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3937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两数相除，同号得正，异号得负。先确定结果的符号属性，再进行绝对值的计算，能有效避免符号错误。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3302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3492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953000" y="3454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绝对值运算法则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3937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商的绝对值等于被除数的绝对值除以除数的绝对值。将符号与数值分离计算，是处理复杂除法运算的有效策略。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3302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3492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572500" y="3454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特殊零值法则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91500" y="3937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0除以任何一个不等于0的数，结果都为0。切记：0不能作为除数，这是数学运算的基本红线。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5880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52500" y="5715000"/>
            <a:ext cx="1028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本质洞察：</a:t>
            </a:r>
            <a:r>
              <a:rPr lang="en-US" sz="1500" b="0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除法运算并非独立存在，它本质上是乘法的“逆运算”。掌握了“乘倒数”的转化思想，就掌握了解决所有除法问题的金钥匙。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例题精讲（三）——除法也不难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整数除法基础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30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计算：(-36) ÷ 9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3295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530600"/>
            <a:ext cx="228600" cy="228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33500" y="3492500"/>
            <a:ext cx="444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分析：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异号两数相除，结果为负。先确定结果的符号，再计算两数绝对值的商。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508500"/>
            <a:ext cx="4699000" cy="635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143000" y="46736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</a:t>
            </a:r>
            <a:r>
              <a:rPr lang="en-US" sz="15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-(36 ÷ 9) =</a:t>
            </a: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-4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905000"/>
            <a:ext cx="5207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77000" y="2159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分数除法进阶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2730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计算：(-12/25) ÷ (-3/5)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291">
            <a:off x="6477009" y="3295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3530600"/>
            <a:ext cx="228600" cy="228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794500" y="3492500"/>
            <a:ext cx="444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分析：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同号两数相除得正。将除法转化为乘法（乘以除数的倒数），再进行约分。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4508500"/>
            <a:ext cx="4699000" cy="635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604000" y="46736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</a:t>
            </a:r>
            <a:r>
              <a:rPr lang="en-US" sz="1500" b="0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(12/25) × (5/3) =</a:t>
            </a: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4/5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651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892800"/>
            <a:ext cx="279400" cy="279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460500" y="5816600"/>
            <a:ext cx="990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核心口诀：</a:t>
            </a:r>
            <a:r>
              <a:rPr lang="en-US" sz="1500" b="0" i="0" u="none" strike="noStrike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同号得正，异号得负，绝对值相除；除以一个数，等于乘以这个数的倒数。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课堂练习——大显身手，挑战自我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32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006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快速抢答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730500"/>
            <a:ext cx="4699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01.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6 × (-9) = ? （基础符号认知）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340100"/>
            <a:ext cx="4699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02.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(-4) × 6 = ? （异号相乘法则）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949700"/>
            <a:ext cx="4699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03.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(-6) × (-1) = ? （同号相乘法则）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559300"/>
            <a:ext cx="4699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04.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(-18) ÷ 6 = ? （除法符号法则）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5168900"/>
            <a:ext cx="4699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05.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(-63) ÷ (-7) = ? （商的符号判断）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778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032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858000" y="2006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计算小能手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291">
            <a:off x="6477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477000" y="2730500"/>
            <a:ext cx="4699000" cy="9398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604000" y="2819400"/>
            <a:ext cx="4445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(-85) × (-25) × (-4)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💡 提示：运用乘法结合律，优先计算能凑整的部分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477000" y="3759200"/>
            <a:ext cx="4699000" cy="9398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604000" y="3848100"/>
            <a:ext cx="4445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-8 + 4 ÷ (-2)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注意：遵循“先乘除，后加减”的运算顺序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477000" y="4787900"/>
            <a:ext cx="4699000" cy="9398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604000" y="4876800"/>
            <a:ext cx="4445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03. (-7) × (-5) - 90 ÷ (-15)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⚡ 挑战：注意混合运算中的符号变化与优先级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知识梳理——本节课知识地图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262" b="262"/>
          <a:stretch>
            <a:fillRect/>
          </a:stretch>
        </p:blipFill>
        <p:spPr>
          <a:xfrm>
            <a:off x="762000" y="1778000"/>
            <a:ext cx="3810000" cy="2921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9530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将抽象的数学规则转化为可视化的思维导图，能帮助我们更直观地理解乘除法之间的逻辑关联，构建清晰的知识网络。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53000" y="1778000"/>
            <a:ext cx="64770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07000" y="20066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715000" y="19812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有理数乘法 · 法则与规律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207000" y="2413000"/>
            <a:ext cx="584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核心法则：同号得正，异号得负，绝对值相乘。任何数与0相乘都得0；乘积为1的两个数互为倒数。熟练运用交换律、结合律与分配律可简化运算。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953000" y="3429000"/>
            <a:ext cx="64770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07000" y="36576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715000" y="36322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有理数除法 · 转化与判定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207000" y="4064000"/>
            <a:ext cx="584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运算本质：除以一个不为0的数，等于乘这个数的倒数。符号判定规则与乘法完全一致。注意：0除以任何非0数结果为0，且除数不能为0。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953000" y="5080000"/>
            <a:ext cx="6477000" cy="1270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7000" y="53086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715000" y="52832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 混合运算 · 顺序与规范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207000" y="5715000"/>
            <a:ext cx="584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遵循“先乘除，后加减”的运算顺序；若有括号，先算括号内的；同级运算则按照从左到右的顺序依次进行。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课堂总结与拓展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65200" y="2032000"/>
            <a:ext cx="2971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课堂总结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65200" y="2603500"/>
            <a:ext cx="29718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掌握有理数乘除法则，精准判断结果符号并计算绝对值；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理解倒数概念，灵活运用运算律简化复杂计算；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熟练遵循“先乘除后加减，括号优先”的混合运算顺序。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06900" y="1778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610100" y="2032000"/>
            <a:ext cx="2971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 拓展思考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610100" y="2603500"/>
            <a:ext cx="29718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思考：“一个非零有理数一定小于它的2倍吗？”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结论：不一定。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反例：数为 -1 时，2倍是 -2，但 -1 &gt; -2。</a:t>
            </a:r>
            <a:b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规律：该结论仅适用于正数，负数不成立。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51800" y="1778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255000" y="2032000"/>
            <a:ext cx="2971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 课后作业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255000" y="2603500"/>
            <a:ext cx="29718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完成教材习题 </a:t>
            </a:r>
            <a:r>
              <a:rPr lang="en-US" altLang="zh-CN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2.2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b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altLang="zh-CN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重点完成第 </a:t>
            </a:r>
            <a:r>
              <a:rPr lang="en-US" altLang="zh-CN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altLang="zh-CN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altLang="zh-CN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altLang="zh-CN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6 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题，注意步骤书写；</a:t>
            </a:r>
            <a:b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altLang="zh-CN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挑战任务：尝试用不同方法解答第</a:t>
            </a:r>
            <a:r>
              <a:rPr lang="en-US" altLang="zh-CN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6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题，对比优劣。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62000" y="5207000"/>
            <a:ext cx="1270000" cy="127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2286000" y="5397500"/>
            <a:ext cx="927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💡 探索小贴士：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数学的奥秘藏在细节里。课后请大家整理一份“乘除运算易错点清单”，分析自己容易出错的地方，我们下节课一起交流分享，共同进步！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1794</Words>
  <Application>Microsoft Office PowerPoint</Application>
  <PresentationFormat>宽屏</PresentationFormat>
  <Paragraphs>179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Noto Sans SC</vt:lpstr>
      <vt:lpstr>Arial</vt:lpstr>
      <vt:lpstr>Courier New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圣叶 陶</cp:lastModifiedBy>
  <cp:revision>1</cp:revision>
  <dcterms:modified xsi:type="dcterms:W3CDTF">2026-07-15T13:27:47Z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{"Label":"1","ContentProducer":"001191110102MACQD9K64010000","ProduceID":"7662419755551329227","ReservedCode1":"","ContentPropagator":"","PropagateID":"","ReservedCode2":""}</vt:lpwstr>
  </property>
</Properties>
</file>