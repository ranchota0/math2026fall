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（上课铃响后）“同学们好！今天我们继续探索一元一次方程的世界。上节课我们认识了什么是方程，这节课，我们将学习如何解开这些‘数学谜题’，掌握解方程的核心技巧。让我们一起走进今天的课堂——解一元一次方程。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一下我们今天的学习目标。简单来说，就是学会解各种类型的一元一次方程，并且能用它来解决生活中的实际问题。听起来有点挑战，但只要跟着老师的思路，一步一步来，你会发现解方程就像玩一个有趣的解谜游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一个发生在我们身边的问题。学校为了改善教学条件，三年里一直在购买新电脑。这里面就藏着一个数学问题。大家跟着我一起分析，设前年购买了x台，那么去年和今年的数量是不是就能用x来表示了？它们加起来等于140台，方程自然就出来了。这个方程 x + 2x + 4x = 140 就是我们今天要解决的第一个谜题。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拿到方程 x + 2x + 4x = 140，我们发现左边都是含有x的项，就像我们整理书包一样，可以把相同的东西放在一起。x就是1个x，加上2个x，再加上4个x，一共是7个x。这样，复杂的方程就变成了简单的 7x = 140。这个过程就叫做‘合并同类项’，它是我们解方程的第一步，也是最基础的一步。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我们再来看一个分书的问题。根据两种不同的分法，我们列出了方程 3x + 20 = 4x - 25。观察这个方程，x既在左边，又在右边，有点混乱。我们需要想办法把所有的x集中到一边，数字集中到另一边。这个过程就需要用到一个新技巧——‘移项’。大家注意看，从等号一边移到另一边，一定要记得变号！‘+’变‘-’，‘-’变‘+’。就像过马路要换方向一样。移项之后，我们就又可以合并同类项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方程中出现括号时，我们需要先利用乘法分配律‘去括号’，注意符号的变化。而当方程中出现分数时，我们可以通过‘去分母’把它变成整数方程，这样计算起来更方便。去分母的关键是，方程两边的每一项都要乘以所有分母的最小公倍数，千万不能漏乘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两个典型的例子。第一个是包含分数的方程，我们严格按照‘去分母、去括号、移项、合并同类项、系数化为1’的步骤来解。第二个是行程问题，关键是找到‘路程相等’这个等量关系。大家注意看老师是如何把实际问题转化为数学方程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方程就像走钢丝，每一步都要小心。这里老师总结了几个最容易出错的地方，大家一定要警惕。特别是移项变号和去分母漏乘，几乎是每个同学都会犯的错误。希望大家在做题时，把这几点记在心里，做完后检查一下，就能大大提高正确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理论学习结束，现在是实战演练时间！我们分三个层次来练习。先通过几个简单的方程热热身，然后挑战一下包含括号和分母的复杂方程，最后用今天学的知识解决一个实际问题。请大家在练习本上独立完成，稍后我们一起对答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节课下来，我们学习了解一元一次方程的完整步骤。大家可以把它想象成一个闯关游戏，每一步都是一个关卡。从去分母开始，到最后的系数化为1，一步一步把复杂的方程变简单。这个把复杂问题变简单的过程，在数学上叫做‘化归思想’，是一种非常重要的数学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完了一元一次方程，我们来用它解决一个更有趣的问题。无限循环小数，比如0.777...，它能写成分数吗？答案是肯定的！我们可以利用方程的思想，设这个小数为x，然后巧妙地构造一个等式，通过相减消去无限循环的部分，从而解出x。这个过程是不是很神奇？数学就是这样，充满了奇妙的转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同学们，我们今天的课程就要结束了。让我们一起回顾一下，今天我们掌握了解一元一次方程的五个关键步骤，理解了化归和方程两种重要的数学思想。希望大家课后多加练习，把今天学到的知识真正变成自己的本领。今天的作业是教材上的练习题，大家认真完成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第五章 一元一次方程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55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5.2 解一元一次方程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699000"/>
            <a:ext cx="1524000" cy="762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5143500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 · 上册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探索等式变形的奥秘，掌握移项与合并同类项的核心技巧，开启方程求解的关键一课。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5461000"/>
            <a:ext cx="1016000" cy="1016000"/>
          </a:xfrm>
          <a:prstGeom prst="ellipse">
            <a:avLst/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本节课，我们要掌握什么？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6EE7B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22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73200" y="2209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知识与技能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984500"/>
            <a:ext cx="28702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学会运用“合并同类项”与“移项”技巧，解决基础一元一次方程。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掌握解方程的五大核心步骤：去分母、去括号、移项、合并同类项、系数化为1。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能够将生活中的实际问题转化为数学方程模型并求解。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069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6EE7B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069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222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18100" y="2209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过程与方法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2984500"/>
            <a:ext cx="28702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深入体会“化归思想”，学会将复杂的方程形式逐步转化为 x=a 的最简形式。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建立数学逻辑与现实生活的桥梁，提升分析问题、解决问题的综合能力。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培养严谨的数学思维习惯，提高逻辑推理的条理性。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51800" y="1905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6EE7B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51800" y="1905000"/>
            <a:ext cx="3378200" cy="508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222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209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情感与价值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2787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2984500"/>
            <a:ext cx="28702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在攻克方程难题的过程中体验成功的喜悦，增强学好数学的自信心。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感受数学在解决实际问题中的工具价值，体会理性思考带来的秩序之美。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培养勇于探索、坚持不懈的学习品质，享受数学探究的乐趣。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身边的数学问题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3944" r="3944"/>
          <a:stretch>
            <a:fillRect/>
          </a:stretch>
        </p:blipFill>
        <p:spPr>
          <a:xfrm>
            <a:off x="762000" y="1651000"/>
            <a:ext cx="4572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数学不仅仅是书本上的公式，它隐藏在我们生活的每一个角落。从校园采购到日常消费，学会用数学的眼光观察世界，是解决实际问题的第一步。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842000" y="1651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问题情境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42000" y="2159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某校三年共购买计算机140台，去年购买的数量是前年的2倍，今年购买的数量又是去年的2倍。请问：前年这所学校购买了多少台计算机？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7813">
            <a:off x="5842007" y="33591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EE7B7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842000" y="3556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02 思路拆解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42000" y="4064000"/>
            <a:ext cx="1752600" cy="952500"/>
          </a:xfrm>
          <a:prstGeom prst="roundRect">
            <a:avLst>
              <a:gd name="adj" fmla="val 0"/>
            </a:avLst>
          </a:prstGeom>
          <a:solidFill>
            <a:srgbClr val="6EE7B7">
              <a:alpha val="10000"/>
            </a:srgbClr>
          </a:solidFill>
          <a:ln cap="flat" cmpd="sng">
            <a:solidFill>
              <a:srgbClr val="4DCE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905500" y="4165600"/>
            <a:ext cx="1625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设定变量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设前年购买数量为 x 台，作为解题的基础。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45400" y="4064000"/>
            <a:ext cx="1752600" cy="952500"/>
          </a:xfrm>
          <a:prstGeom prst="roundRect">
            <a:avLst>
              <a:gd name="adj" fmla="val 0"/>
            </a:avLst>
          </a:prstGeom>
          <a:solidFill>
            <a:srgbClr val="6EE7B7">
              <a:alpha val="10000"/>
            </a:srgbClr>
          </a:solidFill>
          <a:ln cap="flat" cmpd="sng">
            <a:solidFill>
              <a:srgbClr val="4DCE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708900" y="4165600"/>
            <a:ext cx="1625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表示各量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去年购买 2x 台，今年购买 4x 台，用含x的式子表示。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448800" y="4064000"/>
            <a:ext cx="1752600" cy="952500"/>
          </a:xfrm>
          <a:prstGeom prst="roundRect">
            <a:avLst>
              <a:gd name="adj" fmla="val 0"/>
            </a:avLst>
          </a:prstGeom>
          <a:solidFill>
            <a:srgbClr val="6EE7B7">
              <a:alpha val="10000"/>
            </a:srgbClr>
          </a:solidFill>
          <a:ln cap="flat" cmpd="sng">
            <a:solidFill>
              <a:srgbClr val="4DCE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9512300" y="4165600"/>
            <a:ext cx="1625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寻找关系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三年购买的总数等于140台，这是列方程的关键。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842000" y="5270500"/>
            <a:ext cx="5588000" cy="952500"/>
          </a:xfrm>
          <a:prstGeom prst="roundRect">
            <a:avLst>
              <a:gd name="adj" fmla="val 0"/>
            </a:avLst>
          </a:prstGeom>
          <a:solidFill>
            <a:srgbClr val="6EE7B7">
              <a:alpha val="20000"/>
            </a:srgbClr>
          </a:solidFill>
          <a:ln w="12700" cap="flat" cmpd="sng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5969000" y="54356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列出方程：</a:t>
            </a:r>
            <a:r>
              <a:rPr lang="en-US" sz="22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x + 2x + 4x = 140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解方程第一步：合并同类项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7145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观察与回顾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同类项：所含字母相同，且相同字母的指数也相同的项。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面对方程：</a:t>
            </a: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x + 2x + 4x = 140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76200" cy="17145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1651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合并同类项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将同类项的系数相加，字母和指数保持不变：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(1+2+4)x = 140 ➔ 7x = 140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76200" cy="17145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683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求解与结论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根据等式性质2，两边同时除以7：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x = 140 ÷ 7 = 20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结论：前年购买了20台计算机。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3556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223000" y="3556000"/>
            <a:ext cx="76200" cy="17145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3683000"/>
            <a:ext cx="482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核心思考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合并同类项是解方程的基础步骤，它将复杂的多项方程进行简化，把含有未知数的项合并，使方程逐步向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x = a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（常数）的最简形式转化，从而轻松求出解。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524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6EE7B7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6515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学习小贴士：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合并同类项就像整理书包，把相同科目的书本归类到一起，让原本杂乱的方程变得条理清晰，是通向方程求解的“第一步阶梯”。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解方程第二步：移项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651000"/>
            <a:ext cx="317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01 问题引入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将一批图书分给某班学生阅读：若每人分3本，则剩余20本；若每人分4本，则缺25本。求这个班的学生人数。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381500" y="152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508500" y="1651000"/>
            <a:ext cx="317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02 列出方程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设学生人数为 x，则图书总数不变：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3x + 20 = 4x - 25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这是一个两边都有未知数的方程。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8001000" y="1524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128000" y="1651000"/>
            <a:ext cx="317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03 移项核心定义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把等式一边的某项</a:t>
            </a:r>
            <a:r>
              <a:rPr lang="en-US" sz="13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变号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后，移到另一边。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口诀：过桥要变号，正变负，负变正。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这是解方程的关键步骤。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t="273" b="273"/>
          <a:stretch>
            <a:fillRect/>
          </a:stretch>
        </p:blipFill>
        <p:spPr>
          <a:xfrm>
            <a:off x="762000" y="3810000"/>
            <a:ext cx="3048000" cy="2413000"/>
          </a:xfrm>
          <a:prstGeom prst="rect">
            <a:avLst/>
          </a:prstGeom>
          <a:noFill/>
          <a:ln w="25400" cap="flat" cmpd="sng">
            <a:solidFill>
              <a:srgbClr val="6EE7B7">
                <a:alpha val="5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1" name="AutoShape 11"/>
          <p:cNvSpPr/>
          <p:nvPr/>
        </p:nvSpPr>
        <p:spPr>
          <a:xfrm>
            <a:off x="4381500" y="3810000"/>
            <a:ext cx="7048500" cy="2413000"/>
          </a:xfrm>
          <a:prstGeom prst="roundRect">
            <a:avLst>
              <a:gd name="adj" fmla="val 0"/>
            </a:avLst>
          </a:prstGeom>
          <a:solidFill>
            <a:srgbClr val="ECFDF5">
              <a:alpha val="70000"/>
            </a:srgbClr>
          </a:solidFill>
          <a:ln w="12700" cap="flat" cmpd="sng">
            <a:solidFill>
              <a:srgbClr val="6EE7B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08500" y="3937000"/>
            <a:ext cx="67945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思考：移项的作用是什么？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分离变量与常数：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将含未知数的项移到等号的一边，常数项移到另一边，为下一步“合并同类项”创造条件。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简化方程结构：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将复杂的方程转化为“ax = b”的标准形式，便于求解。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本质原理：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利用等式的性质，在方程两边同时加上或减去同一个数，保持等式平衡。</a:t>
            </a:r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特别提醒：移项时一定要记得变号，这是解方程最容易出错的地方！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更复杂的方程：去括号与去分母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01 去括号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14250" b="14249"/>
          <a:stretch>
            <a:fillRect/>
          </a:stretch>
        </p:blipFill>
        <p:spPr>
          <a:xfrm>
            <a:off x="762000" y="1968500"/>
            <a:ext cx="5207000" cy="2095500"/>
          </a:xfrm>
          <a:prstGeom prst="roundRect">
            <a:avLst>
              <a:gd name="adj" fmla="val 7272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19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ECFDF5">
              <a:alpha val="75000"/>
            </a:srgbClr>
          </a:solidFill>
          <a:ln w="12700" cap="flat" cmpd="sng">
            <a:solidFill>
              <a:srgbClr val="6EE7B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4318000"/>
            <a:ext cx="4953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📝 应用情境：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某工厂上半年月均用电x kW·h，下半年每月少用2000 kW·h，全年总用电量15万 kW·h。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🔢 核心方程：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6x + 6(x - 2000) = 150000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解题关键：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利用乘法分配律去括号，注意符号变化，切勿漏乘！转化为：6x + 6x - 12000 = 150000。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02 去分母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l="36143" r="36143"/>
          <a:stretch>
            <a:fillRect/>
          </a:stretch>
        </p:blipFill>
        <p:spPr>
          <a:xfrm>
            <a:off x="6223000" y="1968500"/>
            <a:ext cx="5207000" cy="2095500"/>
          </a:xfrm>
          <a:prstGeom prst="roundRect">
            <a:avLst>
              <a:gd name="adj" fmla="val 7272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6223000" y="4191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ECFDF5">
              <a:alpha val="75000"/>
            </a:srgbClr>
          </a:solidFill>
          <a:ln w="12700" cap="flat" cmpd="sng">
            <a:solidFill>
              <a:srgbClr val="6EE7B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0" y="4318000"/>
            <a:ext cx="4953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📝 应用情境：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行程问题中，已知不同路段的时间与距离，求总路程。如：王家庄到青山3小时，到绿水5小时。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🔢 核心方程：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设距翠湖x km，则 (x - 50) / 3 = (x + 70) / 5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解题关键：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两边同乘分母最小公倍数(15)消去分母，注意方程两边的每一项都要乘！转化为：5(x-50)=3(x+70)。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典型例题解析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6EE7B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01 含分母的一元一次方程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508000" cy="381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4699000" cy="6985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2667000"/>
            <a:ext cx="444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题目：求解方程 </a:t>
            </a:r>
            <a:r>
              <a:rPr lang="en-US" altLang="zh-CN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(x+1)/2 - 1 = 2 + (2-x)/4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556000"/>
            <a:ext cx="4699000" cy="234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① 去分母：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两边同乘4，得 2(x+1) - 4 = 8 + (2 - x)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② 去括号：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2x + 2 - 4 = 8 + 2 - x （注意符号运算）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③ 移项合并：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3x = 12 （将含未知数项移至左侧，常数移至右侧）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④ 系数化1：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方程两边同除以3，最终得解 x = 4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6EE7B7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1778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02 行程应用：顺水逆水问题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286000"/>
            <a:ext cx="508000" cy="381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 t="617" b="617"/>
          <a:stretch>
            <a:fillRect/>
          </a:stretch>
        </p:blipFill>
        <p:spPr>
          <a:xfrm>
            <a:off x="6477000" y="2603500"/>
            <a:ext cx="2286000" cy="1270000"/>
          </a:xfrm>
          <a:prstGeom prst="roundRect">
            <a:avLst>
              <a:gd name="adj" fmla="val 8000"/>
            </a:avLst>
          </a:prstGeom>
          <a:noFill/>
          <a:ln w="12700" cap="flat" cmpd="sng">
            <a:solidFill>
              <a:srgbClr val="6EE7B7">
                <a:alpha val="30000"/>
              </a:srgbClr>
            </a:solidFill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890000" y="2603500"/>
            <a:ext cx="2476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核心公式与等量关系：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顺水速度 = 静水速度 + 水流速度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逆水速度 = 静水速度 - 水流速度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关键：往返路程相等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477000" y="41275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① 设未知数：设船在静水中的速度为 </a:t>
            </a:r>
            <a:r>
              <a:rPr lang="en-US" altLang="zh-CN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x km/h</a:t>
            </a:r>
            <a:r>
              <a:rPr lang="zh-CN" alt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，则顺水速度为 </a:t>
            </a:r>
            <a:r>
              <a:rPr lang="en-US" altLang="zh-CN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(x+3)</a:t>
            </a:r>
            <a:r>
              <a:rPr lang="zh-CN" alt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，逆水为 </a:t>
            </a:r>
            <a:r>
              <a:rPr lang="en-US" altLang="zh-CN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(x-3)</a:t>
            </a:r>
            <a:r>
              <a:rPr lang="zh-CN" alt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② 列方程：由路程相等得 </a:t>
            </a:r>
            <a:r>
              <a:rPr lang="en-US" altLang="zh-CN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2(x+3) = 2.5(x-3)</a:t>
            </a:r>
            <a:r>
              <a:rPr lang="zh-CN" alt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③ 求解与作答：解得 </a:t>
            </a:r>
            <a:r>
              <a:rPr lang="en-US" altLang="zh-CN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x = 27</a:t>
            </a:r>
            <a:r>
              <a:rPr lang="zh-CN" alt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，即船在静水中的平均速度为 </a:t>
            </a:r>
            <a:r>
              <a:rPr lang="en-US" altLang="zh-CN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27 km/h</a:t>
            </a:r>
            <a:r>
              <a:rPr lang="zh-CN" alt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6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984828D-C834-9E6F-7677-05B58DFBD113}"/>
              </a:ext>
            </a:extLst>
          </p:cNvPr>
          <p:cNvSpPr txBox="1"/>
          <p:nvPr/>
        </p:nvSpPr>
        <p:spPr>
          <a:xfrm>
            <a:off x="6604000" y="1524000"/>
            <a:ext cx="4191000" cy="21236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200"/>
              <a:t>(x+1)/2-1=2+(2-x)/4
x
x+3
x-3
2(x+3)=2.5(x-3)
x=27</a:t>
            </a:r>
            <a:endParaRPr lang="zh-CN" altLang="en-US"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小心！这些地方容易出错！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676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移项不变号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3x + 5 = 4x ⇒ 3x + 4x = -5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3x - 4x = -5 (移项要变号)</a:t>
            </a:r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4889500" cy="4572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41400" y="32385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核心提醒：移项如同“搬家”，过等号就要“变号”！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52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1714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31000" y="1676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去分母漏乘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159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(x/2)+1=x/3 ⇒ 3x + 1 = 2x (漏乘常数项1)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3x + 6 = 2x (两边每一项都×6)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3175000"/>
            <a:ext cx="4889500" cy="4572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38900" y="32385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核心提醒：去分母要“雨露均沾”，每一项都要乘！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254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4216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去括号出错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699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2(x - 3) = 2x - 3 (漏乘了-3)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2(x - 3) = 2x - 6 (乘遍括号内每一项)</a:t>
            </a:r>
          </a:p>
        </p:txBody>
      </p:sp>
      <p:sp>
        <p:nvSpPr>
          <p:cNvPr id="20" name="AutoShape 20"/>
          <p:cNvSpPr/>
          <p:nvPr/>
        </p:nvSpPr>
        <p:spPr>
          <a:xfrm>
            <a:off x="952500" y="5715000"/>
            <a:ext cx="4889500" cy="4572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041400" y="57785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核心提醒：乘法分配律是“全员覆盖”，切勿遗漏！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59500" y="4064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4254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731000" y="4216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04. 系数化为1时算错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4699000"/>
            <a:ext cx="488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-2x = 6 ⇒ x = 3 (忽略了负号)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x = -3 (两边同除以-2)</a:t>
            </a:r>
          </a:p>
        </p:txBody>
      </p:sp>
      <p:sp>
        <p:nvSpPr>
          <p:cNvPr id="26" name="AutoShape 26"/>
          <p:cNvSpPr/>
          <p:nvPr/>
        </p:nvSpPr>
        <p:spPr>
          <a:xfrm>
            <a:off x="6350000" y="5715000"/>
            <a:ext cx="4889500" cy="4572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438900" y="57785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核心提醒：注意被除数与除数的符号关系，负负得正！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842000" cy="1397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549400"/>
            <a:ext cx="546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01 快速抢答 · 基础巩固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19558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5x - 2x = 9　　② (x/2) + (3x/2) = 7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③ 3x + 7 = 32 - 2x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842000" cy="1397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200400"/>
            <a:ext cx="546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进阶挑战 · 能力提升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6068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4x + 3(2x - 3) = 12 - (x + 4)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 (5x - 1)/4 = (3x + 1)/2 - (2 - x)/3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5842000" cy="1651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4851400"/>
            <a:ext cx="546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47857"/>
                </a:solidFill>
                <a:latin typeface="Noto Sans SC"/>
                <a:ea typeface="Noto Sans SC"/>
                <a:cs typeface="Noto Sans SC"/>
                <a:sym typeface="Noto Sans SC"/>
              </a:rPr>
              <a:t>03 学以致用 · 环保废水处理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5257800"/>
            <a:ext cx="546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某制药厂，旧工艺废水排量比环保限制多200t，新工艺比环保限制少100t。新旧工艺废水排量之比为2:5。请根据题意建立方程，求解两种工艺的废水排量各是多少吨？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366000" y="1651000"/>
            <a:ext cx="3556000" cy="3556000"/>
          </a:xfrm>
          <a:prstGeom prst="roundRect">
            <a:avLst>
              <a:gd name="adj" fmla="val 5714"/>
            </a:avLst>
          </a:prstGeom>
          <a:noFill/>
          <a:ln w="508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2032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7366000" y="5397500"/>
            <a:ext cx="3556000" cy="889000"/>
          </a:xfrm>
          <a:prstGeom prst="roundRect">
            <a:avLst>
              <a:gd name="adj" fmla="val 0"/>
            </a:avLst>
          </a:prstGeom>
          <a:solidFill>
            <a:srgbClr val="6EE7B7">
              <a:alpha val="100000"/>
            </a:srgbClr>
          </a:solidFill>
          <a:ln cap="flat" cmpd="sng">
            <a:solidFill>
              <a:srgbClr val="4DCE9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493000" y="5524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“用数学建模解决</a:t>
            </a:r>
            <a:b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真实世界的环境难题”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解一元一次方程的“通关秘籍”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082800" cy="2413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968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71600" y="19685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去分母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476500"/>
            <a:ext cx="18288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两边同乘各分母的最小公倍数以消去分母。注意：切勿漏乘方程中不含分母的项。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21000" y="1778000"/>
            <a:ext cx="2082800" cy="2413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1500" y="1968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530600" y="19685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去括号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48000" y="2476500"/>
            <a:ext cx="18288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利用乘法分配律展开。若括号前是“-”号，去掉括号后，括号内各项要变号。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0" y="1778000"/>
            <a:ext cx="2082800" cy="2413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0500" y="1968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689600" y="19685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移项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07000" y="2476500"/>
            <a:ext cx="18288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把含未知数的项移到左边，常数项移到右边。核心口诀：“移项必变号”。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39000" y="1778000"/>
            <a:ext cx="2082800" cy="2413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9500" y="1968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848600" y="19685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合并同类项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66000" y="2476500"/>
            <a:ext cx="18288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将方程整理为 ax = b（a≠0）的标准形式，使方程结构更简洁，为求解做准备。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398000" y="1778000"/>
            <a:ext cx="2082800" cy="24130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88500" y="1968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0007600" y="1968500"/>
            <a:ext cx="152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 系数化为1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0" y="2476500"/>
            <a:ext cx="18288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方程两边同时除以未知数的系数 a，最终得到方程的解：x = b/a，完成通关。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572000"/>
            <a:ext cx="10718800" cy="1714500"/>
          </a:xfrm>
          <a:prstGeom prst="roundRect">
            <a:avLst>
              <a:gd name="adj" fmla="val 0"/>
            </a:avLst>
          </a:prstGeom>
          <a:solidFill>
            <a:srgbClr val="D1FAE5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006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524000" y="48006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核心思想：化归思想（转化与归结）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16000" y="5308600"/>
            <a:ext cx="102108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化归思想是数学解题的基石。它引导我们将复杂、陌生的方程问题，通过一系列等价变形，转化为简单、已知的“x = 常数”形式。这不仅是解方程的方法，更是一种将未知转化为已知的重要思维模式，适用于解决各类数学难题。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数学探究：无限循环小数化分数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98500" y="1714500"/>
            <a:ext cx="3683000" cy="3683000"/>
          </a:xfrm>
          <a:prstGeom prst="ellipse">
            <a:avLst/>
          </a:prstGeom>
          <a:solidFill>
            <a:srgbClr val="6EE7B7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5500" y="1841500"/>
            <a:ext cx="3429000" cy="3429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374151">
                <a:alpha val="1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825500" y="5461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1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“循环往复，在方程中寻找无限的答案”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26000" y="1778000"/>
            <a:ext cx="6604000" cy="10795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6500" y="1968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397500" y="1930400"/>
            <a:ext cx="596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思考时刻：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我们知道分数可以化为无限循环小数，那么反过来，像 0.(·) 这样的无限循环小数，能不能也转化成分数形式呢？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26000" y="2984500"/>
            <a:ext cx="660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核心推导：以 0.777... 为例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26000" y="3492500"/>
            <a:ext cx="3238500" cy="7366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953000" y="35814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01 设元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：令 x = 0.777... (无限循环部分)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91500" y="3492500"/>
            <a:ext cx="3238500" cy="7366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318500" y="35814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02 扩倍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：两边同乘 10，得 10x = 7.777...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4318000"/>
            <a:ext cx="3238500" cy="7366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953000" y="44069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03 相减消元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：10x - x = 7，即 9x = 7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4318000"/>
            <a:ext cx="3238500" cy="7366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18500" y="4406900"/>
            <a:ext cx="311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04 得出结论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：解得 x = 7/9，转化完成！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826000" y="5207000"/>
            <a:ext cx="6604000" cy="952500"/>
          </a:xfrm>
          <a:prstGeom prst="roundRect">
            <a:avLst>
              <a:gd name="adj" fmla="val 0"/>
            </a:avLst>
          </a:prstGeom>
          <a:solidFill>
            <a:srgbClr val="FFF7ED">
              <a:alpha val="85000"/>
            </a:srgbClr>
          </a:solidFill>
          <a:ln w="12700" cap="flat" cmpd="sng">
            <a:solidFill>
              <a:srgbClr val="FBBF24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6500" y="5372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397500" y="5334000"/>
            <a:ext cx="596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试着用同样的方法，将 0.(·) 化成分数。这次，你觉得应该给等式两边同时乘以多少才能消去循环节呢？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01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本节课我们收获了什么？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349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3495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一个核心目标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28194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解一元一次方程的本质是通过等价变形，将方程转化为 “x = a”（a为常数）的最简形式，从而求出未知数的唯一解。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2159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349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23495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标准解题五步法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8194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严格遵循变形顺序：去分母 → 去括号 → 移项 → 合并同类项 → 系数化为1。每一步变形都需依据等式性质，确保方程同解。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810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000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40005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两大核心思想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70000" y="44704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化归思想：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将复杂的方程问题转化为已掌握的简单形式；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方程思想：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用字母代替未知数，建立等量关系模型解决实际问题。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3810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F8717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00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40005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避坑指南：常见错误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4470400"/>
            <a:ext cx="457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警惕三大“陷阱”：移项忘记变号；去分母时漏乘不含分母的项；去括号时，括号前是负号却未改变括号内各项符号。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397500"/>
            <a:ext cx="10414000" cy="1079500"/>
          </a:xfrm>
          <a:prstGeom prst="roundRect">
            <a:avLst>
              <a:gd name="adj" fmla="val 0"/>
            </a:avLst>
          </a:prstGeom>
          <a:solidFill>
            <a:srgbClr val="6EE7B7">
              <a:alpha val="18000"/>
            </a:srgbClr>
          </a:solidFill>
          <a:ln w="12700" cap="flat" cmpd="sng">
            <a:solidFill>
              <a:srgbClr val="6EE7B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0000" y="5588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714500" y="5588000"/>
            <a:ext cx="127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课后任务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39694">
            <a:off x="2686050" y="5918256"/>
            <a:ext cx="72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3302000" y="55880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基础巩固：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完成教材 P121-P123 练习题，重点练习去分母与去括号的规范步骤。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39694">
            <a:off x="7004050" y="5918256"/>
            <a:ext cx="723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EE7B7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620000" y="5588000"/>
            <a:ext cx="368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思维拓展：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尝试将无限循环小数 0.1(·)2(·) 化成分数形式，思考其中蕴含的方程原理。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1620</Words>
  <Application>Microsoft Office PowerPoint</Application>
  <PresentationFormat>宽屏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{"Label":"1","ContentProducer":"001191110102MACQD9K64010000","ProduceID":"7662420017921248230","ReservedCode1":"","ContentPropagator":"","PropagateID":"","ReservedCode2":""}</vt:lpwstr>
  </property>
</Properties>
</file>