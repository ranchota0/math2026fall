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（上课铃响后）同学们好！今天我们继续探索第三章“代数式”的奥秘。上节课我们学会了如何用字母来表示数，列出各种代数式。那么，这些用字母表示的式子，它们到底等于多少呢？今天，我们就来学习如何求出“代数式的值”。让我们一起开启今天的数学之旅吧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请同学们快速阅读屏幕上的学习目标。这节课我们要达成四个小目标。首先要明白什么是“代数式的值”，然后要学会怎么去求它，最重要的是，我们要能用它来解决实际问题。希望下课时，每位同学都能自豪地说：这些目标我都实现了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（展示图片或动画）同学们，看，学校为了让我们更好地锻炼身体，准备买排球啦！大家来帮学校算算账。如果每个班分5个，还要留20个备用，那总共要买多少呢？对，这个数不是固定的，它取决于我们学校有多少个班级。我们可以用一个含有字母 n 的式子 5n + 20 来表示。这个 n 就像一个“变量”，它变了，结果也就跟着变了。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非常好！我们看到，当字母 n 取一个具体的数值时，代数式 5n+20 就得到一个确定的结果。这个过程，就是我们今天要学习的核心内容。大家观察一下，我们是怎么做的？（引导学生回答：把数代进去，然后计算）。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（指着定义逐字讲解）同学们，这就是“代数式的值”的科学定义。听起来有点绕口，但其实就是我们刚才做的事情：“用数值代替代数式里的字母”，然后“计算得出结果”。这个结果，就是代数式的值。大家要记住，字母和代数式的值之间，通常是一种一一对应的关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第一个例题。求代数式的值，就像一个两步走的操作。第一步，“代入”，把字母换成给定的数字。大家注意看格式，先写“当...时”，然后写出原式，再把数字代进去。第二步，“计算”，按照先乘除后加减的顺序算出结果。第二小题代入了分数，计算时要细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52264D3-308A-0202-EF16-32BB070F7187}"/>
              </a:ext>
            </a:extLst>
          </p:cNvPr>
          <p:cNvSpPr txBox="1"/>
          <p:nvPr/>
        </p:nvSpPr>
        <p:spPr>
          <a:xfrm>
            <a:off x="508000" y="508000"/>
            <a:ext cx="787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/>
              <a:t>右侧示范用于说明代入时先加括号，再按运算顺序计算。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了，理论和例子都讲完了，现在是大家大显身手的时候了！请看第一题，这是一个“连连看”的游戏，左边是a的值，右边是代数式2-3a的值，请大家快速心算并连线。（可以请学生回答）。第二题，稍微复杂一点，请同学们在练习本上写出完整的解题过程，注意书写格式和运算顺序。我会请一位同学到黑板上来演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总结一下求代数式值的“秘籍”。其实就两步：代入和计算。但这两步里藏着很多小细节，比如代入负数要加括号，运算顺序不能错。大家一定要养成良好的书写习惯，按照“当...时，原式=...”的格式来写，这样思路清晰，不容易出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数学不仅能用来计算，还能用来玩解密游戏！大家看，这里有一串数字密码，还有一把“钥匙”（也就是规则）。我们一起来当一回小小情报员，把它破译出来吧！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首先看规则：字母对应数字1到26。密钥是奇数加1，偶数除以2。我们来一步步算：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26是偶数，26除以2等于13，对应字母是m；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2是偶数，2除以2等于1，对应字母是a；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19是奇数，19加1等于20，对应字母是t；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7是奇数，7加1等于8，对应字母是h。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连起来就是“math”！数学真是太有趣了！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了，一节课很快就过去了。我们来回顾一下今天的收获。我们认识了一个新朋友——“代数式的值”，学会了求它的两步法——“代入”和“计算”。更重要的是，我们体会到了数学中从一般到特殊的思想方法。希望同学们课后多加练习，熟练掌握今天所学的知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今天的课后作业已经展示在屏幕上了。基础题要求大家必须完成，这是巩固今天所学的关键。学有余力的同学可以挑战一下提高题和思考题。希望大家认真完成，我们下节课再见！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svg"/><Relationship Id="rId5" Type="http://schemas.openxmlformats.org/officeDocument/2006/relationships/image" Target="../media/image4.svg"/><Relationship Id="rId4" Type="http://schemas.openxmlformats.org/officeDocument/2006/relationships/image" Target="../media/image1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1905000"/>
            <a:ext cx="1066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第三章 代数式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3556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3.2 代数式的值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4699000"/>
            <a:ext cx="1066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从抽象的字母表示到具体的数值计算，代数式的值是连接代数理论与现实问题的纽带。本节课将深入探索如何通过代入求值，揭开代数式的数值奥秘。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5816600"/>
            <a:ext cx="10668000" cy="558800"/>
          </a:xfrm>
          <a:prstGeom prst="roundRect">
            <a:avLst>
              <a:gd name="adj" fmla="val 0"/>
            </a:avLst>
          </a:prstGeom>
          <a:solidFill>
            <a:srgbClr val="4FD1C5">
              <a:alpha val="12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89000" y="5816600"/>
            <a:ext cx="1041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3748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核心聚焦：</a:t>
            </a:r>
            <a:r>
              <a:rPr lang="en-US" sz="1400" b="0" i="0" u="none" strike="noStrike">
                <a:solidFill>
                  <a:srgbClr val="2D3748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掌握直接代入法与整体代入法 • 理解代数式求值的实际意义 • 解决生活中的代数计算问题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本节课，我们要学会什么？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500" y="20955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841500" y="2095500"/>
            <a:ext cx="400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01 理解概念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841500" y="2603500"/>
            <a:ext cx="400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深入理解“代数式的值”的本质含义，明确它由字母的具体取值与运算规则共同决定，建立清晰的数学定义认知框架。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778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20955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302500" y="2095500"/>
            <a:ext cx="400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02 掌握方法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302500" y="2603500"/>
            <a:ext cx="400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熟练掌握“代入—计算—检验”的标准解题步骤，严格规范数学书写格式，养成严谨细致的解题习惯，确保运算准确。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064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9500" y="43815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841500" y="4381500"/>
            <a:ext cx="400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03 学以致用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841500" y="4889500"/>
            <a:ext cx="400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运用公式求值法解决生活中的实际问题，如价格计算、面积求解等，将抽象的数学知识转化为解决实际问题的工具。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4064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0500" y="4381500"/>
            <a:ext cx="609600" cy="609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302500" y="4381500"/>
            <a:ext cx="400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04 培养能力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302500" y="4889500"/>
            <a:ext cx="400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在探究与解题过程中，提升观察分析、逻辑推理和运算能力，深刻感受数学与现实世界的紧密联系，增强数学思维。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校园里的数学问题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110" b="110"/>
          <a:stretch>
            <a:fillRect/>
          </a:stretch>
        </p:blipFill>
        <p:spPr>
          <a:xfrm>
            <a:off x="762000" y="1778000"/>
            <a:ext cx="4318000" cy="3238500"/>
          </a:xfrm>
          <a:prstGeom prst="roundRect">
            <a:avLst>
              <a:gd name="adj" fmla="val 6274"/>
            </a:avLst>
          </a:prstGeom>
          <a:noFill/>
          <a:ln w="50800" cap="flat" cmpd="sng">
            <a:solidFill>
              <a:srgbClr val="FFFFFF">
                <a:alpha val="90000"/>
              </a:srgbClr>
            </a:solidFill>
            <a:prstDash val="solid"/>
            <a:round/>
          </a:ln>
          <a:effectLst>
            <a:outerShdw blurRad="203200" dist="101600" dir="2700000" algn="tl" rotWithShape="0">
              <a:srgbClr val="2D3748">
                <a:alpha val="12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54610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400" b="0" i="1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“数学不仅仅是数字，更是解决生活问题的钥匙。”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461000" y="1778000"/>
            <a:ext cx="6096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89600" y="1968500"/>
            <a:ext cx="330200" cy="330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121400" y="1930400"/>
            <a:ext cx="5397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01 阳光体育行动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新学期开始，学校为落实“阳光体育”计划，决定为全校每个班级配备一批排球，让同学们在课余时间享受运动的快乐。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461000" y="3111500"/>
            <a:ext cx="6096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89600" y="3302000"/>
            <a:ext cx="330200" cy="330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121400" y="3263900"/>
            <a:ext cx="5397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02 采购难题怎么算？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采购方案规定：每班发放5个排球，同时需要预留20个作为学校公共备用球。那么，学校究竟需要采购多少个排球呢？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461000" y="4445000"/>
            <a:ext cx="6096000" cy="1460500"/>
          </a:xfrm>
          <a:prstGeom prst="roundRect">
            <a:avLst>
              <a:gd name="adj" fmla="val 0"/>
            </a:avLst>
          </a:prstGeom>
          <a:solidFill>
            <a:srgbClr val="4FD1C5">
              <a:alpha val="18000"/>
            </a:srgbClr>
          </a:solidFill>
          <a:ln w="25400" cap="flat" cmpd="sng">
            <a:solidFill>
              <a:srgbClr val="4FD1C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89600" y="4635500"/>
            <a:ext cx="330200" cy="330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121400" y="4597400"/>
            <a:ext cx="5397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03 建立数学模型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设全校班级数量为</a:t>
            </a:r>
            <a:r>
              <a:rPr lang="en-US" sz="1300" b="1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n</a:t>
            </a: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，则：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排球总数 = 班级用量 + 备用量 =</a:t>
            </a:r>
            <a:r>
              <a:rPr lang="en-US" sz="2200" b="1" i="0" u="none" strike="noStrike">
                <a:solidFill>
                  <a:srgbClr val="319795"/>
                </a:solidFill>
                <a:latin typeface="Noto Sans SC"/>
                <a:ea typeface="Noto Sans SC"/>
                <a:cs typeface="Noto Sans SC"/>
                <a:sym typeface="Noto Sans SC"/>
              </a:rPr>
              <a:t>5n + 20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当班级数确定时...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01 若有 15 个班级，需购多少排球？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857500"/>
            <a:ext cx="469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分析：</a:t>
            </a:r>
            <a:r>
              <a:rPr lang="en-US" sz="15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此时班级数 n = 15，将其代入代数式 5n + 20 中进行求值计算。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683000"/>
            <a:ext cx="4699000" cy="1143000"/>
          </a:xfrm>
          <a:prstGeom prst="roundRect">
            <a:avLst>
              <a:gd name="adj" fmla="val 0"/>
            </a:avLst>
          </a:prstGeom>
          <a:solidFill>
            <a:srgbClr val="4FD1C5">
              <a:alpha val="12000"/>
            </a:srgbClr>
          </a:solidFill>
          <a:ln cap="flat" cmpd="sng">
            <a:solidFill>
              <a:srgbClr val="33B7AB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143000" y="38100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5 × 15 + 20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= 75 + 20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=</a:t>
            </a:r>
            <a:r>
              <a:rPr lang="en-US" sz="16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95</a:t>
            </a:r>
            <a:r>
              <a:rPr lang="en-US" sz="1600" b="0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(个)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5080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</a:t>
            </a:r>
            <a:r>
              <a:rPr lang="en-US" sz="16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当有15个班级时，需要购置</a:t>
            </a:r>
            <a:r>
              <a:rPr lang="en-US" sz="16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95</a:t>
            </a:r>
            <a:r>
              <a:rPr lang="en-US" sz="16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个排球。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477000" y="2032000"/>
            <a:ext cx="469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02 若班级数增加到 20 个呢？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291">
            <a:off x="64770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477000" y="2857500"/>
            <a:ext cx="469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分析：</a:t>
            </a:r>
            <a:r>
              <a:rPr lang="en-US" sz="15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班级数更新为 n = 20，沿用相同的代数式 5n + 20 进行计算。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3683000"/>
            <a:ext cx="4699000" cy="1143000"/>
          </a:xfrm>
          <a:prstGeom prst="roundRect">
            <a:avLst>
              <a:gd name="adj" fmla="val 0"/>
            </a:avLst>
          </a:prstGeom>
          <a:solidFill>
            <a:srgbClr val="4FD1C5">
              <a:alpha val="12000"/>
            </a:srgbClr>
          </a:solidFill>
          <a:ln cap="flat" cmpd="sng">
            <a:solidFill>
              <a:srgbClr val="33B7AB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604000" y="38100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5 × 20 + 20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= 100 + 20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=</a:t>
            </a:r>
            <a:r>
              <a:rPr lang="en-US" sz="16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120</a:t>
            </a:r>
            <a:r>
              <a:rPr lang="en-US" sz="1600" b="0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(个)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5080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</a:t>
            </a:r>
            <a:r>
              <a:rPr lang="en-US" sz="16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当有20个班级时，需要购置</a:t>
            </a:r>
            <a:r>
              <a:rPr lang="en-US" sz="16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120</a:t>
            </a:r>
            <a:r>
              <a:rPr lang="en-US" sz="16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个排球。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什么是“代数式的值”？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752600"/>
            <a:ext cx="1016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一般地，用</a:t>
            </a:r>
            <a:r>
              <a:rPr lang="en-US" sz="16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数值</a:t>
            </a:r>
            <a:r>
              <a:rPr lang="en-US" sz="1600" b="0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代替代数式里的</a:t>
            </a:r>
            <a:r>
              <a:rPr lang="en-US" sz="16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字母</a:t>
            </a:r>
            <a:r>
              <a:rPr lang="en-US" sz="1600" b="0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，按照代数式中规定的运算关系计算得出的</a:t>
            </a:r>
            <a:r>
              <a:rPr lang="en-US" sz="16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结果</a:t>
            </a:r>
            <a:r>
              <a:rPr lang="en-US" sz="1600" b="0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，叫做</a:t>
            </a:r>
            <a:r>
              <a:rPr lang="en-US" sz="16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代数式的值</a:t>
            </a:r>
            <a:r>
              <a:rPr lang="en-US" sz="1600" b="0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556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4FD1C5">
              <a:alpha val="15000"/>
            </a:srgbClr>
          </a:solidFill>
          <a:ln cap="flat" cmpd="sng">
            <a:solidFill>
              <a:srgbClr val="33B7A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7592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37084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核心：代入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用具体的数值替换代数式中的字母，这是计算的第一步，需严格保证数值与字母的对应性。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3556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4FD1C5">
              <a:alpha val="15000"/>
            </a:srgbClr>
          </a:solidFill>
          <a:ln cap="flat" cmpd="sng">
            <a:solidFill>
              <a:srgbClr val="33B7A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37592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21500" y="37084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02 关键：计算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遵循“先乘方，后乘除，最后加减”的运算顺序，有括号时需优先计算括号内的部分。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5080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4FD1C5">
              <a:alpha val="15000"/>
            </a:srgbClr>
          </a:solidFill>
          <a:ln cap="flat" cmpd="sng">
            <a:solidFill>
              <a:srgbClr val="33B7A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52832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460500" y="52324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03 本质：结果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最终得到的是一个确定的数值，它是代数式在该字母取值下的具体表现形式。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5080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4FD1C5">
              <a:alpha val="15000"/>
            </a:srgbClr>
          </a:solidFill>
          <a:ln cap="flat" cmpd="sng">
            <a:solidFill>
              <a:srgbClr val="33B7A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52832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21500" y="52324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04 规律：关系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字母的取值不同，代数式的值一般也不同，二者存在相互依赖的变化关系。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例1：基础求值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587500"/>
            <a:ext cx="1028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</a:t>
            </a:r>
            <a:r>
              <a:rPr lang="en-US" sz="16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已知代数式为 2x + 3y，请根据下列给定的 x, y 值，分别计算代数式的值。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5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① 当 x = 15，y = 12 时；     ② 当 x = 1，y = 1/2 时。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762000" y="2921000"/>
            <a:ext cx="5207000" cy="3429000"/>
          </a:xfrm>
          <a:prstGeom prst="roundRect">
            <a:avLst>
              <a:gd name="adj" fmla="val 0"/>
            </a:avLst>
          </a:prstGeom>
          <a:solidFill>
            <a:srgbClr val="4FD1C5">
              <a:alpha val="15000"/>
            </a:srgbClr>
          </a:solidFill>
          <a:ln w="12700" cap="flat" cmpd="sng">
            <a:solidFill>
              <a:srgbClr val="4FD1C5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52500" y="31115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示范 (1)：整数代入计算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046">
            <a:off x="952508" y="3613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3746500"/>
            <a:ext cx="4826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解：</a:t>
            </a:r>
            <a:r>
              <a:rPr lang="en-US" sz="15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当 x = 15，y = 12 时，将数值代入原式：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2x + 3y = 2 × 15 + 3 × 12</a:t>
            </a:r>
          </a:p>
          <a:p>
            <a:pPr marL="0"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= 30 + 36 （先算乘法，再算加法）</a:t>
            </a:r>
          </a:p>
          <a:p>
            <a:pPr marL="0"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= 66</a:t>
            </a:r>
          </a:p>
          <a:p>
            <a:pPr marL="0"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400" b="1" i="0" u="none" strike="noStrike">
                <a:solidFill>
                  <a:srgbClr val="319795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核心思路：</a:t>
            </a:r>
            <a:r>
              <a:rPr lang="en-US" sz="1400" b="0" i="0" u="none" strike="noStrike">
                <a:solidFill>
                  <a:srgbClr val="5C6B7F"/>
                </a:solidFill>
                <a:latin typeface="Noto Sans SC"/>
                <a:ea typeface="Noto Sans SC"/>
                <a:cs typeface="Noto Sans SC"/>
                <a:sym typeface="Noto Sans SC"/>
              </a:rPr>
              <a:t>“对号入座”替换字母 → 遵循运算顺序计算。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23000" y="2921000"/>
            <a:ext cx="5207000" cy="3429000"/>
          </a:xfrm>
          <a:prstGeom prst="roundRect">
            <a:avLst>
              <a:gd name="adj" fmla="val 0"/>
            </a:avLst>
          </a:prstGeom>
          <a:solidFill>
            <a:srgbClr val="4FD1C5">
              <a:alpha val="15000"/>
            </a:srgbClr>
          </a:solidFill>
          <a:ln w="12700" cap="flat" cmpd="sng">
            <a:solidFill>
              <a:srgbClr val="4FD1C5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13500" y="31115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示范 (2)：含分数的代入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046">
            <a:off x="6413508" y="3613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413500" y="3746500"/>
            <a:ext cx="4826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解：</a:t>
            </a:r>
            <a:r>
              <a:rPr lang="en-US" sz="15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当 x = 1，y = 1/2 时，注意分数的运算规则：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2x + 3y = 2 × 1 + 3 × (1/2)</a:t>
            </a:r>
          </a:p>
          <a:p>
            <a:pPr marL="0"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= 2 + 3/2 （通分后计算：4/2 + 3/2）</a:t>
            </a:r>
          </a:p>
          <a:p>
            <a:pPr marL="0"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= 7/2 (或写成小数 3.5)</a:t>
            </a:r>
          </a:p>
          <a:p>
            <a:pPr marL="0"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400" b="1" i="0" u="none" strike="noStrike">
                <a:solidFill>
                  <a:srgbClr val="ED8936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易错提示：</a:t>
            </a:r>
            <a:r>
              <a:rPr lang="en-US" sz="1400" b="0" i="0" u="none" strike="noStrike">
                <a:solidFill>
                  <a:srgbClr val="5C6B7F"/>
                </a:solidFill>
                <a:latin typeface="Noto Sans SC"/>
                <a:ea typeface="Noto Sans SC"/>
                <a:cs typeface="Noto Sans SC"/>
                <a:sym typeface="Noto Sans SC"/>
              </a:rPr>
              <a:t>分数与整数相加时，记得先通分，结果需化为最简。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例2：注意符号和运算顺序！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549400"/>
            <a:ext cx="10287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zh-CN" alt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题目：已知代数式 </a:t>
            </a: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a²-b/a，</a:t>
            </a:r>
            <a:r>
              <a:rPr lang="zh-CN" alt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请根据以下两组数值分别计算其结果：</a:t>
            </a:r>
            <a:br>
              <a:rPr lang="zh-CN" alt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altLang="zh-CN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(1) </a:t>
            </a: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a = 4，b = 12；　　(2) a = -3，b = 2。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FD1C5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52500" y="28194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示范 (1)：基础数值代入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276600"/>
            <a:ext cx="482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zh-CN" altLang="en-US" sz="1400" b="0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当 </a:t>
            </a:r>
            <a:r>
              <a:rPr lang="en-US" altLang="zh-CN" sz="1400" b="0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a=4, b=12 </a:t>
            </a:r>
            <a:r>
              <a:rPr lang="zh-CN" altLang="en-US" sz="1400" b="0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时，遵循“先乘方，后乘除，再加减”：</a:t>
            </a:r>
            <a:br>
              <a:rPr lang="zh-CN" altLang="en-US" sz="1400" b="0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zh-CN" altLang="en-US" sz="1400" b="0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原式 </a:t>
            </a:r>
            <a:r>
              <a:rPr lang="en-US" altLang="zh-CN" sz="1400" b="0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= 4^2 - 12/4 = 16 - 3 = 13</a:t>
            </a:r>
            <a:br>
              <a:rPr lang="en-US" altLang="zh-CN" sz="1400" b="0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zh-CN" altLang="en-US" sz="1400" b="0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此题为正数运算，重点在于运算顺序的正确执行。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2667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FD1C5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413500" y="28194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示范 (2)：负数与符号变化</a:t>
            </a:r>
            <a:endParaRPr lang="en-US" sz="110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8C43F75-230A-2CDA-9E99-6C4B45C47C4A}"/>
              </a:ext>
            </a:extLst>
          </p:cNvPr>
          <p:cNvSpPr txBox="1"/>
          <p:nvPr/>
        </p:nvSpPr>
        <p:spPr>
          <a:xfrm>
            <a:off x="6604000" y="1714500"/>
            <a:ext cx="4191000" cy="17851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200"/>
              <a:t>当 </a:t>
            </a:r>
            <a:r>
              <a:rPr lang="en-US" altLang="zh-CN" sz="2200"/>
              <a:t>a=-3</a:t>
            </a:r>
            <a:r>
              <a:rPr lang="zh-CN" altLang="en-US" sz="2200"/>
              <a:t>，</a:t>
            </a:r>
            <a:r>
              <a:rPr lang="en-US" altLang="zh-CN" sz="2200"/>
              <a:t>b=2 </a:t>
            </a:r>
            <a:r>
              <a:rPr lang="zh-CN" altLang="en-US" sz="2200"/>
              <a:t>时：
</a:t>
            </a:r>
            <a:r>
              <a:rPr lang="en-US" altLang="zh-CN" sz="2200"/>
              <a:t>a²-b/a
=(-3)²-2/(-3)
=9+2/3
=29/3</a:t>
            </a:r>
            <a:endParaRPr lang="zh-CN" altLang="en-US"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小试牛刀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01 快速填空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259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794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① 当 a = 4 时，2 - 3a = 2 - 3×4 =</a:t>
            </a:r>
            <a:r>
              <a:rPr lang="en-US" sz="15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________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4925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② 当 a = 0 时，2 - 3a =</a:t>
            </a:r>
            <a:r>
              <a:rPr lang="en-US" sz="15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________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191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③ 当 a = -2/3 时，2 - 3a =</a:t>
            </a:r>
            <a:r>
              <a:rPr lang="en-US" sz="15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________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8895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④ 当 a = -3 时，2 - 3a =</a:t>
            </a:r>
            <a:r>
              <a:rPr lang="en-US" sz="15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________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1778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477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02 计算挑战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291">
            <a:off x="6477009" y="259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477000" y="2794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已知 x = 2，y = -3，求代数式：</a:t>
            </a:r>
            <a:b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x² + 2xy + y² 的值。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3937000"/>
            <a:ext cx="4699000" cy="1714500"/>
          </a:xfrm>
          <a:prstGeom prst="roundRect">
            <a:avLst>
              <a:gd name="adj" fmla="val 0"/>
            </a:avLst>
          </a:prstGeom>
          <a:solidFill>
            <a:srgbClr val="4FD1C5">
              <a:alpha val="10000"/>
            </a:srgbClr>
          </a:solidFill>
          <a:ln cap="flat" cmpd="sng">
            <a:solidFill>
              <a:srgbClr val="33B7A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604000" y="4089400"/>
            <a:ext cx="444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💡 解题锦囊：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1. 观察特征：是否可因式分解简化计算？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2. 代入数值：注意负数乘方的符号规则；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3. 运算顺序：先乘方，再乘除，最后加减。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方法总结：如何求代数式的值？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349500"/>
          </a:xfrm>
          <a:prstGeom prst="roundRect">
            <a:avLst>
              <a:gd name="adj" fmla="val 0"/>
            </a:avLst>
          </a:prstGeom>
          <a:solidFill>
            <a:srgbClr val="4FD1C5">
              <a:alpha val="15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8415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01 代入：数值替换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349500"/>
            <a:ext cx="469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将代数式中的字母，用题目给定的具体数值进行替换，这是求值的第一步。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048000"/>
            <a:ext cx="4699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cap="flat" cmpd="sng">
            <a:solidFill>
              <a:srgbClr val="E6CFC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143000" y="3149600"/>
            <a:ext cx="450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E53E3E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易错点：</a:t>
            </a:r>
            <a:r>
              <a:rPr lang="en-US" sz="1300" b="0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代入负数或分数时，必须添上括号；省略的乘号要还原（如 2x 变为 2×(-3)）。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651000"/>
            <a:ext cx="5207000" cy="2349500"/>
          </a:xfrm>
          <a:prstGeom prst="roundRect">
            <a:avLst>
              <a:gd name="adj" fmla="val 0"/>
            </a:avLst>
          </a:prstGeom>
          <a:solidFill>
            <a:srgbClr val="4FD1C5">
              <a:alpha val="15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477000" y="18415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02 计算：遵循法则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349500"/>
            <a:ext cx="469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按照“先乘方，再乘除，最后加减”的顺序计算，有括号的先算括号内的。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3048000"/>
            <a:ext cx="4699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cap="flat" cmpd="sng">
            <a:solidFill>
              <a:srgbClr val="E6CFC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604000" y="3149600"/>
            <a:ext cx="450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E53E3E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避坑指南：</a:t>
            </a:r>
            <a:r>
              <a:rPr lang="en-US" sz="1300" b="0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注意运算符号的变化，特别是负号的处理；建议分步计算，避免跳步出错。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381500"/>
            <a:ext cx="10668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FD1C5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16000" y="45466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📝 规范书写格式示范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5016500"/>
            <a:ext cx="10160000" cy="355600"/>
          </a:xfrm>
          <a:prstGeom prst="roundRect">
            <a:avLst>
              <a:gd name="adj" fmla="val 0"/>
            </a:avLst>
          </a:prstGeom>
          <a:solidFill>
            <a:srgbClr val="4FD1C5">
              <a:alpha val="10000"/>
            </a:srgbClr>
          </a:solidFill>
          <a:ln cap="flat" cmpd="sng">
            <a:solidFill>
              <a:srgbClr val="33B7A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143000" y="5054600"/>
            <a:ext cx="990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1. 写条件：</a:t>
            </a:r>
            <a:r>
              <a:rPr lang="en-US" sz="1400" b="0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当 a = 5，b = -2 时，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5397500"/>
            <a:ext cx="10160000" cy="355600"/>
          </a:xfrm>
          <a:prstGeom prst="roundRect">
            <a:avLst>
              <a:gd name="adj" fmla="val 0"/>
            </a:avLst>
          </a:prstGeom>
          <a:solidFill>
            <a:srgbClr val="4FD1C5">
              <a:alpha val="10000"/>
            </a:srgbClr>
          </a:solidFill>
          <a:ln cap="flat" cmpd="sng">
            <a:solidFill>
              <a:srgbClr val="33B7A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1143000" y="5435600"/>
            <a:ext cx="990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2. 代原式：</a:t>
            </a:r>
            <a:r>
              <a:rPr lang="en-US" sz="1400" b="0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原式 = 5² + 3×5×(-2) （注意：负数代入要加括号）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016000" y="5778500"/>
            <a:ext cx="10160000" cy="355600"/>
          </a:xfrm>
          <a:prstGeom prst="roundRect">
            <a:avLst>
              <a:gd name="adj" fmla="val 0"/>
            </a:avLst>
          </a:prstGeom>
          <a:solidFill>
            <a:srgbClr val="4FD1C5">
              <a:alpha val="10000"/>
            </a:srgbClr>
          </a:solidFill>
          <a:ln cap="flat" cmpd="sng">
            <a:solidFill>
              <a:srgbClr val="33B7A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1143000" y="5816600"/>
            <a:ext cx="990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3. 算结果：</a:t>
            </a:r>
            <a:r>
              <a:rPr lang="en-US" sz="1400" b="0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= 25 - 30 = -5 （清晰展示计算过程，不省略步骤）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数学活动：密码中的数学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19" r="19"/>
          <a:stretch>
            <a:fillRect/>
          </a:stretch>
        </p:blipFill>
        <p:spPr>
          <a:xfrm>
            <a:off x="762000" y="1651000"/>
            <a:ext cx="3810000" cy="2540000"/>
          </a:xfrm>
          <a:prstGeom prst="roundRect">
            <a:avLst>
              <a:gd name="adj" fmla="val 600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2D3748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445000"/>
            <a:ext cx="381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密码学是数学与逻辑的完美结合。在这个充满趣味的活动中，我们将通过数字与字母的奇妙转换，揭开神秘密码背后的真相，体验数学思维带来的解谜乐趣！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953000" y="1651000"/>
            <a:ext cx="6350000" cy="1460500"/>
          </a:xfrm>
          <a:prstGeom prst="roundRect">
            <a:avLst>
              <a:gd name="adj" fmla="val 0"/>
            </a:avLst>
          </a:prstGeom>
          <a:solidFill>
            <a:srgbClr val="4FD1C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953000" y="1651000"/>
            <a:ext cx="50800" cy="14605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5207000" y="1778000"/>
            <a:ext cx="596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01 / 基础设定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将 26 个英文字母 a-z 依次对应自然数 1-26。现在，我们收到了一组神秘的数字密文：</a:t>
            </a:r>
            <a:r>
              <a:rPr lang="en-US" sz="1400" b="1" i="0" u="none" strike="noStrike">
                <a:solidFill>
                  <a:srgbClr val="E53E3E"/>
                </a:solidFill>
                <a:latin typeface="Noto Sans SC"/>
                <a:ea typeface="Noto Sans SC"/>
                <a:cs typeface="Noto Sans SC"/>
                <a:sym typeface="Noto Sans SC"/>
              </a:rPr>
              <a:t>26 2 19 7</a:t>
            </a:r>
            <a:r>
              <a:rPr lang="en-US" sz="1400" b="0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，准备好开启破译之旅了吗？</a:t>
            </a:r>
          </a:p>
        </p:txBody>
      </p:sp>
      <p:sp>
        <p:nvSpPr>
          <p:cNvPr id="9" name="AutoShape 9"/>
          <p:cNvSpPr/>
          <p:nvPr/>
        </p:nvSpPr>
        <p:spPr>
          <a:xfrm>
            <a:off x="4953000" y="3276600"/>
            <a:ext cx="6350000" cy="1460500"/>
          </a:xfrm>
          <a:prstGeom prst="roundRect">
            <a:avLst>
              <a:gd name="adj" fmla="val 0"/>
            </a:avLst>
          </a:prstGeom>
          <a:solidFill>
            <a:srgbClr val="4FD1C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953000" y="3276600"/>
            <a:ext cx="50800" cy="14605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5207000" y="3403600"/>
            <a:ext cx="596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02 / 破译密钥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这是打开密码的关键！请牢记：如果密文数字 x 是</a:t>
            </a:r>
            <a:r>
              <a:rPr lang="en-US" sz="1400" b="1" i="0" u="none" strike="noStrike">
                <a:solidFill>
                  <a:srgbClr val="319795"/>
                </a:solidFill>
                <a:latin typeface="Noto Sans SC"/>
                <a:ea typeface="Noto Sans SC"/>
                <a:cs typeface="Noto Sans SC"/>
                <a:sym typeface="Noto Sans SC"/>
              </a:rPr>
              <a:t>奇数</a:t>
            </a:r>
            <a:r>
              <a:rPr lang="en-US" sz="1400" b="0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，则明文序号 = x + 1；如果是</a:t>
            </a:r>
            <a:r>
              <a:rPr lang="en-US" sz="1400" b="1" i="0" u="none" strike="noStrike">
                <a:solidFill>
                  <a:srgbClr val="319795"/>
                </a:solidFill>
                <a:latin typeface="Noto Sans SC"/>
                <a:ea typeface="Noto Sans SC"/>
                <a:cs typeface="Noto Sans SC"/>
                <a:sym typeface="Noto Sans SC"/>
              </a:rPr>
              <a:t>偶数</a:t>
            </a:r>
            <a:r>
              <a:rPr lang="en-US" sz="1400" b="0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，则明文序号 = x ÷ 2。按照这个规则，一步步计算就能找到对应的字母。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953000" y="4902200"/>
            <a:ext cx="6350000" cy="1460500"/>
          </a:xfrm>
          <a:prstGeom prst="roundRect">
            <a:avLst>
              <a:gd name="adj" fmla="val 0"/>
            </a:avLst>
          </a:prstGeom>
          <a:solidFill>
            <a:srgbClr val="4FD1C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953000" y="4902200"/>
            <a:ext cx="50800" cy="14605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5207000" y="5029200"/>
            <a:ext cx="596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03 / 发起挑战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现在，请拿出纸笔，运用刚才学到的密钥法则，尝试破译“26 2 19 7”。当你把每个数字转换成字母后，你会发现一个我们非常熟悉的数学单词！快动手试试吧！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今天我们学到了什么？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349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3495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01 / 一个核心概念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211">
            <a:off x="1016014" y="2978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3748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175000"/>
            <a:ext cx="28702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代数式的值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用具体的数值代替代数式中的字母，按照代数式中指定的运算关系进行计算，所得到的结果就是代数式的值。它是数与式之间具象化的连接点。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4069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4069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2349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68900" y="23495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02 / 两个关键步骤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5211">
            <a:off x="4660914" y="2978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3748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60900" y="3175000"/>
            <a:ext cx="28702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代入 · 计算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①</a:t>
            </a:r>
            <a:r>
              <a:rPr lang="en-US" sz="1400" b="1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代入：</a:t>
            </a: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将数值准确替换字母，若数值为负数或分数，务必添加括号，注意符号变化。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②</a:t>
            </a:r>
            <a:r>
              <a:rPr lang="en-US" sz="1400" b="1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计算：</a:t>
            </a: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严格遵循“先乘方，再乘除，最后加减”的运算顺序。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0518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0518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5800" y="2349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813800" y="23495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03 / 一种重要思想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5211">
            <a:off x="8305814" y="2978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3748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305800" y="3175000"/>
            <a:ext cx="28702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从一般到特殊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代数式是对数量关系的一般性抽象表达，代表普遍规律；而求代数式的值，就是将这种一般规律应用于具体数值的过程，体现了数学从抽象到具体的思维方法。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762000" y="5842000"/>
            <a:ext cx="10668000" cy="558800"/>
          </a:xfrm>
          <a:prstGeom prst="roundRect">
            <a:avLst>
              <a:gd name="adj" fmla="val 0"/>
            </a:avLst>
          </a:prstGeom>
          <a:solidFill>
            <a:srgbClr val="4FD1C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89000" y="5943600"/>
            <a:ext cx="1041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D3748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💡 课后小贴士：尝试用今天学到的方法，去解决生活中可以用代数式表达的实际问题，体会数学的实用价值。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作业布置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349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349500"/>
            <a:ext cx="241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基础巩固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211">
            <a:off x="1016014" y="2978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175000"/>
            <a:ext cx="2870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认真完成教材</a:t>
            </a: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习题3.2</a:t>
            </a:r>
            <a:r>
              <a:rPr lang="en-US" sz="1400" b="0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的“复习巩固”部分。这是夯实基础的关键，重点在于熟练掌握基本公式的代入与计算。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942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8200" y="2349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156200" y="2349500"/>
            <a:ext cx="241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能力提升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5211">
            <a:off x="4648214" y="2978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48200" y="3175000"/>
            <a:ext cx="2870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尝试攻克“综合运用”板块的挑战题。这部分题目需要结合多个知识点，请尝试用不同的思路去分析和解决，突破思维定式。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264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0400" y="2349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788400" y="2349500"/>
            <a:ext cx="241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拓展思考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5211">
            <a:off x="8280414" y="2978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280400" y="3175000"/>
            <a:ext cx="2870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预习下节内容，并思考：如何通过观察代数式的值的变化规律，来判断两个变量之间的关系？（例如成正比、反比等）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778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💡 建议：请独立完成作业，遇到疑难做好标记，我们将在下次课前进行集中答疑。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1399</Words>
  <Application>Microsoft Office PowerPoint</Application>
  <PresentationFormat>宽屏</PresentationFormat>
  <Paragraphs>143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圣叶 陶</cp:lastModifiedBy>
  <cp:revision>1</cp:revision>
  <dcterms:modified xsi:type="dcterms:W3CDTF">2026-07-15T13:27:40Z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{"Label":"1","ContentProducer":"001191110102MACQD9K64010000","ProduceID":"7662419848962853828","ReservedCode1":"","ContentPropagator":"","PropagateID":"","ReservedCode2":""}</vt:lpwstr>
  </property>
</Properties>
</file>