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15.07.2026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同学们好！今天我们将一起走进第四章《整式的加减》，探索代数式世界里最基础、最重要的成员——整式。准备好开启新的数学旅程了吗？让我们一起出发！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节课的目标非常明确。大家可以把它看作是我们今天的‘寻宝图’。学完这节课，我们要能清楚地分辨什么是单项式，什么是多项式，还要能像侦探一样，准确地找出它们的‘身份信息’——系数、次数等等。大家有信心完成这些任务吗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同学们，看到这张宏伟的港珠澳大桥图片，大家是不是很自豪？数学就隐藏在这些宏伟的建筑中。我们来看这个问题，汽车行驶的路程，我们很容易就能列出算式 92 × t。在数学中，为了书写简便，我们常常把乘号省略，写成 92t。像 92t 这样的式子，就是我们今天要学习的代数式的一种。它有什么特别之处呢？让我们一起来探究。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刚刚我们看到的 92t，还有 a²、0.9p 这些，它们有一个共同的名字，叫做‘单项式’。大家看定义，关键点是‘积’。单独一个数，比如5，我们可以看成是5和任何字母的0次方的积，所以它也是单项式。每个单项式都有两个重要的身份标识：系数和次数。系数就是数字部分，次数就是所有字母头上小数字的总和。大家要特别注意，像 a²，它的系数其实是1，只是省略了。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如果说单项式是‘独行侠’，那么多项式就是‘团队组合’。比如 2n - 10，它就是由 2n 和 -10 这两个单项式组成的。组成多项式的每个单项式都叫做它的‘项’。特别注意，项要包括它前面的符号。在一个多项式里，次数最高的那个项的次数，就决定了整个多项式的次数。比如 x² + 2x + 8，x² 是二次的，所以它就是一个二次多项式。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我们把单项式和多项式放在一起，给它们一个共同的名字——‘整式’。大家可以看这个关系图，整式是一个大家族，它包含了所有的单项式和所有的多项式。以后我们再遇到代数式，就可以先判断它是不是整式，再进一步判断它是单项式还是多项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我们来看几个简单的例子。第一题，三角形面积公式是底乘高除以二，所以是 (1/2)ah。数字因数 1/2 就是系数，字母a和h的指数都是1，加起来次数就是2。第二题，长方体体积是长宽高相乘，xyz，系数是1，次数是3。第三题，n的相反数是 -n，系数是-1，次数是1。大家都做对了吗？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接下来看多项式的例子。第一题，长方形周长是 2(a+b)，展开就是 2a+2b。它的项是 2a 和 2b，次数最高的项是一次，所以这个多项式的次数是1。第二题，m的立方是 m³，与2的差就是 m³ - 2。它的项是 m³ 和 -2，最高次项是 m³，次数为3，所以这个多项式是三次多项式。注意，常数项 -2 的次数是0。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学习新知识时，我们总会遇到一些容易混淆的地方。这里老师给大家总结了几个‘陷阱’，大家一定要注意。第一，系数要带符号！第二，计算次数时，π是常数，不要把它当成字母。第三，系数是1或-1时，1会省略，但我们心里要清楚它的存在。第四，单独的一个数，比如5，它的次数是0。记住这些，就能避免很多错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了，理论学习结束，现在是实践检验的时刻！请大家快速完成这几道练习题。第一题是基础的填表，考察大家对系数和次数的掌握。第二题是分类，看看大家能不能准确区分单项式和多项式。第三题是一个小挑战，找出多项式的项和次数。做完的同学可以和同桌互相检查一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一节课下来，我们学了不少概念。现在我们一起来梳理一下这张‘知识地图’。整式是我们今天学习的核心，它分为单项式和多项式两大类。单项式要关注系数和次数，多项式要关注项、常数项和次数。这张图清晰地展示了它们之间的关系，希望大家能把这张图记在心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学完了整式，我们来做一个更有挑战性的思考。我们知道偶数可以用 2n 表示，那奇数呢？能不能也用一个整式来表示？还有，能被3整除的数，比如3, 6, 9... 它们又该如何用整式表示呢？大家可以分组讨论一下，看看哪个小组能最快找到答案。这个问题没有标准答案，只要合理都可以。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今天的数学课就要结束了。我们一起认识了整式大家庭，学会了如何识别单项式和多项式，并找到了它们的关键特征。希望大家课后能及时复习，完成作业。同时，也可以提前看一看下一节课我们要学习的‘合并同类项’，看看整式之间如何进行加减运算。今天的课就到这里，同学们再见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10.jpeg"/><Relationship Id="rId7" Type="http://schemas.openxmlformats.org/officeDocument/2006/relationships/image" Target="../media/image3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Relationship Id="rId9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413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4.1 整式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937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七年级数学上册 · 第四章 整式的加减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207000" y="5270500"/>
            <a:ext cx="17780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0" y="56515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探索代数式的基础奥秘 · 构建严谨的数学逻辑体系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本节课，我们要掌握什么？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23368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25600" y="23368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 理解概念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5769">
            <a:off x="1066815" y="2978150"/>
            <a:ext cx="276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66800" y="3175000"/>
            <a:ext cx="27686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深入理解并牢固掌握</a:t>
            </a:r>
            <a:r>
              <a:rPr lang="en-US" sz="14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单项式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sz="14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多项式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与</a:t>
            </a:r>
            <a:r>
              <a:rPr lang="en-US" sz="14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整式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的核心定义，明确代数表达式的分类逻辑，建立清晰的数学认知基础。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069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11700" y="23368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270500" y="23368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 学会辨析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5769">
            <a:off x="4711715" y="2978150"/>
            <a:ext cx="276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711700" y="3175000"/>
            <a:ext cx="27686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通过典型实例练习，掌握区分代数式类型的关键特征，能够快速且准确地判断一个表达式是否为单项式、多项式或整式，提升对代数结构的敏锐度。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518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56600" y="2336800"/>
            <a:ext cx="457200" cy="4572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915400" y="23368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 掌握要素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5769">
            <a:off x="8356615" y="2978150"/>
            <a:ext cx="276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356600" y="3175000"/>
            <a:ext cx="27686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熟练拆解代数表达式的构成：精准确定单项式的</a:t>
            </a:r>
            <a:r>
              <a:rPr lang="en-US" sz="14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系数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与</a:t>
            </a:r>
            <a:r>
              <a:rPr lang="en-US" sz="14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次数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；清晰识别多项式的</a:t>
            </a:r>
            <a:r>
              <a:rPr lang="en-US" sz="14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项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sz="14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次数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及</a:t>
            </a:r>
            <a:r>
              <a:rPr lang="en-US" sz="14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常数项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，构建完整的分析框架。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969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1" u="none" strike="noStrike">
                <a:solidFill>
                  <a:srgbClr val="374151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“数学是思维的体操，让我们一起开启代数的探索之旅！”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从生活走进数学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1358" r="1358"/>
          <a:stretch>
            <a:fillRect/>
          </a:stretch>
        </p:blipFill>
        <p:spPr>
          <a:xfrm>
            <a:off x="762000" y="1778000"/>
            <a:ext cx="4826000" cy="330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55245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生活中的数学规律，往往藏在宏伟的建筑与日常现象中，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学会用数学语言描述，是探索科学的第一步。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969000" y="1778000"/>
            <a:ext cx="5588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6159500" y="1930400"/>
            <a:ext cx="520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 问题呈现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159500" y="2387600"/>
            <a:ext cx="520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港珠澳大桥全长55公里，是世界上最长的跨海大桥。一辆汽车在主桥上行驶的平均速度为92km/h，请问：汽车在主桥上行驶 t 小时的路程是多少千米？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969000" y="3937000"/>
            <a:ext cx="5588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159500" y="4089400"/>
            <a:ext cx="520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02 引导列式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159500" y="4572000"/>
            <a:ext cx="520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① 依据公式：路程 = 速度 × 时间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159500" y="4978400"/>
            <a:ext cx="520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② 代入数值：92 × t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159500" y="54864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③ 数学简写：</a:t>
            </a:r>
            <a:r>
              <a:rPr lang="en-US" sz="22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92t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（数字在前，省略乘号）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认识我们的新朋友——单项式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4671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2159000"/>
            <a:ext cx="30861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 观察与发现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4147">
            <a:off x="952513" y="2724150"/>
            <a:ext cx="30861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ADE80">
                <a:alpha val="6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952500" y="2984500"/>
            <a:ext cx="30861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看看这些熟悉的身影：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92t，a²，0.9p，(1/3)a²h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它们有什么共同点？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都是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数与字母的乘积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，没有加减法的参与。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4356100" y="1905000"/>
            <a:ext cx="34671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546600" y="2159000"/>
            <a:ext cx="30861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02 什么是单项式？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4147">
            <a:off x="4546613" y="2724150"/>
            <a:ext cx="30861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ADE80">
                <a:alpha val="6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1" name="AutoShape 11"/>
          <p:cNvSpPr/>
          <p:nvPr/>
        </p:nvSpPr>
        <p:spPr>
          <a:xfrm>
            <a:off x="4546600" y="2984500"/>
            <a:ext cx="30861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由数或字母的积组成的代数式。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特别规定：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单独的一个</a:t>
            </a:r>
            <a:r>
              <a:rPr lang="en-US" sz="14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数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（如 -5）或一个</a:t>
            </a:r>
            <a:r>
              <a:rPr lang="en-US" sz="14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字母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（如 y）也是单项式。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950200" y="1905000"/>
            <a:ext cx="34671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8140700" y="2159000"/>
            <a:ext cx="30861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03 两个重要“身份证”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147">
            <a:off x="8140713" y="2724150"/>
            <a:ext cx="30861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ADE80">
                <a:alpha val="6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5" name="AutoShape 15"/>
          <p:cNvSpPr/>
          <p:nvPr/>
        </p:nvSpPr>
        <p:spPr>
          <a:xfrm>
            <a:off x="8140700" y="2984500"/>
            <a:ext cx="3086100" cy="13335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204200" y="3048000"/>
            <a:ext cx="29591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① 系数：数字因数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如：92t的系数是92；a²的系数是1（通常省略）；-x的系数是-1。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40700" y="4508500"/>
            <a:ext cx="3086100" cy="13335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204200" y="4572000"/>
            <a:ext cx="29591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② 次数：所有字母指数和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如：92t次数为1；(1/3)a²h次数为3；单独非零数次数为0。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单项式的“组合”——多项式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968500"/>
            <a:ext cx="304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 思考与联系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540000"/>
            <a:ext cx="3048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观察下列代数式：</a:t>
            </a:r>
            <a:br>
              <a:rPr lang="zh-CN" alt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altLang="zh-CN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n - 10、x² + 2x + 8、2a + 3b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b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zh-CN" alt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它们的共同点是：都可以看作是几个单项式的和。</a:t>
            </a:r>
            <a:br>
              <a:rPr lang="zh-CN" alt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zh-CN" alt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例如：</a:t>
            </a:r>
            <a:r>
              <a:rPr lang="en-US" altLang="zh-CN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n - 10 </a:t>
            </a:r>
            <a:r>
              <a:rPr lang="zh-CN" alt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是 </a:t>
            </a:r>
            <a:r>
              <a:rPr lang="en-US" altLang="zh-CN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n </a:t>
            </a:r>
            <a:r>
              <a:rPr lang="zh-CN" alt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与 </a:t>
            </a:r>
            <a:r>
              <a:rPr lang="en-US" altLang="zh-CN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-10 </a:t>
            </a:r>
            <a:r>
              <a:rPr lang="zh-CN" alt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的和。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381500" y="1778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4572000" y="1968500"/>
            <a:ext cx="304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02 核心定义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572000" y="2540000"/>
            <a:ext cx="3048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几个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单项式的和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，叫做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多项式 (polynomial)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b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如果说单项式是“独行侠”，那么多项式就是由多个单项式组成的“团队组合”，它们共同构成了一个新的代数式整体。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001000" y="1778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191500" y="1968500"/>
            <a:ext cx="304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03 关键概念速查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91500" y="2540000"/>
            <a:ext cx="3048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zh-CN" alt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项：组成多项式的每个单项式（注意含符号）。</a:t>
            </a:r>
            <a:br>
              <a:rPr lang="zh-CN" alt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altLang="zh-CN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zh-CN" alt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常数项：多项式中不含字母的项。</a:t>
            </a:r>
            <a:br>
              <a:rPr lang="zh-CN" alt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altLang="zh-CN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zh-CN" alt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次数：多项式里次数最高的项的次数。</a:t>
            </a:r>
            <a:br>
              <a:rPr lang="zh-CN" alt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zh-CN" alt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例：</a:t>
            </a:r>
            <a:r>
              <a:rPr lang="en-US" altLang="zh-CN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x² + 2x + 8 </a:t>
            </a:r>
            <a:r>
              <a:rPr lang="zh-CN" alt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的次数为</a:t>
            </a:r>
            <a:r>
              <a:rPr lang="en-US" altLang="zh-CN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r>
              <a:rPr lang="zh-CN" alt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5334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4ADE80">
              <a:alpha val="18000"/>
            </a:srgbClr>
          </a:solidFill>
          <a:ln cap="flat" cmpd="sng">
            <a:solidFill>
              <a:srgbClr val="2EC565">
                <a:alpha val="1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952500" y="5524500"/>
            <a:ext cx="1028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💡 课堂点睛：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确定多项式的次数时，需先找出次数最高的项；书写多项式的项时，一定要包含它前面的符号，这是初学者最容易忽略的细节哦！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整式大家庭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8796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</a:t>
            </a: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由数与字母的积组成的代数式叫做</a:t>
            </a:r>
            <a:r>
              <a:rPr lang="en-US" sz="16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单项式</a:t>
            </a: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，几个单项式的和组成的代数式叫做</a:t>
            </a:r>
            <a:r>
              <a:rPr lang="en-US" sz="1600" b="1" i="0" u="none" strike="noStrik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多项式</a:t>
            </a: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。这两类代数式统称为</a:t>
            </a: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整式</a:t>
            </a: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984500"/>
            <a:ext cx="5207000" cy="2222500"/>
          </a:xfrm>
          <a:prstGeom prst="roundRect">
            <a:avLst>
              <a:gd name="adj" fmla="val 0"/>
            </a:avLst>
          </a:prstGeom>
          <a:solidFill>
            <a:srgbClr val="4ADE80">
              <a:alpha val="12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3175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01 单项式 (Monomial)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291">
            <a:off x="1016009" y="3676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8100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关键特征：</a:t>
            </a:r>
            <a: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数或字母的积（包括单独的数或字母）。</a:t>
            </a:r>
            <a:b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5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典型例子：</a:t>
            </a:r>
            <a: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92t，a²，-6，x，½ab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2984500"/>
            <a:ext cx="5207000" cy="2222500"/>
          </a:xfrm>
          <a:prstGeom prst="roundRect">
            <a:avLst>
              <a:gd name="adj" fmla="val 0"/>
            </a:avLst>
          </a:prstGeom>
          <a:solidFill>
            <a:srgbClr val="3B82F6">
              <a:alpha val="12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477000" y="3175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02 多项式 (Polynomial)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291">
            <a:off x="6477009" y="3676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477000" y="38100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关键特征：</a:t>
            </a:r>
            <a: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几个单项式的和（减法是加法的逆运算）。</a:t>
            </a:r>
            <a:b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5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典型例子：</a:t>
            </a:r>
            <a: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2n-10，x²+2x+8，2a+3b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5461000"/>
            <a:ext cx="10668000" cy="952500"/>
          </a:xfrm>
          <a:prstGeom prst="roundRect">
            <a:avLst>
              <a:gd name="adj" fmla="val 0"/>
            </a:avLst>
          </a:prstGeom>
          <a:solidFill>
            <a:srgbClr val="FBBF24">
              <a:alpha val="12000"/>
            </a:srgbClr>
          </a:solidFill>
          <a:ln w="12700" cap="flat" cmpd="sng">
            <a:solidFill>
              <a:srgbClr val="F59E0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5765800"/>
            <a:ext cx="330200" cy="3302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524000" y="5613400"/>
            <a:ext cx="9779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92400E"/>
                </a:solidFill>
                <a:latin typeface="Noto Sans SC"/>
                <a:ea typeface="Noto Sans SC"/>
                <a:cs typeface="Noto Sans SC"/>
                <a:sym typeface="Noto Sans SC"/>
              </a:rPr>
              <a:t>家族图谱：</a:t>
            </a:r>
            <a:r>
              <a:rPr lang="en-US" sz="1500" b="0" i="0" u="none" strike="noStrike">
                <a:solidFill>
                  <a:srgbClr val="92400E"/>
                </a:solidFill>
                <a:latin typeface="Noto Sans SC"/>
                <a:ea typeface="Noto Sans SC"/>
                <a:cs typeface="Noto Sans SC"/>
                <a:sym typeface="Noto Sans SC"/>
              </a:rPr>
              <a:t>整式是一个“大家庭”，它包含了所有的单项式和所有的多项式。这两类是代数式中最基础、最重要的组成部分。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学以致用：单项式篇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782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2032000"/>
            <a:ext cx="2997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 三角形面积问题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667000"/>
            <a:ext cx="2997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若三角形的一条边长为 a，这条边上的高为 h，请用单项式表示该三角形的面积。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4566">
            <a:off x="952513" y="3803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52500" y="4000500"/>
            <a:ext cx="29972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答案：(1/2)ah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⚖️ 系数：1/2 (数字因数)</a:t>
            </a: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📐 次数：2 (a¹ + h¹ 的和)</a:t>
            </a:r>
          </a:p>
        </p:txBody>
      </p:sp>
      <p:sp>
        <p:nvSpPr>
          <p:cNvPr id="9" name="AutoShape 9"/>
          <p:cNvSpPr/>
          <p:nvPr/>
        </p:nvSpPr>
        <p:spPr>
          <a:xfrm>
            <a:off x="4406900" y="1778000"/>
            <a:ext cx="33782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597400" y="2032000"/>
            <a:ext cx="2997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02 长方体体积计算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97400" y="2667000"/>
            <a:ext cx="2997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一个长方体包装盒的长、宽、高分别为 x cm、y cm、z cm，求其体积的表达式。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4566">
            <a:off x="4597413" y="3803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597400" y="4000500"/>
            <a:ext cx="29972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答案：xyz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⚖️ 系数：1 (省略不写的数字1)</a:t>
            </a: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📐 次数：3 (x¹+y¹+z¹ 的和)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051800" y="1778000"/>
            <a:ext cx="33782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242300" y="2032000"/>
            <a:ext cx="2997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03 有理数的相反数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242300" y="2667000"/>
            <a:ext cx="2997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设 n 为任意有理数，请用一个单项式表示出 n 的相反数。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4566">
            <a:off x="8242313" y="3803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242300" y="4000500"/>
            <a:ext cx="29972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答案：-n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⚖️ 系数：-1 (注意负号)</a:t>
            </a: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📐 次数：1 (单个字母 n 的指数)</a:t>
            </a:r>
          </a:p>
        </p:txBody>
      </p:sp>
      <p:sp>
        <p:nvSpPr>
          <p:cNvPr id="19" name="AutoShape 19"/>
          <p:cNvSpPr/>
          <p:nvPr/>
        </p:nvSpPr>
        <p:spPr>
          <a:xfrm>
            <a:off x="762000" y="5969000"/>
            <a:ext cx="10668000" cy="5080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89000" y="60706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核心提示：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单项式的系数包含前面的符号；当系数为 1 或 -1 时，通常省略数字 1。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学以致用：多项式篇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solidFill>
              <a:srgbClr val="4ADE8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222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01. 长方形周长的表达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8575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已知长方形相邻两边的长分别为</a:t>
            </a:r>
            <a:r>
              <a:rPr lang="en-US" sz="15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</a:t>
            </a:r>
            <a: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和</a:t>
            </a:r>
            <a:r>
              <a:rPr lang="en-US" sz="15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b</a:t>
            </a:r>
            <a: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，请写出该长方形的周长表达式，并分析这个多项式的项与次数。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291">
            <a:off x="1016009" y="3867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4127500"/>
            <a:ext cx="4699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答案：2a + 2b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400" b="1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项：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2a（一次项），2b（一次项），共两项</a:t>
            </a:r>
          </a:p>
          <a:p>
            <a:pPr marL="0" indent="0" algn="l">
              <a:lnSpc>
                <a:spcPct val="133333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400" b="1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次数：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1，由最高次项的次数决定</a:t>
            </a:r>
          </a:p>
        </p:txBody>
      </p:sp>
      <p:sp>
        <p:nvSpPr>
          <p:cNvPr id="9" name="AutoShape 9"/>
          <p:cNvSpPr/>
          <p:nvPr/>
        </p:nvSpPr>
        <p:spPr>
          <a:xfrm>
            <a:off x="6223000" y="1905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solidFill>
              <a:srgbClr val="4ADE8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477000" y="2222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02. 有理数的立方差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8575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设有理数为</a:t>
            </a:r>
            <a:r>
              <a:rPr lang="en-US" sz="15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m</a:t>
            </a:r>
            <a: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，请写出“m的立方与2的差”的多项式表达式，并分别指出它的项与次数。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291">
            <a:off x="6477009" y="3867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477000" y="4127500"/>
            <a:ext cx="4699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答案：m³ - 2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400" b="1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项：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m³（三次项），-2（常数项），共两项</a:t>
            </a:r>
          </a:p>
          <a:p>
            <a:pPr marL="0" indent="0" algn="l">
              <a:lnSpc>
                <a:spcPct val="133333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400" b="1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次数：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3，由最高次项 m³ 的次数决定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小心！这些“陷阱”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968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 系数的符号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4765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单项式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-x²y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的系数是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-1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，切勿漏掉负号。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多项式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a² - 3a + 2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的每一项都包含符号：a², -3a, +2。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1968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02 次数的计算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4765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5πr² 的次数是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（π是常数，不是字母，不计次数）。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x³y + 2x² - 5 的次数为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（取最高次项：3+1=4）。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41275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16000" y="4318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03 隐形的“1”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48260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单项式 ab 省略了系数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，实际为 1ab。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单项式 -xy 省略了系数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-1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，切勿误认为系数不存在。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23000" y="41275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477000" y="4318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04 单独数字的定义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77000" y="48260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数字 0 是单项式，但它没有次数。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任意非零常数（如 5, -2）都是单项式，其次数规定为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小试牛刀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556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4ADE8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9685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 基础回顾 · 填表</a:t>
            </a:r>
            <a:endParaRPr lang="en-US" sz="110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952500" y="2603500"/>
          <a:ext cx="3390900" cy="16002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单项式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DE80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2a²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DE80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-1.2h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DE80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xy²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DE80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-t²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DE80">
                        <a:alpha val="1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系数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7EB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9CA3A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__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7EB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9CA3A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__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7EB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9CA3A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__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7EB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9CA3A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__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7EB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次数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7EB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9CA3A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__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7EB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9CA3A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__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7EB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9CA3A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__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7EB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9CA3A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__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7EB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>
            <a:off x="952500" y="5016500"/>
            <a:ext cx="317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💡 小贴士：系数要包含前面的符号，次数是所有字母的指数之和哦。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318000" y="1778000"/>
            <a:ext cx="3556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4ADE8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508500" y="19685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02 概念辨析 · 分类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508500" y="2603500"/>
            <a:ext cx="317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请对下列代数式进行分类：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2a+1，4r²，2x²-5y+1，3，(3/8)m³-5n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08500" y="3683000"/>
            <a:ext cx="3175000" cy="8890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635500" y="3784600"/>
            <a:ext cx="2984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66534"/>
                </a:solidFill>
                <a:latin typeface="Noto Sans SC"/>
                <a:ea typeface="Noto Sans SC"/>
                <a:cs typeface="Noto Sans SC"/>
                <a:sym typeface="Noto Sans SC"/>
              </a:rPr>
              <a:t>✅ 单项式：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____________________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（单独的一个数或一个字母也是）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08500" y="4826000"/>
            <a:ext cx="3175000" cy="889000"/>
          </a:xfrm>
          <a:prstGeom prst="roundRect">
            <a:avLst>
              <a:gd name="adj" fmla="val 0"/>
            </a:avLst>
          </a:prstGeom>
          <a:solidFill>
            <a:srgbClr val="3B82F6">
              <a:alpha val="10000"/>
            </a:srgbClr>
          </a:solidFill>
          <a:ln w="12700" cap="flat" cmpd="sng">
            <a:solidFill>
              <a:srgbClr val="3B82F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4635500" y="4927600"/>
            <a:ext cx="2984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📝 多项式：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____________________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（几个单项式的和组成）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874000" y="1778000"/>
            <a:ext cx="3556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4ADE8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064500" y="19685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03 进阶挑战 · 拆解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064500" y="2603500"/>
            <a:ext cx="317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挑战一下：分析多项式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-5a²b + 2ab - b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064500" y="3683000"/>
            <a:ext cx="3175000" cy="889000"/>
          </a:xfrm>
          <a:prstGeom prst="roundRect">
            <a:avLst>
              <a:gd name="adj" fmla="val 0"/>
            </a:avLst>
          </a:prstGeom>
          <a:solidFill>
            <a:srgbClr val="F59E0B">
              <a:alpha val="10000"/>
            </a:srgbClr>
          </a:solidFill>
          <a:ln w="12700" cap="flat" cmpd="sng">
            <a:solidFill>
              <a:srgbClr val="F59E0B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191500" y="3784600"/>
            <a:ext cx="2984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2400E"/>
                </a:solidFill>
                <a:latin typeface="Noto Sans SC"/>
                <a:ea typeface="Noto Sans SC"/>
                <a:cs typeface="Noto Sans SC"/>
                <a:sym typeface="Noto Sans SC"/>
              </a:rPr>
              <a:t>🔍 它的项是？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____________________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（注意：项包括前面的符号）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064500" y="4826000"/>
            <a:ext cx="3175000" cy="889000"/>
          </a:xfrm>
          <a:prstGeom prst="roundRect">
            <a:avLst>
              <a:gd name="adj" fmla="val 0"/>
            </a:avLst>
          </a:prstGeom>
          <a:solidFill>
            <a:srgbClr val="EC4899">
              <a:alpha val="10000"/>
            </a:srgbClr>
          </a:solidFill>
          <a:ln w="12700" cap="flat" cmpd="sng">
            <a:solidFill>
              <a:srgbClr val="EC4899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191500" y="4927600"/>
            <a:ext cx="2984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D174D"/>
                </a:solidFill>
                <a:latin typeface="Noto Sans SC"/>
                <a:ea typeface="Noto Sans SC"/>
                <a:cs typeface="Noto Sans SC"/>
                <a:sym typeface="Noto Sans SC"/>
              </a:rPr>
              <a:t>⚡ 它的次数是？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____________________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（看次数最高的项的次数）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本节课知识地图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27100" y="2286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 整式 · 核心基石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4505">
            <a:off x="927113" y="2914650"/>
            <a:ext cx="3009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927100" y="3111500"/>
            <a:ext cx="304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整式是代数式的基础组成，由数与字母通过乘法连接而成。它是构建代数大厦的“砖瓦”，是学习后续因式分解、方程求解与函数的必备前提，贯穿初中代数学习的始终。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27100" y="4826000"/>
            <a:ext cx="3048000" cy="4064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927100" y="4826000"/>
            <a:ext cx="304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定位：代数运算的逻辑起点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94200" y="2032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559300" y="2286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02 单项式 · 基础单元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4505">
            <a:off x="4559313" y="2914650"/>
            <a:ext cx="3009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559300" y="3111500"/>
            <a:ext cx="304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由数或字母的积组成的代数式（单独的数或字母也属于单项式）。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核心要素：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1. 系数：单项式中的数字因数（包含符号）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2. 次数：所有字母的指数之和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559300" y="4826000"/>
            <a:ext cx="3048000" cy="4064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4559300" y="4826000"/>
            <a:ext cx="304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示例：-5xy² (系数-5，次数3)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26400" y="2032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191500" y="2286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03 多项式 · 组合形式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4505">
            <a:off x="8191513" y="2914650"/>
            <a:ext cx="3009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8191500" y="3111500"/>
            <a:ext cx="304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由几个单项式相加组成的代数式。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核心要素：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1. 项：组成多项式的每个单项式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2. 次数：多项式中次数最高的项的次数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191500" y="4826000"/>
            <a:ext cx="3048000" cy="4064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191500" y="4826000"/>
            <a:ext cx="304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示例：3x²y + 7z - 1 (次数3，3项)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588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4ADE80">
              <a:alpha val="12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889000" y="5689600"/>
            <a:ext cx="1041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💡 总结归纳：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单项式和多项式统称为整式，它们是“个体”与“组合”的关系，共同构成了整式的完整知识体系，是代数运算的基础。</a:t>
            </a:r>
            <a:endParaRPr lang="en-US" sz="110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152E742-9EE0-5F77-A510-2BB6AA431CAE}"/>
              </a:ext>
            </a:extLst>
          </p:cNvPr>
          <p:cNvSpPr txBox="1"/>
          <p:nvPr/>
        </p:nvSpPr>
        <p:spPr>
          <a:xfrm>
            <a:off x="889000" y="1524000"/>
            <a:ext cx="9906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/>
              <a:t>单项式和多项式统称为整式。单项式由数或字母的积组成，多项式由若干单项式的和组成。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超越课堂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1066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我们知道，形如</a:t>
            </a:r>
            <a:r>
              <a:rPr lang="en-US" sz="18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2n</a:t>
            </a:r>
            <a:r>
              <a:rPr lang="en-US" sz="18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（n为整数）的整式可以完美表示所有偶数。那么，对于其他有规律的整数序列，我们能否也用简洁的整式来概括呢？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429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ADE8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9500" y="37084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87500" y="3708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探索一：表示所有奇数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549">
            <a:off x="1079509" y="4248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79500" y="4419600"/>
            <a:ext cx="4635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观察序列：1, 3, 5, 7, 9...</a:t>
            </a:r>
            <a:b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思考：能否构造一个只含整数 n 的整式，使其恰好覆盖所有奇数？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3429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ADE8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0500" y="37084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048500" y="3708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探索二：表示3的倍数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9549">
            <a:off x="6540509" y="4248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540500" y="4419600"/>
            <a:ext cx="4635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观察序列：3, 6, 9, 12, 15...</a:t>
            </a:r>
            <a:b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挑战：尝试用一个简洁的整式，精准表示所有能被3整除的整数。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5842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💡 小组讨论：写出你的猜想，并尝试举例验证它是否成立！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今日收获与明日任务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286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 今日收获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857500"/>
            <a:ext cx="508000" cy="381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238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60500" y="3213100"/>
            <a:ext cx="4381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一个核心：整式的概念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理解代数式的基本构成，掌握整式作为代数式基础形式的核心地位。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127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460500" y="4102100"/>
            <a:ext cx="4381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两个基本：单项式与多项式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明晰单项式与多项式的定义差异，能准确判断代数式所属的类别。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016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460500" y="4991100"/>
            <a:ext cx="4381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三个关键：系数、次数、项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熟练掌握这三个核心要素，能够精准分析和描述整式的各项特征。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23000" y="2032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477000" y="2286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02 课后作业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77000" y="2857500"/>
            <a:ext cx="508000" cy="381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3238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921500" y="3213100"/>
            <a:ext cx="4381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复习回顾，夯实基础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重温本节课重点内容，梳理整式相关的知识点，构建清晰的知识框架。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4127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921500" y="4102100"/>
            <a:ext cx="4381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实战演练，巩固提升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独立完成教材 P100-P101 的练习题，通过练习加深对概念的理解与应用。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50165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921500" y="4991100"/>
            <a:ext cx="4381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预习新知，探索未知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阅读下一节《合并同类项》，尝试思考同类项的判定标准，做好课前准备。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6159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1" u="none" strike="noStrike">
                <a:solidFill>
                  <a:srgbClr val="4B5563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“ 数学的奥秘在于不断探索与积累，愿大家每天都有新的进步！”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1577</Words>
  <Application>Microsoft Office PowerPoint</Application>
  <PresentationFormat>宽屏</PresentationFormat>
  <Paragraphs>175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圣叶 陶</cp:lastModifiedBy>
  <cp:revision>1</cp:revision>
  <dcterms:modified xsi:type="dcterms:W3CDTF">2026-07-15T13:28:20Z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{"Label":"1","ContentProducer":"001191110102MACQD9K64010000","ProduceID":"7662419917989252025","ReservedCode1":"","ContentPropagator":"","PropagateID":"","ReservedCode2":""}</vt:lpwstr>
  </property>
</Properties>
</file>