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微笑，面向学生）同学们好！今天我们来学习一个新的几何图形——角。大家看这个标题，“角”，在生活中我们经常听到，比如“墙角”、“牛角”，那数学里的“角”是什么样的呢？让我们一起走进今天的课堂，探索角的奥秘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这节课的目标非常明确，我们会从认识角开始，学习如何表示它、度量它，然后学习如何比较和运算，最后看看如何用它来解决实际问题。请同学们带着这些目标，认真听讲，积极思考。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请看大屏幕。这些图片里都藏着我们今天要学习的“角”。钟表上指针的转动，剪刀开合的大小，蜂巢的完美结构，甚至我们身边建筑的线条，都充满了角的身影。角不仅是数学概念，更是构成我们世界的基本元素。今天，我们就来给这些“角”一个数学上的定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从两个角度理解角。静态地看，它就是由一个顶点和两条边组成的图形。动态地看，它是一条射线旋转的结果。这两种定义本质是一样的。表示角时，大家要注意，用三个字母表示最保险，顶点字母一定要放在中间。如果顶点处有多个角，就不能只用一个字母表示了，以免混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精确度量角的大小，我们引入了度、分、秒。大家一定要记住它们之间的换算关系：1度等于60分，1分等于60秒。这是一个六十进制，跟我们熟悉的十进制不同，计算时要特别小心。大单位化小单位用乘法，乘以60；小单位化大单位用除法，除以60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位角在航海、测绘中非常重要。描述方位时，我们通常以正北或正南为基准，然后说偏东或偏西多少度。比如“北偏东40°”，千万不能说成“东偏北40°”，因为它们的基准不一样。大家跟我一起，在图上把客轮C和海岛D的方向画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较角的大小，就像比较线段长短一样，我们可以用工具量，也可以把它们叠在一起看。角的和差运算也和数的运算类似，但要注意度分秒的六十进制。做减法时，如果低位不够减，要像时间计算一样，从高位借1当60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类比线段的中点，我们得到了角的平分线。角平分线的核心就是“平分”，意味着把一个角分成两个完全相等的小角。看到“平分线”这个词，就要立刻想到“一半”和“两倍”的关系。这个例题就很好地运用了这个性质，大家仔细看一下解题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这几个都是大家在做题时非常容易犯的错误。特别是度分秒的换算和运算，一定要反复提醒自己是六十进制。角的表示和方位角的描述，也要养成规范的习惯。希望大家在练习中多加注意，避免掉进这些“陷阱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好了，学了这么多，现在是检验大家学习成果的时候了。请大家拿出练习本，快速完成这几道题。注意度分秒的换算和运算规则。做完的同学可以和同桌互相检查一下。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学习了关于角的很多知识。大家看这个思维导图，它清晰地梳理了我们今天所学的内容。从角的定义、表示，到度量、运算，再到角平分线。希望大家课后能对照这个图，自己再梳理一遍，形成一个完整的知识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今天的课就到这里。我们不仅学会了书本上的知识，还解决了生活中的问题。课后请大家完成作业，并思考这两个拓展问题。特别是第二个问题，非常有趣，看看谁能用三角尺画出更多不同度数的角。下课！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D443FB-48ED-E95C-16DE-CD05E09307E1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补齐教材后续余角补角内容。</a:t>
            </a:r>
          </a:p>
        </p:txBody>
      </p:sp>
    </p:spTree>
    <p:extLst>
      <p:ext uri="{BB962C8B-B14F-4D97-AF65-F5344CB8AC3E}">
        <p14:creationId xmlns:p14="http://schemas.microsoft.com/office/powerpoint/2010/main" val="2486156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976B27-65D5-B5EC-A738-A65F627178B4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给出简洁推导。</a:t>
            </a:r>
          </a:p>
        </p:txBody>
      </p:sp>
    </p:spTree>
    <p:extLst>
      <p:ext uri="{BB962C8B-B14F-4D97-AF65-F5344CB8AC3E}">
        <p14:creationId xmlns:p14="http://schemas.microsoft.com/office/powerpoint/2010/main" val="3843977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AB515-0CA3-28FE-5523-08E809E6A0E8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课堂练习注意图形条件。</a:t>
            </a:r>
          </a:p>
        </p:txBody>
      </p:sp>
    </p:spTree>
    <p:extLst>
      <p:ext uri="{BB962C8B-B14F-4D97-AF65-F5344CB8AC3E}">
        <p14:creationId xmlns:p14="http://schemas.microsoft.com/office/powerpoint/2010/main" val="66737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20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sv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22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922000" y="-254000"/>
            <a:ext cx="1016000" cy="1016000"/>
          </a:xfrm>
          <a:prstGeom prst="ellipse">
            <a:avLst/>
          </a:prstGeom>
          <a:solidFill>
            <a:srgbClr val="10B981">
              <a:alpha val="15000"/>
            </a:srgbClr>
          </a:solidFill>
          <a:ln cap="flat" cmpd="sng">
            <a:solidFill>
              <a:srgbClr val="00A06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899999">
            <a:off x="10414000" y="508000"/>
            <a:ext cx="508000" cy="508000"/>
          </a:xfrm>
          <a:prstGeom prst="triangle">
            <a:avLst/>
          </a:prstGeom>
          <a:solidFill>
            <a:srgbClr val="10B981">
              <a:alpha val="20000"/>
            </a:srgbClr>
          </a:solidFill>
          <a:ln cap="flat" cmpd="sng">
            <a:solidFill>
              <a:srgbClr val="00A06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6.3 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064000"/>
            <a:ext cx="1143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cap="flat" cmpd="sng">
            <a:solidFill>
              <a:srgbClr val="00A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44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第六章 几何图形初步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从生活实例走进几何世界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10B981">
              <a:alpha val="10000"/>
            </a:srgbClr>
          </a:solidFill>
          <a:ln cap="flat" cmpd="sng">
            <a:solidFill>
              <a:srgbClr val="00A06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25600" y="19431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认识角：定义与表示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92200" y="25146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深入理解角的“静态构成”与“动态旋转”两种定义；熟练掌握用数字、字母及希腊字母表示角的规范方法，能清晰描述顶点与边的位置关系。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714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159500" y="171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9700" y="196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23100" y="19431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度量角：单位与换算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89700" y="25146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认识角度制的基本单位“度、分、秒”，理解其60进制的换算逻辑；学会使用量角器进行角度的精确测量与规范绘制。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381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25600" y="43561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比较与运算：关系与平分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92200" y="49276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掌握叠合法与度量法来比较角的大小；能准确进行角的和、差、倍、分运算；深刻理解角平分线的几何定义，并能运用其性质解决简单的角度计算问题。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595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1595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9700" y="4381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23100" y="43561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应用角：方位与实践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89700" y="49276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结合现实场景理解方位角的概念，学会用“北偏东”、“南偏西”等术语描述方向；能运用角度知识解决航海、测绘、建筑等领域的简单方位与导航问题。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生活中的“角”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34076" r="34076"/>
          <a:stretch>
            <a:fillRect/>
          </a:stretch>
        </p:blipFill>
        <p:spPr>
          <a:xfrm>
            <a:off x="952500" y="18415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111500" y="18415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时间的刻度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钟表上时针与分针在转动中形成不同的夹角，这些角不仅是时间流逝的见证，更是几何角度在日常生活中的生动体现。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12500" b="12500"/>
          <a:stretch>
            <a:fillRect/>
          </a:stretch>
        </p:blipFill>
        <p:spPr>
          <a:xfrm>
            <a:off x="6413500" y="18415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572500" y="18415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工具的夹角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剪刀张开的刀刃之间构成了明显的角，这个角的大小决定了剪刀开口的宽度，直观地展示了角的大小与开口的关系。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000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l="5583" r="5583"/>
          <a:stretch>
            <a:fillRect/>
          </a:stretch>
        </p:blipFill>
        <p:spPr>
          <a:xfrm>
            <a:off x="952500" y="43180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111500" y="43180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自然的构造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蜂巢由无数正六边形紧密拼接而成，每个内角都精确相等，这种几何结构最大化了空间利用率，是自然界的数学智慧。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000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l="5555" r="5555"/>
          <a:stretch>
            <a:fillRect/>
          </a:stretch>
        </p:blipFill>
        <p:spPr>
          <a:xfrm>
            <a:off x="6413500" y="43180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572500" y="4318000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建筑的棱角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传统建筑的飞檐与墙面、屋顶与立柱之间形成了丰富的角，这些角不仅支撑起建筑的骨架，更赋予了建筑独特的美学韵味。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什么是角？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静态定义：构成的图形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由具有公共端点的两条射线组成。这个公共端点称为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顶点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，两条射线则是角的两条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边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，二者缺一不可。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365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动态定义：旋转的轨迹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10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一条射线绕着它的端点从一个位置旋转到另一个位置所形成的图形。起始位置的射线叫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始边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，终止位置的射线叫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终边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953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规范表示：三种方式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53594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① 三字母：∠AOB（顶点字母居中，最通用）；② 单字母：∠O（仅当顶点处只有一个角时）；③ 符号：∠α（希腊字母）或∠1（数字），简洁直观。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l="18616" r="18616"/>
          <a:stretch>
            <a:fillRect/>
          </a:stretch>
        </p:blipFill>
        <p:spPr>
          <a:xfrm>
            <a:off x="6477000" y="1841500"/>
            <a:ext cx="5207000" cy="1841500"/>
          </a:xfrm>
          <a:prstGeom prst="rect">
            <a:avLst/>
          </a:prstGeom>
          <a:noFill/>
          <a:ln w="254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t="3146" b="3146"/>
          <a:stretch>
            <a:fillRect/>
          </a:stretch>
        </p:blipFill>
        <p:spPr>
          <a:xfrm>
            <a:off x="6477000" y="4254500"/>
            <a:ext cx="5207000" cy="1841500"/>
          </a:xfrm>
          <a:prstGeom prst="rect">
            <a:avLst/>
          </a:prstGeom>
          <a:noFill/>
          <a:ln w="254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如何精确度量角？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度量单位与进率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角的度量单位为度(°)、分(′)、秒(″)。它们采用独特的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六十进制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，换算逻辑与我们熟悉的时间单位（时、分、秒）完全一致。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27305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5500" y="31496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1° = 60′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大化小 → 乘60（如：度化分）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3619500" y="3048000"/>
            <a:ext cx="27305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683000" y="31496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1′ = 60″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小化大 → 除60（如：分化度）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27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单位换算实战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355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1F5F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5500" y="4762500"/>
            <a:ext cx="2603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例1：3.5° 化为度分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0.5° = 0.5 × 60′ = 30′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3°30′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619500" y="46355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1F5F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683000" y="4762500"/>
            <a:ext cx="2603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例2：48°30′ 化为度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30′ = 30 ÷ 60 = 0.5°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48.5°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l="33" r="33"/>
          <a:stretch>
            <a:fillRect/>
          </a:stretch>
        </p:blipFill>
        <p:spPr>
          <a:xfrm>
            <a:off x="6858000" y="1905000"/>
            <a:ext cx="4318000" cy="314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858000" y="52705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85000" y="53975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度量小技巧：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测量时，确保量角器的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中心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对准角的顶点，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0°刻度线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与角的一条边重合，视线垂直读取另一条边的刻度值。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学以致用：方位角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5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航海情境引入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095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货轮O航行时，发现灯塔A在其南偏东60°方向。同时观测到：客轮B在北偏东40°，货轮C在南偏西10°，海岛D在西北方向（北偏西45°）。如何在图中准确画出这些方位？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581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5306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Step 1 锁定基准点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以观测点O为顶点，确立正北或正南方向作为角度测量的起始基准边。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470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4196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Step 2 判定偏转方向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明确“北偏东/西”或“南偏东/西”，确定从基准边向哪个方向旋转及旋转的角度值。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705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4229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53721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绘制方位射线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使用量角器准确度量角度，从O点出发画出射线，标注对应目标（如射线OB、OC）。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t="48" b="48"/>
          <a:stretch>
            <a:fillRect/>
          </a:stretch>
        </p:blipFill>
        <p:spPr>
          <a:xfrm>
            <a:off x="6604000" y="1905000"/>
            <a:ext cx="482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604000" y="49530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794500" y="51054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易错警示：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方位角描述必须先提“北”或“南”，后说“偏东”或“偏西”。例如“北偏东40°”不能说成“东偏北40°”，两者基准不同，指向也完全不同。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角的比较与运算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510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比较大小的方法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度量法：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用量角器量出度数，度数大的角大。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叠合法：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顶点与一边重合，观察另一边位置关系。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318000" y="1524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角的和与差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和：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∠AOC = ∠AOB + ∠BOC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差：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∠AOB = ∠AOC - ∠BOC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核心：利用图形直观理解数量关系。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874000" y="1524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001000" y="16510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典型运算示例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180° - 53°17′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难点：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分位不够减，需借位。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结果：126°43′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4310" r="4310"/>
          <a:stretch>
            <a:fillRect/>
          </a:stretch>
        </p:blipFill>
        <p:spPr>
          <a:xfrm>
            <a:off x="762000" y="3937000"/>
            <a:ext cx="4572000" cy="1714500"/>
          </a:xfrm>
          <a:prstGeom prst="rect">
            <a:avLst/>
          </a:prstGeom>
          <a:noFill/>
          <a:ln w="254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62000" y="571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图示：通过叠合法直观判断两角的大小关系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3937000"/>
            <a:ext cx="5842000" cy="2413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778500" y="4127500"/>
            <a:ext cx="558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🔍 运算解析：度分秒的借位减法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借位转换：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180°可看作 179°60′（从度位借1°，化为60′）。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分项计算：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179° - 53° = 126°，60′ - 17′ = 43′。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结果整合：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将度和分的结果合并，得到最终答案 126°43′。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角的“中点”——角平分线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核心定义与性质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从一个角的顶点出发，把这个角分成两个相等的角的射线，叫做这个角的平分线。若OB平分∠AOC，则存在如下数量关系：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11500"/>
            <a:ext cx="1727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5500" y="32385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两角相等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∠AOB = ∠BOC</a:t>
            </a:r>
          </a:p>
        </p:txBody>
      </p:sp>
      <p:sp>
        <p:nvSpPr>
          <p:cNvPr id="8" name="AutoShape 8"/>
          <p:cNvSpPr/>
          <p:nvPr/>
        </p:nvSpPr>
        <p:spPr>
          <a:xfrm>
            <a:off x="2692400" y="3111500"/>
            <a:ext cx="1727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755900" y="32385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整体是部分两倍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∠AOC = 2∠AOB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622800" y="3111500"/>
            <a:ext cx="1727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86300" y="32385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部分是整体一半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∠AOB = ½∠AOC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典型例题解析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5588000" cy="1524000"/>
          </a:xfrm>
          <a:prstGeom prst="roundRect">
            <a:avLst>
              <a:gd name="adj" fmla="val 0"/>
            </a:avLst>
          </a:prstGeom>
          <a:solidFill>
            <a:srgbClr val="F1F5F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89000" y="49530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O是直线AB上一点，OC平分∠AOB，∠COD=31°28′，求∠AOD。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∵ AB是直线，OC平分∠AOB ∴ ∠AOC = 90°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∠AOD = ∠AOC - ∠COD = 90° - 31°28′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58°32′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167" b="167"/>
          <a:stretch>
            <a:fillRect/>
          </a:stretch>
        </p:blipFill>
        <p:spPr>
          <a:xfrm>
            <a:off x="6858000" y="1905000"/>
            <a:ext cx="2794000" cy="2603500"/>
          </a:xfrm>
          <a:prstGeom prst="rect">
            <a:avLst/>
          </a:prstGeom>
          <a:noFill/>
          <a:ln w="254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858000" y="4826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0" y="5016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29500" y="5016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见到“角平分线”，迅速反应出“平分”的核心——产生两个相等的角。结合平角（180°）、直角（90°）等隐含条件，建立角度间的和差或倍数关系，是解决此类问题的捷径。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这些“陷阱”要避开！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 角的表示不规范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305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438400"/>
            <a:ext cx="488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当顶点处有多个角时，仅用单个字母（如∠A）表示，导致指代不明。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必须使用三个字母（如∠BAC）或数字、希腊字母来精准区分。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 度分秒换算错误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046">
            <a:off x="6477008" y="2305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477000" y="2438400"/>
            <a:ext cx="488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误将60进制当10进制，例如将 1.5° 错误换算为 1°5′。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牢记进率：1°=60′，1′=60″，所以 1.5° 应等于 1°30′。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431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运算忘借位与进位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952508" y="47815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4914900"/>
            <a:ext cx="488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直接相减，如计算 10°5′ - 8°10′ 时，忽略分不够减需借位。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借位后计算：10°5′ = 9°65′，再减得 1°55′；加法满60要进1。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865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431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 方位角描述错误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046">
            <a:off x="6477008" y="47815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77000" y="4914900"/>
            <a:ext cx="4889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习惯描述为“东偏北30°”，不符合方位角的标准地理描述规则。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必须以南北为基准，正确说法是“北偏东60°”（夹角小于45°更优）。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基础填空 · 单位换算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① 0.5°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30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′ ② 900″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15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′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0.25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③ 38°15′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&gt;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38.15° （解析：15′ = 0.25°，故38.25° &gt; 38.15°）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进阶计算 · 角度运算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159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① 48°39′ + 67°31′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116°10′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（技巧：分满60向度进1）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② 180° - 41°12′27″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138°47′33″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（技巧：借1度当60分，借1分当60秒）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观察思考 · 看图说话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206" r="206"/>
          <a:stretch>
            <a:fillRect/>
          </a:stretch>
        </p:blipFill>
        <p:spPr>
          <a:xfrm>
            <a:off x="762000" y="4381500"/>
            <a:ext cx="4318000" cy="1524000"/>
          </a:xfrm>
          <a:prstGeom prst="rect">
            <a:avLst/>
          </a:prstGeom>
          <a:noFill/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334000" y="4381500"/>
            <a:ext cx="6096000" cy="1524000"/>
          </a:xfrm>
          <a:prstGeom prst="roundRect">
            <a:avLst>
              <a:gd name="adj" fmla="val 0"/>
            </a:avLst>
          </a:prstGeom>
          <a:solidFill>
            <a:srgbClr val="D1FAE5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524500" y="4546600"/>
            <a:ext cx="5715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图中元素：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展示了8个不同度数的角，涵盖了锐角（如10°、30°）、钝角（如100°、120°）等类型。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可用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数字标记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（∠1）、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顶点字母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（∠O）或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度数+类型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（80°的锐角）等方式来描述。尝试找出图中的余角或补角关系。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角的定义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静态：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由有公共端点的两条射线组成的图形。</a:t>
            </a:r>
            <a:b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一条射线绕着它的端点从一个位置旋转到另一个位置所形成的图形。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表示方法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通常有三种形式：</a:t>
            </a:r>
            <a:b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① 三个大写字母（如∠AOB）；</a:t>
            </a:r>
            <a:b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② 一个顶点字母（如∠O）；</a:t>
            </a:r>
            <a:b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③ 数字或希腊字母（如∠1, ∠α）。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度量与换算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单位：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度(°)、分(′)、秒(″)。</a:t>
            </a:r>
            <a:b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进率：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采用六十进制，即 1°=60′，1′=60″，逢60进1，借1当60。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21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比较与运算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699000"/>
            <a:ext cx="4851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比较：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可通过“度量法”（用量角器量度数）或“叠合法”（顶点重合比较）进行。</a:t>
            </a:r>
            <a:b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运算：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角度的和、差运算需遵循六十进制，计算时注意借位与进位规则。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97600" y="4064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8100" y="425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69100" y="421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 角平分线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88100" y="4699000"/>
            <a:ext cx="4851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从一个角的顶点出发，把这个角分成两个相等角的射线，叫做这个角的平分线。</a:t>
            </a:r>
            <a:b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角平分线将角平分为两个度数相等的角，是几何中重要的辅助线。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总结与思考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课堂总结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深入理解角的定义，掌握角度的精确度量与表示方法。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熟练运用角的大小比较、和差运算，理解角平分线的核心性质。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建立空间几何的基础认知，为后续三角形、多边形的学习筑牢根基。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73500"/>
            <a:ext cx="5334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06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拓展思考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533900"/>
            <a:ext cx="4826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时间几何：在标准的12小时制时钟中，1小时内时针与分针会形成多少次直角？</a:t>
            </a:r>
            <a:b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2. 组合拼图：仅使用一副含30°、45°、60°、90°角的三角尺，通过拼接或叠合，如何画出15°、75°和105°的角？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180" r="180"/>
          <a:stretch>
            <a:fillRect/>
          </a:stretch>
        </p:blipFill>
        <p:spPr>
          <a:xfrm>
            <a:off x="6477000" y="2286000"/>
            <a:ext cx="5080000" cy="13716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477000" y="4254500"/>
            <a:ext cx="5080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67500" y="4445000"/>
            <a:ext cx="4699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动手探索时刻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数学不仅是纸上的公式，更是动手的实践。拿起你的三角尺，尝试不同的摆放与组合，你会发现角度之间奇妙的关系。这不仅能巩固今天的知识，更能锻炼你的空间想象力！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E98E82-4E1D-C348-C15D-161C69D5CBEF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余角和补角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35F976-5A9B-61EE-A022-8780E9415F1D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和为</a:t>
            </a:r>
            <a:r>
              <a:rPr lang="en-US" altLang="zh-CN" sz="2200"/>
              <a:t>90°</a:t>
            </a:r>
            <a:r>
              <a:rPr lang="zh-CN" altLang="en-US" sz="2200"/>
              <a:t>的两个角互为余角
</a:t>
            </a:r>
            <a:r>
              <a:rPr lang="en-US" altLang="zh-CN" sz="2200"/>
              <a:t>• </a:t>
            </a:r>
            <a:r>
              <a:rPr lang="zh-CN" altLang="en-US" sz="2200"/>
              <a:t>和为</a:t>
            </a:r>
            <a:r>
              <a:rPr lang="en-US" altLang="zh-CN" sz="2200"/>
              <a:t>180°</a:t>
            </a:r>
            <a:r>
              <a:rPr lang="zh-CN" altLang="en-US" sz="2200"/>
              <a:t>的两个角互为补角
</a:t>
            </a:r>
            <a:r>
              <a:rPr lang="en-US" altLang="zh-CN" sz="2200"/>
              <a:t>• </a:t>
            </a:r>
            <a:r>
              <a:rPr lang="zh-CN" altLang="en-US" sz="2200"/>
              <a:t>这是数量关系，不要求位置相邻</a:t>
            </a:r>
          </a:p>
        </p:txBody>
      </p:sp>
    </p:spTree>
    <p:extLst>
      <p:ext uri="{BB962C8B-B14F-4D97-AF65-F5344CB8AC3E}">
        <p14:creationId xmlns:p14="http://schemas.microsoft.com/office/powerpoint/2010/main" val="3560779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09F3B7-E74A-E898-487F-F5F5E83189A6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余角和补角的重要性质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197219-50A1-DDE0-24F9-CD62939D5D18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同角或等角的余角相等
</a:t>
            </a:r>
            <a:r>
              <a:rPr lang="en-US" altLang="zh-CN" sz="2200"/>
              <a:t>• </a:t>
            </a:r>
            <a:r>
              <a:rPr lang="zh-CN" altLang="en-US" sz="2200"/>
              <a:t>同角或等角的补角相等
</a:t>
            </a:r>
            <a:r>
              <a:rPr lang="en-US" altLang="zh-CN" sz="2200"/>
              <a:t>• </a:t>
            </a:r>
            <a:r>
              <a:rPr lang="zh-CN" altLang="en-US" sz="2200"/>
              <a:t>用简单等式说明性质来源</a:t>
            </a:r>
          </a:p>
        </p:txBody>
      </p:sp>
    </p:spTree>
    <p:extLst>
      <p:ext uri="{BB962C8B-B14F-4D97-AF65-F5344CB8AC3E}">
        <p14:creationId xmlns:p14="http://schemas.microsoft.com/office/powerpoint/2010/main" val="2427937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1D8FFB-7E6B-7DB0-03E3-11E9AECAE311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例题与练习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0AD01D-537C-A0CB-2D77-E37B65024923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已知一个角求余角、补角
</a:t>
            </a:r>
            <a:r>
              <a:rPr lang="en-US" altLang="zh-CN" sz="2200"/>
              <a:t>• </a:t>
            </a:r>
            <a:r>
              <a:rPr lang="zh-CN" altLang="en-US" sz="2200"/>
              <a:t>根据两个角的数量关系列式
</a:t>
            </a:r>
            <a:r>
              <a:rPr lang="en-US" altLang="zh-CN" sz="2200"/>
              <a:t>• </a:t>
            </a:r>
            <a:r>
              <a:rPr lang="zh-CN" altLang="en-US" sz="2200"/>
              <a:t>结合图形判断角度关系</a:t>
            </a:r>
          </a:p>
        </p:txBody>
      </p:sp>
    </p:spTree>
    <p:extLst>
      <p:ext uri="{BB962C8B-B14F-4D97-AF65-F5344CB8AC3E}">
        <p14:creationId xmlns:p14="http://schemas.microsoft.com/office/powerpoint/2010/main" val="388889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1550</Words>
  <Application>Microsoft Office PowerPoint</Application>
  <PresentationFormat>宽屏</PresentationFormat>
  <Paragraphs>170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{"Label":"1","ContentProducer":"001191110102MACQD9K64010000","ProduceID":"7662421359608105959","ReservedCode1":"","ContentPropagator":"","PropagateID":"","ReservedCode2":""}</vt:lpwstr>
  </property>
</Properties>
</file>